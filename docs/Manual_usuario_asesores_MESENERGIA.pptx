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14104827-c969-84d5-bbce-d151926df647}">
          <p14:sldIdLst>
            <p14:sldId id="256"/>
            <p14:sldId id="257"/>
          </p14:sldIdLst>
        </p14:section>
        <p14:section name="El asesor y sus herramientas" id="{8b92645a-7813-f06c-fcd1-06b4f660733c}">
          <p14:sldIdLst>
            <p14:sldId id="258"/>
            <p14:sldId id="259"/>
            <p14:sldId id="260"/>
            <p14:sldId id="261"/>
            <p14:sldId id="262"/>
            <p14:sldId id="263"/>
            <p14:sldId id="264"/>
            <p14:sldId id="265"/>
          </p14:sldIdLst>
        </p14:section>
        <p14:section name="El mercado eléctrico" id="{db821944-fd33-af42-a69e-a5ab602638b8}">
          <p14:sldIdLst>
            <p14:sldId id="266"/>
            <p14:sldId id="267"/>
            <p14:sldId id="268"/>
            <p14:sldId id="269"/>
            <p14:sldId id="270"/>
          </p14:sldIdLst>
        </p14:section>
        <p14:section name="Pasos básicos para ser un buen asesor" id="{bb7f777a-8bc2-d57c-d2ec-c385aed9824c}">
          <p14:sldIdLst>
            <p14:sldId id="271"/>
            <p14:sldId id="272"/>
            <p14:sldId id="273"/>
            <p14:sldId id="274"/>
            <p14:sldId id="275"/>
          </p14:sldIdLst>
        </p14:section>
        <p14:section name="Cierre" id="{6a0e1f88-a173-cad9-6fe8-0ac21c289d21}">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manual del usuario para asesores, con la imagen corporativa +Energía / MESENERGIA.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ortada-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ita-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tmp/claude-0/-home-user-mesenergiaes/5a011a92-143f-5232-b40a-c25f12780ce3/scratchpad/build/assets/logo-header.png">    </p:cNvPr>
          <p:cNvPicPr>
            <a:picLocks noChangeAspect="1"/>
          </p:cNvPicPr>
          <p:nvPr/>
        </p:nvPicPr>
        <p:blipFill>
          <a:blip r:embed="rId1"/>
          <a:stretch>
            <a:fillRect/>
          </a:stretch>
        </p:blipFill>
        <p:spPr>
          <a:xfrm>
            <a:off x="548640" y="237744"/>
            <a:ext cx="1207008" cy="411480"/>
          </a:xfrm>
          <a:prstGeom prst="rect">
            <a:avLst/>
          </a:prstGeom>
        </p:spPr>
      </p:pic>
      <p:sp>
        <p:nvSpPr>
          <p:cNvPr id="3" name="Text 0"/>
          <p:cNvSpPr/>
          <p:nvPr/>
        </p:nvSpPr>
        <p:spPr>
          <a:xfrm>
            <a:off x="6583680" y="365760"/>
            <a:ext cx="5059375" cy="228600"/>
          </a:xfrm>
          <a:prstGeom prst="rect">
            <a:avLst/>
          </a:prstGeom>
          <a:noFill/>
          <a:ln/>
        </p:spPr>
        <p:txBody>
          <a:bodyPr wrap="square" lIns="0" tIns="0" rIns="0" bIns="0" rtlCol="0" anchor="ctr"/>
          <a:lstStyle/>
          <a:p>
            <a:pPr algn="r" indent="0" marL="0">
              <a:buNone/>
            </a:pPr>
            <a:r>
              <a:rPr lang="en-US" sz="800" b="1" spc="250" kern="0" dirty="0">
                <a:solidFill>
                  <a:schemeClr val="accent6"/>
                </a:solidFill>
              </a:rPr>
              <a:t>MANUAL DEL USUARIO PARA ASESORES</a:t>
            </a:r>
            <a:endParaRPr lang="en-US" sz="800" dirty="0"/>
          </a:p>
        </p:txBody>
      </p:sp>
      <p:pic>
        <p:nvPicPr>
          <p:cNvPr id="4" name="Image 1" descr="/tmp/claude-0/-home-user-mesenergiaes/5a011a92-143f-5232-b40a-c25f12780ce3/scratchpad/build/assets/header-rule.png">    </p:cNvPr>
          <p:cNvPicPr>
            <a:picLocks noChangeAspect="1"/>
          </p:cNvPicPr>
          <p:nvPr/>
        </p:nvPicPr>
        <p:blipFill>
          <a:blip r:embed="rId2"/>
          <a:stretch>
            <a:fillRect/>
          </a:stretch>
        </p:blipFill>
        <p:spPr>
          <a:xfrm>
            <a:off x="548640" y="713232"/>
            <a:ext cx="11094415" cy="25603"/>
          </a:xfrm>
          <a:prstGeom prst="rect">
            <a:avLst/>
          </a:prstGeom>
        </p:spPr>
      </p:pic>
      <p:sp>
        <p:nvSpPr>
          <p:cNvPr id="5" name="Text 1"/>
          <p:cNvSpPr/>
          <p:nvPr/>
        </p:nvSpPr>
        <p:spPr>
          <a:xfrm>
            <a:off x="548640" y="6419088"/>
            <a:ext cx="777240" cy="228600"/>
          </a:xfrm>
          <a:prstGeom prst="rect">
            <a:avLst/>
          </a:prstGeom>
          <a:noFill/>
          <a:ln/>
        </p:spPr>
        <p:txBody>
          <a:bodyPr wrap="square" lIns="0" tIns="0" rIns="0" bIns="0" rtlCol="0" anchor="ctr"/>
          <a:lstStyle/>
          <a:p>
            <a:pPr indent="0" marL="0">
              <a:buNone/>
            </a:pPr>
            <a:r>
              <a:rPr lang="en-US" sz="800" b="1" dirty="0">
                <a:solidFill>
                  <a:schemeClr val="tx2"/>
                </a:solidFill>
              </a:rPr>
              <a:t>MESENERGIA</a:t>
            </a:r>
            <a:endParaRPr lang="en-US" sz="800" dirty="0"/>
          </a:p>
        </p:txBody>
      </p:sp>
      <p:sp>
        <p:nvSpPr>
          <p:cNvPr id="6" name="Text 2"/>
          <p:cNvSpPr/>
          <p:nvPr/>
        </p:nvSpPr>
        <p:spPr>
          <a:xfrm>
            <a:off x="1307592" y="6419088"/>
            <a:ext cx="4572000" cy="228600"/>
          </a:xfrm>
          <a:prstGeom prst="rect">
            <a:avLst/>
          </a:prstGeom>
          <a:noFill/>
          <a:ln/>
        </p:spPr>
        <p:txBody>
          <a:bodyPr wrap="square" lIns="0" tIns="0" rIns="0" bIns="0" rtlCol="0" anchor="ctr"/>
          <a:lstStyle/>
          <a:p>
            <a:pPr indent="0" marL="0">
              <a:buNone/>
            </a:pPr>
            <a:r>
              <a:rPr lang="en-US" sz="800" dirty="0">
                <a:solidFill>
                  <a:schemeClr val="accent6"/>
                </a:solidFill>
              </a:rPr>
              <a:t>· Manual del usuario para asesores · Uso interno</a:t>
            </a:r>
            <a:endParaRPr lang="en-US" sz="800" dirty="0"/>
          </a:p>
        </p:txBody>
      </p:sp>
      <p:sp>
        <p:nvSpPr>
          <p:cNvPr id="7" name="Text 3"/>
          <p:cNvSpPr/>
          <p:nvPr>
            <p:ph idx="105" type="title" hasCustomPrompt="1"/>
          </p:nvPr>
        </p:nvSpPr>
        <p:spPr>
          <a:xfrm>
            <a:off x="1143000" y="896112"/>
            <a:ext cx="10469880"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t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3.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omie.e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4.png"/><Relationship Id="rId6" Type="http://schemas.openxmlformats.org/officeDocument/2006/relationships/image" Target="../media/image-19-6.png"/><Relationship Id="rId7" Type="http://schemas.openxmlformats.org/officeDocument/2006/relationships/image" Target="../media/image-19-6.pn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mesenergiaes/5a011a92-143f-5232-b40a-c25f12780ce3/scratchpad/build/assets/logo-full.png">    </p:cNvPr>
          <p:cNvPicPr>
            <a:picLocks noChangeAspect="1"/>
          </p:cNvPicPr>
          <p:nvPr/>
        </p:nvPicPr>
        <p:blipFill>
          <a:blip r:embed="rId1"/>
          <a:stretch>
            <a:fillRect/>
          </a:stretch>
        </p:blipFill>
        <p:spPr>
          <a:xfrm>
            <a:off x="685800" y="502920"/>
            <a:ext cx="3639312" cy="1463040"/>
          </a:xfrm>
          <a:prstGeom prst="rect">
            <a:avLst/>
          </a:prstGeom>
        </p:spPr>
      </p:pic>
      <p:sp>
        <p:nvSpPr>
          <p:cNvPr id="3" name="Text 0"/>
          <p:cNvSpPr txBox="1"/>
          <p:nvPr/>
        </p:nvSpPr>
        <p:spPr>
          <a:xfrm>
            <a:off x="731520" y="3931920"/>
            <a:ext cx="7315200" cy="228600"/>
          </a:xfrm>
          <a:prstGeom prst="rect">
            <a:avLst/>
          </a:prstGeom>
          <a:noFill/>
          <a:ln/>
        </p:spPr>
        <p:txBody>
          <a:bodyPr wrap="square" lIns="0" tIns="0" rIns="0" bIns="0" rtlCol="0" anchor="ctr"/>
          <a:lstStyle/>
          <a:p>
            <a:pPr indent="0" marL="0">
              <a:buNone/>
            </a:pPr>
            <a:r>
              <a:rPr lang="en-US" sz="900" b="1" spc="200" kern="0" dirty="0">
                <a:solidFill>
                  <a:schemeClr val="accent5"/>
                </a:solidFill>
              </a:rPr>
              <a:t>FORMACIÓN · ASESORES ENERGÉTICOS</a:t>
            </a:r>
            <a:endParaRPr lang="en-US" sz="900" dirty="0"/>
          </a:p>
        </p:txBody>
      </p:sp>
      <p:sp>
        <p:nvSpPr>
          <p:cNvPr id="4" name="Text 1"/>
          <p:cNvSpPr txBox="1"/>
          <p:nvPr/>
        </p:nvSpPr>
        <p:spPr>
          <a:xfrm>
            <a:off x="731520" y="4224528"/>
            <a:ext cx="8229600" cy="1188720"/>
          </a:xfrm>
          <a:prstGeom prst="rect">
            <a:avLst/>
          </a:prstGeom>
          <a:noFill/>
          <a:ln/>
        </p:spPr>
        <p:txBody>
          <a:bodyPr wrap="square" lIns="0" tIns="0" rIns="0" bIns="0" rtlCol="0" anchor="t"/>
          <a:lstStyle/>
          <a:p>
            <a:pPr indent="0" marL="0">
              <a:lnSpc>
                <a:spcPct val="92000"/>
              </a:lnSpc>
              <a:buNone/>
            </a:pPr>
            <a:r>
              <a:rPr lang="en-US" sz="4000" b="1" dirty="0">
                <a:solidFill>
                  <a:schemeClr val="bg1"/>
                </a:solidFill>
              </a:rPr>
              <a:t>Manual del usuario</a:t>
            </a:r>
            <a:endParaRPr lang="en-US" sz="4000" dirty="0"/>
          </a:p>
          <a:p>
            <a:pPr indent="0" marL="0">
              <a:lnSpc>
                <a:spcPct val="92000"/>
              </a:lnSpc>
              <a:buNone/>
            </a:pPr>
            <a:r>
              <a:rPr lang="en-US" sz="4000" b="1" dirty="0">
                <a:solidFill>
                  <a:schemeClr val="bg1"/>
                </a:solidFill>
              </a:rPr>
              <a:t>para asesores</a:t>
            </a:r>
            <a:endParaRPr lang="en-US" sz="4000" dirty="0"/>
          </a:p>
        </p:txBody>
      </p:sp>
      <p:sp>
        <p:nvSpPr>
          <p:cNvPr id="5" name="Text 2"/>
          <p:cNvSpPr txBox="1"/>
          <p:nvPr/>
        </p:nvSpPr>
        <p:spPr>
          <a:xfrm>
            <a:off x="731520" y="5559552"/>
            <a:ext cx="7863840" cy="457200"/>
          </a:xfrm>
          <a:prstGeom prst="rect">
            <a:avLst/>
          </a:prstGeom>
          <a:noFill/>
          <a:ln/>
        </p:spPr>
        <p:txBody>
          <a:bodyPr wrap="square" lIns="0" tIns="0" rIns="0" bIns="0" rtlCol="0" anchor="t"/>
          <a:lstStyle/>
          <a:p>
            <a:pPr indent="0" marL="0">
              <a:buNone/>
            </a:pPr>
            <a:r>
              <a:rPr lang="en-US" sz="1250" dirty="0">
                <a:solidFill>
                  <a:srgbClr val="DCE4F2"/>
                </a:solidFill>
              </a:rPr>
              <a:t>Qué es ser asesor energético, cómo trabajar con Nodo Ámbar, el mercado eléctrico, la factura, las buenas prácticas y el speech comercial.</a:t>
            </a:r>
            <a:endParaRPr lang="en-US" sz="1250" dirty="0"/>
          </a:p>
        </p:txBody>
      </p:sp>
      <p:sp>
        <p:nvSpPr>
          <p:cNvPr id="6" name="Shape 3"/>
          <p:cNvSpPr/>
          <p:nvPr/>
        </p:nvSpPr>
        <p:spPr>
          <a:xfrm>
            <a:off x="731520" y="6144768"/>
            <a:ext cx="10744200" cy="0"/>
          </a:xfrm>
          <a:prstGeom prst="line">
            <a:avLst/>
          </a:prstGeom>
          <a:noFill/>
          <a:ln w="6350">
            <a:solidFill>
              <a:srgbClr val="FFFFFF">
                <a:alpha val="25000"/>
              </a:srgbClr>
            </a:solidFill>
            <a:prstDash val="solid"/>
          </a:ln>
        </p:spPr>
      </p:sp>
      <p:sp>
        <p:nvSpPr>
          <p:cNvPr id="7" name="Shape 4"/>
          <p:cNvSpPr/>
          <p:nvPr/>
        </p:nvSpPr>
        <p:spPr>
          <a:xfrm>
            <a:off x="731520" y="6309360"/>
            <a:ext cx="91440" cy="91440"/>
          </a:xfrm>
          <a:prstGeom prst="ellipse">
            <a:avLst/>
          </a:prstGeom>
          <a:solidFill>
            <a:schemeClr val="accent5"/>
          </a:solidFill>
          <a:ln/>
        </p:spPr>
      </p:sp>
      <p:sp>
        <p:nvSpPr>
          <p:cNvPr id="8" name="Text 5"/>
          <p:cNvSpPr txBox="1"/>
          <p:nvPr/>
        </p:nvSpPr>
        <p:spPr>
          <a:xfrm>
            <a:off x="896112" y="6245352"/>
            <a:ext cx="2194560" cy="219456"/>
          </a:xfrm>
          <a:prstGeom prst="rect">
            <a:avLst/>
          </a:prstGeom>
          <a:noFill/>
          <a:ln/>
        </p:spPr>
        <p:txBody>
          <a:bodyPr wrap="square" lIns="0" tIns="0" rIns="0" bIns="0" rtlCol="0" anchor="ctr"/>
          <a:lstStyle/>
          <a:p>
            <a:pPr indent="0" marL="0">
              <a:buNone/>
            </a:pPr>
            <a:r>
              <a:rPr lang="en-US" sz="900" dirty="0">
                <a:solidFill>
                  <a:srgbClr val="DCE4F2"/>
                </a:solidFill>
              </a:rPr>
              <a:t>MESENERGIA · +Energía</a:t>
            </a:r>
            <a:endParaRPr lang="en-US" sz="900" dirty="0"/>
          </a:p>
        </p:txBody>
      </p:sp>
      <p:sp>
        <p:nvSpPr>
          <p:cNvPr id="9" name="Text 6"/>
          <p:cNvSpPr txBox="1"/>
          <p:nvPr/>
        </p:nvSpPr>
        <p:spPr>
          <a:xfrm>
            <a:off x="3108960" y="6245352"/>
            <a:ext cx="2011680" cy="219456"/>
          </a:xfrm>
          <a:prstGeom prst="rect">
            <a:avLst/>
          </a:prstGeom>
          <a:noFill/>
          <a:ln/>
        </p:spPr>
        <p:txBody>
          <a:bodyPr wrap="square" lIns="0" tIns="0" rIns="0" bIns="0" rtlCol="0" anchor="ctr"/>
          <a:lstStyle/>
          <a:p>
            <a:pPr indent="0" marL="0">
              <a:buNone/>
            </a:pPr>
            <a:r>
              <a:rPr lang="en-US" sz="900" dirty="0">
                <a:solidFill>
                  <a:srgbClr val="DCE4F2"/>
                </a:solidFill>
              </a:rPr>
              <a:t>Manual de formación</a:t>
            </a:r>
            <a:endParaRPr lang="en-US" sz="900" dirty="0"/>
          </a:p>
        </p:txBody>
      </p:sp>
      <p:sp>
        <p:nvSpPr>
          <p:cNvPr id="10" name="Text 7"/>
          <p:cNvSpPr txBox="1"/>
          <p:nvPr/>
        </p:nvSpPr>
        <p:spPr>
          <a:xfrm>
            <a:off x="5120640" y="6245352"/>
            <a:ext cx="1463040" cy="219456"/>
          </a:xfrm>
          <a:prstGeom prst="rect">
            <a:avLst/>
          </a:prstGeom>
          <a:noFill/>
          <a:ln/>
        </p:spPr>
        <p:txBody>
          <a:bodyPr wrap="square" lIns="0" tIns="0" rIns="0" bIns="0" rtlCol="0" anchor="ctr"/>
          <a:lstStyle/>
          <a:p>
            <a:pPr indent="0" marL="0">
              <a:buNone/>
            </a:pPr>
            <a:r>
              <a:rPr lang="en-US" sz="900" dirty="0">
                <a:solidFill>
                  <a:srgbClr val="DCE4F2"/>
                </a:solidFill>
              </a:rPr>
              <a:t>Uso interno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user-mesenergiaes/5a011a92-143f-5232-b40a-c25f12780ce3/scratchpad/build/assets/quote-yellow.png">    </p:cNvPr>
          <p:cNvPicPr>
            <a:picLocks noChangeAspect="1"/>
          </p:cNvPicPr>
          <p:nvPr/>
        </p:nvPicPr>
        <p:blipFill>
          <a:blip r:embed="rId1"/>
          <a:stretch>
            <a:fillRect/>
          </a:stretch>
        </p:blipFill>
        <p:spPr>
          <a:xfrm>
            <a:off x="1005840" y="914400"/>
            <a:ext cx="685800" cy="685800"/>
          </a:xfrm>
          <a:prstGeom prst="rect">
            <a:avLst/>
          </a:prstGeom>
        </p:spPr>
      </p:pic>
      <p:sp>
        <p:nvSpPr>
          <p:cNvPr id="3" name="Text 0"/>
          <p:cNvSpPr txBox="1"/>
          <p:nvPr/>
        </p:nvSpPr>
        <p:spPr>
          <a:xfrm>
            <a:off x="1005840" y="1828800"/>
            <a:ext cx="9692640" cy="2377440"/>
          </a:xfrm>
          <a:prstGeom prst="rect">
            <a:avLst/>
          </a:prstGeom>
          <a:noFill/>
          <a:ln/>
        </p:spPr>
        <p:txBody>
          <a:bodyPr wrap="square" lIns="0" tIns="0" rIns="0" bIns="0" rtlCol="0" anchor="t"/>
          <a:lstStyle/>
          <a:p>
            <a:pPr indent="0" marL="0">
              <a:lnSpc>
                <a:spcPct val="105000"/>
              </a:lnSpc>
              <a:buNone/>
            </a:pPr>
            <a:r>
              <a:rPr lang="en-US" sz="2800" b="1" dirty="0">
                <a:solidFill>
                  <a:schemeClr val="bg1"/>
                </a:solidFill>
              </a:rPr>
              <a:t>Si no estás preparado para darlo todo e interiorizar que esto no es un trabajo cualquiera, y que este puesto solo es apto para las personas que creen que </a:t>
            </a:r>
            <a:pPr indent="0" marL="0">
              <a:lnSpc>
                <a:spcPct val="105000"/>
              </a:lnSpc>
              <a:buNone/>
            </a:pPr>
            <a:r>
              <a:rPr lang="en-US" sz="2800" b="1" dirty="0">
                <a:solidFill>
                  <a:schemeClr val="accent5"/>
                </a:solidFill>
              </a:rPr>
              <a:t>el trabajo es una forma de vida</a:t>
            </a:r>
            <a:pPr indent="0" marL="0">
              <a:lnSpc>
                <a:spcPct val="105000"/>
              </a:lnSpc>
              <a:buNone/>
            </a:pPr>
            <a:r>
              <a:rPr lang="en-US" sz="2800" b="1" dirty="0">
                <a:solidFill>
                  <a:schemeClr val="bg1"/>
                </a:solidFill>
              </a:rPr>
              <a:t>, estás a tiempo de abandonar.</a:t>
            </a:r>
            <a:endParaRPr lang="en-US" sz="2800" dirty="0"/>
          </a:p>
        </p:txBody>
      </p:sp>
      <p:sp>
        <p:nvSpPr>
          <p:cNvPr id="4" name="Shape 1"/>
          <p:cNvSpPr/>
          <p:nvPr/>
        </p:nvSpPr>
        <p:spPr>
          <a:xfrm>
            <a:off x="1005840" y="4526280"/>
            <a:ext cx="548640" cy="0"/>
          </a:xfrm>
          <a:prstGeom prst="line">
            <a:avLst/>
          </a:prstGeom>
          <a:noFill/>
          <a:ln w="25400">
            <a:solidFill>
              <a:schemeClr val="accent5"/>
            </a:solidFill>
            <a:prstDash val="solid"/>
          </a:ln>
        </p:spPr>
      </p:sp>
      <p:sp>
        <p:nvSpPr>
          <p:cNvPr id="5" name="Text 2"/>
          <p:cNvSpPr txBox="1"/>
          <p:nvPr/>
        </p:nvSpPr>
        <p:spPr>
          <a:xfrm>
            <a:off x="1005840" y="4663440"/>
            <a:ext cx="5486400" cy="274320"/>
          </a:xfrm>
          <a:prstGeom prst="rect">
            <a:avLst/>
          </a:prstGeom>
          <a:noFill/>
          <a:ln/>
        </p:spPr>
        <p:txBody>
          <a:bodyPr wrap="square" lIns="0" tIns="0" rIns="0" bIns="0" rtlCol="0" anchor="ctr"/>
          <a:lstStyle/>
          <a:p>
            <a:pPr indent="0" marL="0">
              <a:buNone/>
            </a:pPr>
            <a:r>
              <a:rPr lang="en-US" sz="1100" b="1" spc="300" kern="0" dirty="0">
                <a:solidFill>
                  <a:schemeClr val="accent5"/>
                </a:solidFill>
              </a:rPr>
              <a:t>HUGO MÉNDEZ</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Contenido</a:t>
            </a:r>
            <a:endParaRPr lang="en-US" sz="2600" dirty="0"/>
          </a:p>
        </p:txBody>
      </p:sp>
      <p:sp>
        <p:nvSpPr>
          <p:cNvPr id="5" name="Shape 3"/>
          <p:cNvSpPr/>
          <p:nvPr/>
        </p:nvSpPr>
        <p:spPr>
          <a:xfrm>
            <a:off x="548640" y="1856232"/>
            <a:ext cx="365760" cy="365760"/>
          </a:xfrm>
          <a:prstGeom prst="ellipse">
            <a:avLst/>
          </a:prstGeom>
          <a:solidFill>
            <a:srgbClr val="FFFFFF"/>
          </a:solidFill>
          <a:ln w="15875">
            <a:solidFill>
              <a:schemeClr val="accent1"/>
            </a:solidFill>
            <a:prstDash val="solid"/>
          </a:ln>
        </p:spPr>
      </p:sp>
      <p:sp>
        <p:nvSpPr>
          <p:cNvPr id="6" name="Text 4"/>
          <p:cNvSpPr txBox="1"/>
          <p:nvPr/>
        </p:nvSpPr>
        <p:spPr>
          <a:xfrm>
            <a:off x="548640" y="185623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7" name="Text 5"/>
          <p:cNvSpPr txBox="1"/>
          <p:nvPr/>
        </p:nvSpPr>
        <p:spPr>
          <a:xfrm>
            <a:off x="1051560" y="1783080"/>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¿Qué es ser un asesor energético?</a:t>
            </a:r>
            <a:endParaRPr lang="en-US" sz="1300" dirty="0"/>
          </a:p>
        </p:txBody>
      </p:sp>
      <p:sp>
        <p:nvSpPr>
          <p:cNvPr id="8" name="Shape 6"/>
          <p:cNvSpPr/>
          <p:nvPr/>
        </p:nvSpPr>
        <p:spPr>
          <a:xfrm>
            <a:off x="548640" y="2569464"/>
            <a:ext cx="365760" cy="365760"/>
          </a:xfrm>
          <a:prstGeom prst="ellipse">
            <a:avLst/>
          </a:prstGeom>
          <a:solidFill>
            <a:srgbClr val="FFFFFF"/>
          </a:solidFill>
          <a:ln w="15875">
            <a:solidFill>
              <a:schemeClr val="accent1"/>
            </a:solidFill>
            <a:prstDash val="solid"/>
          </a:ln>
        </p:spPr>
      </p:sp>
      <p:sp>
        <p:nvSpPr>
          <p:cNvPr id="9" name="Text 7"/>
          <p:cNvSpPr txBox="1"/>
          <p:nvPr/>
        </p:nvSpPr>
        <p:spPr>
          <a:xfrm>
            <a:off x="548640" y="2569464"/>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10" name="Text 8"/>
          <p:cNvSpPr txBox="1"/>
          <p:nvPr/>
        </p:nvSpPr>
        <p:spPr>
          <a:xfrm>
            <a:off x="1051560" y="2496312"/>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Nuestra herramienta de trabajo: CRM</a:t>
            </a:r>
            <a:endParaRPr lang="en-US" sz="1300" dirty="0"/>
          </a:p>
        </p:txBody>
      </p:sp>
      <p:sp>
        <p:nvSpPr>
          <p:cNvPr id="11" name="Shape 9"/>
          <p:cNvSpPr/>
          <p:nvPr/>
        </p:nvSpPr>
        <p:spPr>
          <a:xfrm>
            <a:off x="548640" y="3282696"/>
            <a:ext cx="365760" cy="365760"/>
          </a:xfrm>
          <a:prstGeom prst="ellipse">
            <a:avLst/>
          </a:prstGeom>
          <a:solidFill>
            <a:srgbClr val="FFFFFF"/>
          </a:solidFill>
          <a:ln w="15875">
            <a:solidFill>
              <a:schemeClr val="accent1"/>
            </a:solidFill>
            <a:prstDash val="solid"/>
          </a:ln>
        </p:spPr>
      </p:sp>
      <p:sp>
        <p:nvSpPr>
          <p:cNvPr id="12" name="Text 10"/>
          <p:cNvSpPr txBox="1"/>
          <p:nvPr/>
        </p:nvSpPr>
        <p:spPr>
          <a:xfrm>
            <a:off x="548640" y="3282696"/>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13" name="Text 11"/>
          <p:cNvSpPr txBox="1"/>
          <p:nvPr/>
        </p:nvSpPr>
        <p:spPr>
          <a:xfrm>
            <a:off x="1051560" y="3209544"/>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Cómo utilizar Nodo y sus beneficios</a:t>
            </a:r>
            <a:endParaRPr lang="en-US" sz="1300" dirty="0"/>
          </a:p>
        </p:txBody>
      </p:sp>
      <p:sp>
        <p:nvSpPr>
          <p:cNvPr id="14" name="Shape 12"/>
          <p:cNvSpPr/>
          <p:nvPr/>
        </p:nvSpPr>
        <p:spPr>
          <a:xfrm>
            <a:off x="548640" y="3995928"/>
            <a:ext cx="365760" cy="365760"/>
          </a:xfrm>
          <a:prstGeom prst="ellipse">
            <a:avLst/>
          </a:prstGeom>
          <a:solidFill>
            <a:srgbClr val="FFFFFF"/>
          </a:solidFill>
          <a:ln w="15875">
            <a:solidFill>
              <a:schemeClr val="accent1"/>
            </a:solidFill>
            <a:prstDash val="solid"/>
          </a:ln>
        </p:spPr>
      </p:sp>
      <p:sp>
        <p:nvSpPr>
          <p:cNvPr id="15" name="Text 13"/>
          <p:cNvSpPr txBox="1"/>
          <p:nvPr/>
        </p:nvSpPr>
        <p:spPr>
          <a:xfrm>
            <a:off x="548640" y="3995928"/>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4</a:t>
            </a:r>
            <a:endParaRPr lang="en-US" sz="1100" dirty="0"/>
          </a:p>
        </p:txBody>
      </p:sp>
      <p:sp>
        <p:nvSpPr>
          <p:cNvPr id="16" name="Text 14"/>
          <p:cNvSpPr txBox="1"/>
          <p:nvPr/>
        </p:nvSpPr>
        <p:spPr>
          <a:xfrm>
            <a:off x="1051560" y="3922776"/>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Comparador de facturas en menos de 2 minutos</a:t>
            </a:r>
            <a:endParaRPr lang="en-US" sz="1300" dirty="0"/>
          </a:p>
        </p:txBody>
      </p:sp>
      <p:sp>
        <p:nvSpPr>
          <p:cNvPr id="17" name="Shape 15"/>
          <p:cNvSpPr/>
          <p:nvPr/>
        </p:nvSpPr>
        <p:spPr>
          <a:xfrm>
            <a:off x="548640" y="4709160"/>
            <a:ext cx="365760" cy="365760"/>
          </a:xfrm>
          <a:prstGeom prst="ellipse">
            <a:avLst/>
          </a:prstGeom>
          <a:solidFill>
            <a:srgbClr val="FFFFFF"/>
          </a:solidFill>
          <a:ln w="15875">
            <a:solidFill>
              <a:schemeClr val="accent1"/>
            </a:solidFill>
            <a:prstDash val="solid"/>
          </a:ln>
        </p:spPr>
      </p:sp>
      <p:sp>
        <p:nvSpPr>
          <p:cNvPr id="18" name="Text 16"/>
          <p:cNvSpPr txBox="1"/>
          <p:nvPr/>
        </p:nvSpPr>
        <p:spPr>
          <a:xfrm>
            <a:off x="548640" y="4709160"/>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5</a:t>
            </a:r>
            <a:endParaRPr lang="en-US" sz="1100" dirty="0"/>
          </a:p>
        </p:txBody>
      </p:sp>
      <p:sp>
        <p:nvSpPr>
          <p:cNvPr id="19" name="Text 17"/>
          <p:cNvSpPr txBox="1"/>
          <p:nvPr/>
        </p:nvSpPr>
        <p:spPr>
          <a:xfrm>
            <a:off x="1051560" y="4636008"/>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Control de operaciones y comisiones</a:t>
            </a:r>
            <a:endParaRPr lang="en-US" sz="1300" dirty="0"/>
          </a:p>
        </p:txBody>
      </p:sp>
      <p:sp>
        <p:nvSpPr>
          <p:cNvPr id="20" name="Shape 18"/>
          <p:cNvSpPr/>
          <p:nvPr/>
        </p:nvSpPr>
        <p:spPr>
          <a:xfrm>
            <a:off x="548640" y="5422392"/>
            <a:ext cx="365760" cy="365760"/>
          </a:xfrm>
          <a:prstGeom prst="ellipse">
            <a:avLst/>
          </a:prstGeom>
          <a:solidFill>
            <a:srgbClr val="FFFFFF"/>
          </a:solidFill>
          <a:ln w="15875">
            <a:solidFill>
              <a:schemeClr val="accent1"/>
            </a:solidFill>
            <a:prstDash val="solid"/>
          </a:ln>
        </p:spPr>
      </p:sp>
      <p:sp>
        <p:nvSpPr>
          <p:cNvPr id="21" name="Text 19"/>
          <p:cNvSpPr txBox="1"/>
          <p:nvPr/>
        </p:nvSpPr>
        <p:spPr>
          <a:xfrm>
            <a:off x="548640" y="542239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6</a:t>
            </a:r>
            <a:endParaRPr lang="en-US" sz="1100" dirty="0"/>
          </a:p>
        </p:txBody>
      </p:sp>
      <p:sp>
        <p:nvSpPr>
          <p:cNvPr id="22" name="Text 20"/>
          <p:cNvSpPr txBox="1"/>
          <p:nvPr/>
        </p:nvSpPr>
        <p:spPr>
          <a:xfrm>
            <a:off x="1051560" y="5349240"/>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Almacenamiento en la nube</a:t>
            </a:r>
            <a:endParaRPr lang="en-US" sz="1300" dirty="0"/>
          </a:p>
        </p:txBody>
      </p:sp>
      <p:sp>
        <p:nvSpPr>
          <p:cNvPr id="23" name="Shape 21"/>
          <p:cNvSpPr/>
          <p:nvPr/>
        </p:nvSpPr>
        <p:spPr>
          <a:xfrm>
            <a:off x="4343400" y="1856232"/>
            <a:ext cx="365760" cy="365760"/>
          </a:xfrm>
          <a:prstGeom prst="ellipse">
            <a:avLst/>
          </a:prstGeom>
          <a:solidFill>
            <a:srgbClr val="FFFFFF"/>
          </a:solidFill>
          <a:ln w="15875">
            <a:solidFill>
              <a:schemeClr val="accent1"/>
            </a:solidFill>
            <a:prstDash val="solid"/>
          </a:ln>
        </p:spPr>
      </p:sp>
      <p:sp>
        <p:nvSpPr>
          <p:cNvPr id="24" name="Text 22"/>
          <p:cNvSpPr txBox="1"/>
          <p:nvPr/>
        </p:nvSpPr>
        <p:spPr>
          <a:xfrm>
            <a:off x="4343400" y="185623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7</a:t>
            </a:r>
            <a:endParaRPr lang="en-US" sz="1100" dirty="0"/>
          </a:p>
        </p:txBody>
      </p:sp>
      <p:sp>
        <p:nvSpPr>
          <p:cNvPr id="25" name="Text 23"/>
          <p:cNvSpPr txBox="1"/>
          <p:nvPr/>
        </p:nvSpPr>
        <p:spPr>
          <a:xfrm>
            <a:off x="4846320" y="1783080"/>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El mejor informe con el maxímetro</a:t>
            </a:r>
            <a:endParaRPr lang="en-US" sz="1300" dirty="0"/>
          </a:p>
        </p:txBody>
      </p:sp>
      <p:sp>
        <p:nvSpPr>
          <p:cNvPr id="26" name="Shape 24"/>
          <p:cNvSpPr/>
          <p:nvPr/>
        </p:nvSpPr>
        <p:spPr>
          <a:xfrm>
            <a:off x="4343400" y="2569464"/>
            <a:ext cx="365760" cy="365760"/>
          </a:xfrm>
          <a:prstGeom prst="ellipse">
            <a:avLst/>
          </a:prstGeom>
          <a:solidFill>
            <a:srgbClr val="FFFFFF"/>
          </a:solidFill>
          <a:ln w="15875">
            <a:solidFill>
              <a:schemeClr val="accent1"/>
            </a:solidFill>
            <a:prstDash val="solid"/>
          </a:ln>
        </p:spPr>
      </p:sp>
      <p:sp>
        <p:nvSpPr>
          <p:cNvPr id="27" name="Text 25"/>
          <p:cNvSpPr txBox="1"/>
          <p:nvPr/>
        </p:nvSpPr>
        <p:spPr>
          <a:xfrm>
            <a:off x="4343400" y="2569464"/>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8</a:t>
            </a:r>
            <a:endParaRPr lang="en-US" sz="1100" dirty="0"/>
          </a:p>
        </p:txBody>
      </p:sp>
      <p:sp>
        <p:nvSpPr>
          <p:cNvPr id="28" name="Text 26"/>
          <p:cNvSpPr txBox="1"/>
          <p:nvPr/>
        </p:nvSpPr>
        <p:spPr>
          <a:xfrm>
            <a:off x="4846320" y="2496312"/>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Introducción al mundo eléctrico</a:t>
            </a:r>
            <a:endParaRPr lang="en-US" sz="1300" dirty="0"/>
          </a:p>
        </p:txBody>
      </p:sp>
      <p:sp>
        <p:nvSpPr>
          <p:cNvPr id="29" name="Shape 27"/>
          <p:cNvSpPr/>
          <p:nvPr/>
        </p:nvSpPr>
        <p:spPr>
          <a:xfrm>
            <a:off x="4343400" y="3282696"/>
            <a:ext cx="365760" cy="365760"/>
          </a:xfrm>
          <a:prstGeom prst="ellipse">
            <a:avLst/>
          </a:prstGeom>
          <a:solidFill>
            <a:srgbClr val="FFFFFF"/>
          </a:solidFill>
          <a:ln w="15875">
            <a:solidFill>
              <a:schemeClr val="accent1"/>
            </a:solidFill>
            <a:prstDash val="solid"/>
          </a:ln>
        </p:spPr>
      </p:sp>
      <p:sp>
        <p:nvSpPr>
          <p:cNvPr id="30" name="Text 28"/>
          <p:cNvSpPr txBox="1"/>
          <p:nvPr/>
        </p:nvSpPr>
        <p:spPr>
          <a:xfrm>
            <a:off x="4343400" y="3282696"/>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9</a:t>
            </a:r>
            <a:endParaRPr lang="en-US" sz="1100" dirty="0"/>
          </a:p>
        </p:txBody>
      </p:sp>
      <p:sp>
        <p:nvSpPr>
          <p:cNvPr id="31" name="Text 29"/>
          <p:cNvSpPr txBox="1"/>
          <p:nvPr/>
        </p:nvSpPr>
        <p:spPr>
          <a:xfrm>
            <a:off x="4846320" y="3209544"/>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¿Precio fijo o indexado?</a:t>
            </a:r>
            <a:endParaRPr lang="en-US" sz="1300" dirty="0"/>
          </a:p>
        </p:txBody>
      </p:sp>
      <p:sp>
        <p:nvSpPr>
          <p:cNvPr id="32" name="Shape 30"/>
          <p:cNvSpPr/>
          <p:nvPr/>
        </p:nvSpPr>
        <p:spPr>
          <a:xfrm>
            <a:off x="4343400" y="3995928"/>
            <a:ext cx="365760" cy="365760"/>
          </a:xfrm>
          <a:prstGeom prst="ellipse">
            <a:avLst/>
          </a:prstGeom>
          <a:solidFill>
            <a:srgbClr val="FFFFFF"/>
          </a:solidFill>
          <a:ln w="15875">
            <a:solidFill>
              <a:schemeClr val="accent1"/>
            </a:solidFill>
            <a:prstDash val="solid"/>
          </a:ln>
        </p:spPr>
      </p:sp>
      <p:sp>
        <p:nvSpPr>
          <p:cNvPr id="33" name="Text 31"/>
          <p:cNvSpPr txBox="1"/>
          <p:nvPr/>
        </p:nvSpPr>
        <p:spPr>
          <a:xfrm>
            <a:off x="4343400" y="3995928"/>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10</a:t>
            </a:r>
            <a:endParaRPr lang="en-US" sz="1100" dirty="0"/>
          </a:p>
        </p:txBody>
      </p:sp>
      <p:sp>
        <p:nvSpPr>
          <p:cNvPr id="34" name="Text 32"/>
          <p:cNvSpPr txBox="1"/>
          <p:nvPr/>
        </p:nvSpPr>
        <p:spPr>
          <a:xfrm>
            <a:off x="4846320" y="3922776"/>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¿Qué es OMIE?</a:t>
            </a:r>
            <a:endParaRPr lang="en-US" sz="1300" dirty="0"/>
          </a:p>
        </p:txBody>
      </p:sp>
      <p:sp>
        <p:nvSpPr>
          <p:cNvPr id="35" name="Shape 33"/>
          <p:cNvSpPr/>
          <p:nvPr/>
        </p:nvSpPr>
        <p:spPr>
          <a:xfrm>
            <a:off x="4343400" y="4709160"/>
            <a:ext cx="365760" cy="365760"/>
          </a:xfrm>
          <a:prstGeom prst="ellipse">
            <a:avLst/>
          </a:prstGeom>
          <a:solidFill>
            <a:srgbClr val="FFFFFF"/>
          </a:solidFill>
          <a:ln w="15875">
            <a:solidFill>
              <a:schemeClr val="accent1"/>
            </a:solidFill>
            <a:prstDash val="solid"/>
          </a:ln>
        </p:spPr>
      </p:sp>
      <p:sp>
        <p:nvSpPr>
          <p:cNvPr id="36" name="Text 34"/>
          <p:cNvSpPr txBox="1"/>
          <p:nvPr/>
        </p:nvSpPr>
        <p:spPr>
          <a:xfrm>
            <a:off x="4343400" y="4709160"/>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11</a:t>
            </a:r>
            <a:endParaRPr lang="en-US" sz="1100" dirty="0"/>
          </a:p>
        </p:txBody>
      </p:sp>
      <p:sp>
        <p:nvSpPr>
          <p:cNvPr id="37" name="Text 35"/>
          <p:cNvSpPr txBox="1"/>
          <p:nvPr/>
        </p:nvSpPr>
        <p:spPr>
          <a:xfrm>
            <a:off x="4846320" y="4636008"/>
            <a:ext cx="3108960" cy="512064"/>
          </a:xfrm>
          <a:prstGeom prst="rect">
            <a:avLst/>
          </a:prstGeom>
          <a:noFill/>
          <a:ln/>
        </p:spPr>
        <p:txBody>
          <a:bodyPr wrap="square" lIns="0" tIns="0" rIns="0" bIns="0" rtlCol="0" anchor="ctr"/>
          <a:lstStyle/>
          <a:p>
            <a:pPr indent="0" marL="0">
              <a:buNone/>
            </a:pPr>
            <a:r>
              <a:rPr lang="en-US" sz="1300" b="1" dirty="0">
                <a:solidFill>
                  <a:schemeClr val="tx2"/>
                </a:solidFill>
              </a:rPr>
              <a:t>Cómo entender una factura de luz y gas</a:t>
            </a:r>
            <a:endParaRPr lang="en-US" sz="1300" dirty="0"/>
          </a:p>
        </p:txBody>
      </p:sp>
      <p:sp>
        <p:nvSpPr>
          <p:cNvPr id="38" name="Shape 36"/>
          <p:cNvSpPr/>
          <p:nvPr/>
        </p:nvSpPr>
        <p:spPr>
          <a:xfrm>
            <a:off x="8183880" y="1691640"/>
            <a:ext cx="3459175" cy="4526280"/>
          </a:xfrm>
          <a:prstGeom prst="roundRect">
            <a:avLst>
              <a:gd name="adj" fmla="val 2643"/>
            </a:avLst>
          </a:prstGeom>
          <a:solidFill>
            <a:srgbClr val="EFF6E6"/>
          </a:solidFill>
          <a:ln/>
        </p:spPr>
      </p:sp>
      <p:sp>
        <p:nvSpPr>
          <p:cNvPr id="39" name="Text 37"/>
          <p:cNvSpPr txBox="1"/>
          <p:nvPr/>
        </p:nvSpPr>
        <p:spPr>
          <a:xfrm>
            <a:off x="8412480" y="1874520"/>
            <a:ext cx="3108960" cy="228600"/>
          </a:xfrm>
          <a:prstGeom prst="rect">
            <a:avLst/>
          </a:prstGeom>
          <a:noFill/>
          <a:ln/>
        </p:spPr>
        <p:txBody>
          <a:bodyPr wrap="square" lIns="0" tIns="0" rIns="0" bIns="0" rtlCol="0" anchor="ctr"/>
          <a:lstStyle/>
          <a:p>
            <a:pPr indent="0" marL="0">
              <a:buNone/>
            </a:pPr>
            <a:r>
              <a:rPr lang="en-US" sz="900" b="1" spc="200" kern="0" dirty="0">
                <a:solidFill>
                  <a:schemeClr val="accent1"/>
                </a:solidFill>
              </a:rPr>
              <a:t>PASOS BÁSICOS PARA SER</a:t>
            </a:r>
            <a:endParaRPr lang="en-US" sz="900" dirty="0"/>
          </a:p>
        </p:txBody>
      </p:sp>
      <p:sp>
        <p:nvSpPr>
          <p:cNvPr id="40" name="Text 38"/>
          <p:cNvSpPr txBox="1"/>
          <p:nvPr/>
        </p:nvSpPr>
        <p:spPr>
          <a:xfrm>
            <a:off x="8412480" y="2103120"/>
            <a:ext cx="3108960" cy="228600"/>
          </a:xfrm>
          <a:prstGeom prst="rect">
            <a:avLst/>
          </a:prstGeom>
          <a:noFill/>
          <a:ln/>
        </p:spPr>
        <p:txBody>
          <a:bodyPr wrap="square" lIns="0" tIns="0" rIns="0" bIns="0" rtlCol="0" anchor="ctr"/>
          <a:lstStyle/>
          <a:p>
            <a:pPr indent="0" marL="0">
              <a:buNone/>
            </a:pPr>
            <a:r>
              <a:rPr lang="en-US" sz="900" b="1" spc="200" kern="0" dirty="0">
                <a:solidFill>
                  <a:schemeClr val="accent1"/>
                </a:solidFill>
              </a:rPr>
              <a:t>UN BUEN ASESOR</a:t>
            </a:r>
            <a:endParaRPr lang="en-US" sz="900" dirty="0"/>
          </a:p>
        </p:txBody>
      </p:sp>
      <p:sp>
        <p:nvSpPr>
          <p:cNvPr id="41" name="Shape 39"/>
          <p:cNvSpPr/>
          <p:nvPr/>
        </p:nvSpPr>
        <p:spPr>
          <a:xfrm>
            <a:off x="8412480" y="2633472"/>
            <a:ext cx="365760" cy="365760"/>
          </a:xfrm>
          <a:prstGeom prst="ellipse">
            <a:avLst/>
          </a:prstGeom>
          <a:solidFill>
            <a:srgbClr val="FFFFFF"/>
          </a:solidFill>
          <a:ln w="15875">
            <a:solidFill>
              <a:schemeClr val="accent1"/>
            </a:solidFill>
            <a:prstDash val="solid"/>
          </a:ln>
        </p:spPr>
      </p:sp>
      <p:sp>
        <p:nvSpPr>
          <p:cNvPr id="42" name="Text 40"/>
          <p:cNvSpPr txBox="1"/>
          <p:nvPr/>
        </p:nvSpPr>
        <p:spPr>
          <a:xfrm>
            <a:off x="8412480" y="263347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12</a:t>
            </a:r>
            <a:endParaRPr lang="en-US" sz="1100" dirty="0"/>
          </a:p>
        </p:txBody>
      </p:sp>
      <p:sp>
        <p:nvSpPr>
          <p:cNvPr id="43" name="Text 41"/>
          <p:cNvSpPr txBox="1"/>
          <p:nvPr/>
        </p:nvSpPr>
        <p:spPr>
          <a:xfrm>
            <a:off x="8915400" y="2560320"/>
            <a:ext cx="2606040" cy="512064"/>
          </a:xfrm>
          <a:prstGeom prst="rect">
            <a:avLst/>
          </a:prstGeom>
          <a:noFill/>
          <a:ln/>
        </p:spPr>
        <p:txBody>
          <a:bodyPr wrap="square" lIns="0" tIns="0" rIns="0" bIns="0" rtlCol="0" anchor="ctr"/>
          <a:lstStyle/>
          <a:p>
            <a:pPr indent="0" marL="0">
              <a:buNone/>
            </a:pPr>
            <a:r>
              <a:rPr lang="en-US" sz="1300" b="1" dirty="0">
                <a:solidFill>
                  <a:schemeClr val="tx2"/>
                </a:solidFill>
              </a:rPr>
              <a:t>Guía de conductas y buenas prácticas</a:t>
            </a:r>
            <a:endParaRPr lang="en-US" sz="1300" dirty="0"/>
          </a:p>
        </p:txBody>
      </p:sp>
      <p:sp>
        <p:nvSpPr>
          <p:cNvPr id="44" name="Shape 42"/>
          <p:cNvSpPr/>
          <p:nvPr/>
        </p:nvSpPr>
        <p:spPr>
          <a:xfrm>
            <a:off x="8412480" y="3502152"/>
            <a:ext cx="365760" cy="365760"/>
          </a:xfrm>
          <a:prstGeom prst="ellipse">
            <a:avLst/>
          </a:prstGeom>
          <a:solidFill>
            <a:srgbClr val="FFFFFF"/>
          </a:solidFill>
          <a:ln w="15875">
            <a:solidFill>
              <a:schemeClr val="accent1"/>
            </a:solidFill>
            <a:prstDash val="solid"/>
          </a:ln>
        </p:spPr>
      </p:sp>
      <p:sp>
        <p:nvSpPr>
          <p:cNvPr id="45" name="Text 43"/>
          <p:cNvSpPr txBox="1"/>
          <p:nvPr/>
        </p:nvSpPr>
        <p:spPr>
          <a:xfrm>
            <a:off x="8412480" y="350215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13</a:t>
            </a:r>
            <a:endParaRPr lang="en-US" sz="1100" dirty="0"/>
          </a:p>
        </p:txBody>
      </p:sp>
      <p:sp>
        <p:nvSpPr>
          <p:cNvPr id="46" name="Text 44"/>
          <p:cNvSpPr txBox="1"/>
          <p:nvPr/>
        </p:nvSpPr>
        <p:spPr>
          <a:xfrm>
            <a:off x="8915400" y="3429000"/>
            <a:ext cx="2606040" cy="512064"/>
          </a:xfrm>
          <a:prstGeom prst="rect">
            <a:avLst/>
          </a:prstGeom>
          <a:noFill/>
          <a:ln/>
        </p:spPr>
        <p:txBody>
          <a:bodyPr wrap="square" lIns="0" tIns="0" rIns="0" bIns="0" rtlCol="0" anchor="ctr"/>
          <a:lstStyle/>
          <a:p>
            <a:pPr indent="0" marL="0">
              <a:buNone/>
            </a:pPr>
            <a:r>
              <a:rPr lang="en-US" sz="1300" b="1" dirty="0">
                <a:solidFill>
                  <a:schemeClr val="tx2"/>
                </a:solidFill>
              </a:rPr>
              <a:t>Consejos antes de concertar una visita</a:t>
            </a:r>
            <a:endParaRPr lang="en-US" sz="1300" dirty="0"/>
          </a:p>
        </p:txBody>
      </p:sp>
      <p:sp>
        <p:nvSpPr>
          <p:cNvPr id="47" name="Shape 45"/>
          <p:cNvSpPr/>
          <p:nvPr/>
        </p:nvSpPr>
        <p:spPr>
          <a:xfrm>
            <a:off x="8412480" y="4370832"/>
            <a:ext cx="365760" cy="365760"/>
          </a:xfrm>
          <a:prstGeom prst="ellipse">
            <a:avLst/>
          </a:prstGeom>
          <a:solidFill>
            <a:srgbClr val="FFFFFF"/>
          </a:solidFill>
          <a:ln w="15875">
            <a:solidFill>
              <a:schemeClr val="accent1"/>
            </a:solidFill>
            <a:prstDash val="solid"/>
          </a:ln>
        </p:spPr>
      </p:sp>
      <p:sp>
        <p:nvSpPr>
          <p:cNvPr id="48" name="Text 46"/>
          <p:cNvSpPr txBox="1"/>
          <p:nvPr/>
        </p:nvSpPr>
        <p:spPr>
          <a:xfrm>
            <a:off x="8412480" y="437083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14</a:t>
            </a:r>
            <a:endParaRPr lang="en-US" sz="1100" dirty="0"/>
          </a:p>
        </p:txBody>
      </p:sp>
      <p:sp>
        <p:nvSpPr>
          <p:cNvPr id="49" name="Text 47"/>
          <p:cNvSpPr txBox="1"/>
          <p:nvPr/>
        </p:nvSpPr>
        <p:spPr>
          <a:xfrm>
            <a:off x="8915400" y="4297680"/>
            <a:ext cx="2606040" cy="512064"/>
          </a:xfrm>
          <a:prstGeom prst="rect">
            <a:avLst/>
          </a:prstGeom>
          <a:noFill/>
          <a:ln/>
        </p:spPr>
        <p:txBody>
          <a:bodyPr wrap="square" lIns="0" tIns="0" rIns="0" bIns="0" rtlCol="0" anchor="ctr"/>
          <a:lstStyle/>
          <a:p>
            <a:pPr indent="0" marL="0">
              <a:buNone/>
            </a:pPr>
            <a:r>
              <a:rPr lang="en-US" sz="1300" b="1" dirty="0">
                <a:solidFill>
                  <a:schemeClr val="tx2"/>
                </a:solidFill>
              </a:rPr>
              <a:t>Speech comercial</a:t>
            </a:r>
            <a:endParaRPr lang="en-US" sz="1300" dirty="0"/>
          </a:p>
        </p:txBody>
      </p:sp>
      <p:sp>
        <p:nvSpPr>
          <p:cNvPr id="50" name="Shape 48"/>
          <p:cNvSpPr/>
          <p:nvPr/>
        </p:nvSpPr>
        <p:spPr>
          <a:xfrm>
            <a:off x="8412480" y="5239512"/>
            <a:ext cx="365760" cy="365760"/>
          </a:xfrm>
          <a:prstGeom prst="ellipse">
            <a:avLst/>
          </a:prstGeom>
          <a:solidFill>
            <a:srgbClr val="FFFFFF"/>
          </a:solidFill>
          <a:ln w="15875">
            <a:solidFill>
              <a:schemeClr val="accent1"/>
            </a:solidFill>
            <a:prstDash val="solid"/>
          </a:ln>
        </p:spPr>
      </p:sp>
      <p:sp>
        <p:nvSpPr>
          <p:cNvPr id="51" name="Text 49"/>
          <p:cNvSpPr txBox="1"/>
          <p:nvPr/>
        </p:nvSpPr>
        <p:spPr>
          <a:xfrm>
            <a:off x="8412480" y="5239512"/>
            <a:ext cx="365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15</a:t>
            </a:r>
            <a:endParaRPr lang="en-US" sz="1100" dirty="0"/>
          </a:p>
        </p:txBody>
      </p:sp>
      <p:sp>
        <p:nvSpPr>
          <p:cNvPr id="52" name="Text 50"/>
          <p:cNvSpPr txBox="1"/>
          <p:nvPr/>
        </p:nvSpPr>
        <p:spPr>
          <a:xfrm>
            <a:off x="8915400" y="5166360"/>
            <a:ext cx="2606040" cy="512064"/>
          </a:xfrm>
          <a:prstGeom prst="rect">
            <a:avLst/>
          </a:prstGeom>
          <a:noFill/>
          <a:ln/>
        </p:spPr>
        <p:txBody>
          <a:bodyPr wrap="square" lIns="0" tIns="0" rIns="0" bIns="0" rtlCol="0" anchor="ctr"/>
          <a:lstStyle/>
          <a:p>
            <a:pPr indent="0" marL="0">
              <a:buNone/>
            </a:pPr>
            <a:r>
              <a:rPr lang="en-US" sz="1300" b="1" dirty="0">
                <a:solidFill>
                  <a:schemeClr val="tx2"/>
                </a:solidFill>
              </a:rPr>
              <a:t>Programación y gestión del tiempo</a:t>
            </a:r>
            <a:endParaRPr lang="en-US" sz="13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¿Qué es ser un asesor energético?</a:t>
            </a:r>
            <a:endParaRPr lang="en-US" sz="2600" dirty="0"/>
          </a:p>
        </p:txBody>
      </p:sp>
      <p:pic>
        <p:nvPicPr>
          <p:cNvPr id="5" name="Image 0" descr="/tmp/claude-0/-home-user-mesenergiaes/5a011a92-143f-5232-b40a-c25f12780ce3/scratchpad/mu/ppt/media/image4.png">    </p:cNvPr>
          <p:cNvPicPr>
            <a:picLocks noChangeAspect="1"/>
          </p:cNvPicPr>
          <p:nvPr/>
        </p:nvPicPr>
        <p:blipFill>
          <a:blip r:embed="rId1"/>
          <a:srcRect l="0" r="0" t="0" b="0"/>
          <a:stretch/>
        </p:blipFill>
        <p:spPr>
          <a:xfrm>
            <a:off x="9006840" y="1691640"/>
            <a:ext cx="2636215" cy="4526280"/>
          </a:xfrm>
          <a:prstGeom prst="rect">
            <a:avLst/>
          </a:prstGeom>
        </p:spPr>
      </p:pic>
      <p:sp>
        <p:nvSpPr>
          <p:cNvPr id="6" name="Text 3"/>
          <p:cNvSpPr txBox="1"/>
          <p:nvPr/>
        </p:nvSpPr>
        <p:spPr>
          <a:xfrm>
            <a:off x="548640" y="1645920"/>
            <a:ext cx="8183880" cy="1783080"/>
          </a:xfrm>
          <a:prstGeom prst="rect">
            <a:avLst/>
          </a:prstGeom>
          <a:noFill/>
          <a:ln/>
        </p:spPr>
        <p:txBody>
          <a:bodyPr wrap="square" lIns="0" tIns="0" rIns="0" bIns="0" rtlCol="0" anchor="t"/>
          <a:lstStyle/>
          <a:p>
            <a:pPr indent="0" marL="0">
              <a:spcAft>
                <a:spcPts val="600"/>
              </a:spcAft>
              <a:buNone/>
            </a:pPr>
            <a:r>
              <a:rPr lang="en-US" sz="1350" dirty="0">
                <a:solidFill>
                  <a:schemeClr val="tx1"/>
                </a:solidFill>
              </a:rPr>
              <a:t>Un asesor energético es un profesional especializado en el campo de la energía que ayuda a las empresas y a los particulares a tomar </a:t>
            </a:r>
            <a:pPr indent="0" marL="0">
              <a:spcAft>
                <a:spcPts val="600"/>
              </a:spcAft>
              <a:buNone/>
            </a:pPr>
            <a:r>
              <a:rPr lang="en-US" sz="1350" b="1" dirty="0">
                <a:solidFill>
                  <a:schemeClr val="tx1"/>
                </a:solidFill>
              </a:rPr>
              <a:t>decisiones informadas sobre el uso y la gestión de la energía.</a:t>
            </a:r>
            <a:pPr indent="0" marL="0">
              <a:spcAft>
                <a:spcPts val="600"/>
              </a:spcAft>
              <a:buNone/>
            </a:pPr>
            <a:endParaRPr lang="en-US" sz="1350" dirty="0"/>
          </a:p>
          <a:p>
            <a:pPr indent="0" marL="0">
              <a:spcAft>
                <a:spcPts val="600"/>
              </a:spcAft>
              <a:buNone/>
            </a:pPr>
            <a:r>
              <a:rPr lang="en-US" sz="1350" dirty="0">
                <a:solidFill>
                  <a:schemeClr val="accent6"/>
                </a:solidFill>
              </a:rPr>
              <a:t>Esto puede incluir asesoramiento sobre cómo reducir los costes energéticos, cómo mejorar la eficiencia energética, cómo utilizar fuentes de energía renovable y cómo desarrollar e implementar estrategias sostenibles de energía.</a:t>
            </a:r>
            <a:endParaRPr lang="en-US" sz="1350" dirty="0"/>
          </a:p>
        </p:txBody>
      </p:sp>
      <p:sp>
        <p:nvSpPr>
          <p:cNvPr id="7" name="Text 4"/>
          <p:cNvSpPr txBox="1"/>
          <p:nvPr/>
        </p:nvSpPr>
        <p:spPr>
          <a:xfrm>
            <a:off x="548640" y="3474720"/>
            <a:ext cx="8138160" cy="320040"/>
          </a:xfrm>
          <a:prstGeom prst="rect">
            <a:avLst/>
          </a:prstGeom>
          <a:noFill/>
          <a:ln/>
        </p:spPr>
        <p:txBody>
          <a:bodyPr wrap="square" lIns="0" tIns="0" rIns="0" bIns="0" rtlCol="0" anchor="ctr"/>
          <a:lstStyle/>
          <a:p>
            <a:pPr indent="0" marL="0">
              <a:buNone/>
            </a:pPr>
            <a:r>
              <a:rPr lang="en-US" sz="1500" b="1" dirty="0">
                <a:solidFill>
                  <a:schemeClr val="tx2"/>
                </a:solidFill>
              </a:rPr>
              <a:t>Nuestra misión como asesores</a:t>
            </a:r>
            <a:endParaRPr lang="en-US" sz="1500" dirty="0"/>
          </a:p>
        </p:txBody>
      </p:sp>
      <p:sp>
        <p:nvSpPr>
          <p:cNvPr id="8" name="Shape 5"/>
          <p:cNvSpPr/>
          <p:nvPr/>
        </p:nvSpPr>
        <p:spPr>
          <a:xfrm>
            <a:off x="548640" y="3886200"/>
            <a:ext cx="8183880" cy="548640"/>
          </a:xfrm>
          <a:prstGeom prst="roundRect">
            <a:avLst>
              <a:gd name="adj" fmla="val 16667"/>
            </a:avLst>
          </a:prstGeom>
          <a:solidFill>
            <a:srgbClr val="EFF6E6"/>
          </a:solidFill>
          <a:ln/>
        </p:spPr>
      </p:sp>
      <p:sp>
        <p:nvSpPr>
          <p:cNvPr id="9" name="Shape 6"/>
          <p:cNvSpPr/>
          <p:nvPr/>
        </p:nvSpPr>
        <p:spPr>
          <a:xfrm>
            <a:off x="685800" y="3986784"/>
            <a:ext cx="347472" cy="347472"/>
          </a:xfrm>
          <a:prstGeom prst="ellipse">
            <a:avLst/>
          </a:prstGeom>
          <a:solidFill>
            <a:schemeClr val="accent1"/>
          </a:solidFill>
          <a:ln/>
        </p:spPr>
      </p:sp>
      <p:sp>
        <p:nvSpPr>
          <p:cNvPr id="10" name="Text 7"/>
          <p:cNvSpPr txBox="1"/>
          <p:nvPr/>
        </p:nvSpPr>
        <p:spPr>
          <a:xfrm>
            <a:off x="685800" y="3986784"/>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8"/>
          <p:cNvSpPr txBox="1"/>
          <p:nvPr/>
        </p:nvSpPr>
        <p:spPr>
          <a:xfrm>
            <a:off x="1170432" y="3886200"/>
            <a:ext cx="4572000" cy="548640"/>
          </a:xfrm>
          <a:prstGeom prst="rect">
            <a:avLst/>
          </a:prstGeom>
          <a:noFill/>
          <a:ln/>
        </p:spPr>
        <p:txBody>
          <a:bodyPr wrap="square" lIns="0" tIns="0" rIns="0" bIns="0" rtlCol="0" anchor="ctr"/>
          <a:lstStyle/>
          <a:p>
            <a:pPr indent="0" marL="0">
              <a:buNone/>
            </a:pPr>
            <a:r>
              <a:rPr lang="en-US" sz="1300" b="1" dirty="0">
                <a:solidFill>
                  <a:schemeClr val="tx1"/>
                </a:solidFill>
              </a:rPr>
              <a:t>Hacer ahorrar al máximo a nuestros clientes.</a:t>
            </a:r>
            <a:endParaRPr lang="en-US" sz="1300" dirty="0"/>
          </a:p>
        </p:txBody>
      </p:sp>
      <p:sp>
        <p:nvSpPr>
          <p:cNvPr id="12" name="Shape 9"/>
          <p:cNvSpPr/>
          <p:nvPr/>
        </p:nvSpPr>
        <p:spPr>
          <a:xfrm>
            <a:off x="5989320" y="4050792"/>
            <a:ext cx="2560320" cy="219456"/>
          </a:xfrm>
          <a:prstGeom prst="roundRect">
            <a:avLst>
              <a:gd name="adj" fmla="val 50000"/>
            </a:avLst>
          </a:prstGeom>
          <a:solidFill>
            <a:schemeClr val="accent1"/>
          </a:solidFill>
          <a:ln/>
        </p:spPr>
      </p:sp>
      <p:sp>
        <p:nvSpPr>
          <p:cNvPr id="13" name="Text 10"/>
          <p:cNvSpPr txBox="1"/>
          <p:nvPr/>
        </p:nvSpPr>
        <p:spPr>
          <a:xfrm>
            <a:off x="5989320" y="4050792"/>
            <a:ext cx="2560320" cy="219456"/>
          </a:xfrm>
          <a:prstGeom prst="rect">
            <a:avLst/>
          </a:prstGeom>
          <a:noFill/>
          <a:ln/>
        </p:spPr>
        <p:txBody>
          <a:bodyPr wrap="square" lIns="0" tIns="0" rIns="0" bIns="0" rtlCol="0" anchor="ctr"/>
          <a:lstStyle/>
          <a:p>
            <a:pPr algn="ctr" indent="0" marL="0">
              <a:buNone/>
            </a:pPr>
            <a:r>
              <a:rPr lang="en-US" sz="750" b="1" spc="100" kern="0" dirty="0">
                <a:solidFill>
                  <a:schemeClr val="bg1"/>
                </a:solidFill>
              </a:rPr>
              <a:t>SI NO HAY AHORRO, NO HAY VENTA</a:t>
            </a:r>
            <a:endParaRPr lang="en-US" sz="750" dirty="0"/>
          </a:p>
        </p:txBody>
      </p:sp>
      <p:sp>
        <p:nvSpPr>
          <p:cNvPr id="14" name="Shape 11"/>
          <p:cNvSpPr/>
          <p:nvPr/>
        </p:nvSpPr>
        <p:spPr>
          <a:xfrm>
            <a:off x="685800" y="4663440"/>
            <a:ext cx="347472" cy="347472"/>
          </a:xfrm>
          <a:prstGeom prst="ellipse">
            <a:avLst/>
          </a:prstGeom>
          <a:solidFill>
            <a:srgbClr val="FFFFFF"/>
          </a:solidFill>
          <a:ln w="15875">
            <a:solidFill>
              <a:schemeClr val="accent1"/>
            </a:solidFill>
            <a:prstDash val="solid"/>
          </a:ln>
        </p:spPr>
      </p:sp>
      <p:sp>
        <p:nvSpPr>
          <p:cNvPr id="15" name="Text 12"/>
          <p:cNvSpPr txBox="1"/>
          <p:nvPr/>
        </p:nvSpPr>
        <p:spPr>
          <a:xfrm>
            <a:off x="685800" y="4663440"/>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16" name="Text 13"/>
          <p:cNvSpPr txBox="1"/>
          <p:nvPr/>
        </p:nvSpPr>
        <p:spPr>
          <a:xfrm>
            <a:off x="1170432" y="4617720"/>
            <a:ext cx="3429000" cy="713232"/>
          </a:xfrm>
          <a:prstGeom prst="rect">
            <a:avLst/>
          </a:prstGeom>
          <a:noFill/>
          <a:ln/>
        </p:spPr>
        <p:txBody>
          <a:bodyPr wrap="square" lIns="0" tIns="0" rIns="0" bIns="0" rtlCol="0" anchor="t"/>
          <a:lstStyle/>
          <a:p>
            <a:pPr indent="0" marL="0">
              <a:buNone/>
            </a:pPr>
            <a:r>
              <a:rPr lang="en-US" sz="1200" dirty="0">
                <a:solidFill>
                  <a:schemeClr val="tx1"/>
                </a:solidFill>
              </a:rPr>
              <a:t>Asesorar al máximo dando una atención excelente y profesional.</a:t>
            </a:r>
            <a:endParaRPr lang="en-US" sz="1200" dirty="0"/>
          </a:p>
        </p:txBody>
      </p:sp>
      <p:sp>
        <p:nvSpPr>
          <p:cNvPr id="17" name="Shape 14"/>
          <p:cNvSpPr/>
          <p:nvPr/>
        </p:nvSpPr>
        <p:spPr>
          <a:xfrm>
            <a:off x="4873752" y="4663440"/>
            <a:ext cx="347472" cy="347472"/>
          </a:xfrm>
          <a:prstGeom prst="ellipse">
            <a:avLst/>
          </a:prstGeom>
          <a:solidFill>
            <a:srgbClr val="FFFFFF"/>
          </a:solidFill>
          <a:ln w="15875">
            <a:solidFill>
              <a:schemeClr val="accent1"/>
            </a:solidFill>
            <a:prstDash val="solid"/>
          </a:ln>
        </p:spPr>
      </p:sp>
      <p:sp>
        <p:nvSpPr>
          <p:cNvPr id="18" name="Text 15"/>
          <p:cNvSpPr txBox="1"/>
          <p:nvPr/>
        </p:nvSpPr>
        <p:spPr>
          <a:xfrm>
            <a:off x="4873752" y="4663440"/>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19" name="Text 16"/>
          <p:cNvSpPr txBox="1"/>
          <p:nvPr/>
        </p:nvSpPr>
        <p:spPr>
          <a:xfrm>
            <a:off x="5358384" y="4617720"/>
            <a:ext cx="3429000" cy="713232"/>
          </a:xfrm>
          <a:prstGeom prst="rect">
            <a:avLst/>
          </a:prstGeom>
          <a:noFill/>
          <a:ln/>
        </p:spPr>
        <p:txBody>
          <a:bodyPr wrap="square" lIns="0" tIns="0" rIns="0" bIns="0" rtlCol="0" anchor="t"/>
          <a:lstStyle/>
          <a:p>
            <a:pPr indent="0" marL="0">
              <a:buNone/>
            </a:pPr>
            <a:r>
              <a:rPr lang="en-US" sz="1200" dirty="0">
                <a:solidFill>
                  <a:schemeClr val="tx1"/>
                </a:solidFill>
              </a:rPr>
              <a:t>Gestionar todas las incidencias y fidelizar al cliente año tras año.</a:t>
            </a:r>
            <a:endParaRPr lang="en-US" sz="1200" dirty="0"/>
          </a:p>
        </p:txBody>
      </p:sp>
      <p:sp>
        <p:nvSpPr>
          <p:cNvPr id="20" name="Shape 17"/>
          <p:cNvSpPr/>
          <p:nvPr/>
        </p:nvSpPr>
        <p:spPr>
          <a:xfrm>
            <a:off x="685800" y="5468112"/>
            <a:ext cx="347472" cy="347472"/>
          </a:xfrm>
          <a:prstGeom prst="ellipse">
            <a:avLst/>
          </a:prstGeom>
          <a:solidFill>
            <a:srgbClr val="FFFFFF"/>
          </a:solidFill>
          <a:ln w="15875">
            <a:solidFill>
              <a:schemeClr val="accent1"/>
            </a:solidFill>
            <a:prstDash val="solid"/>
          </a:ln>
        </p:spPr>
      </p:sp>
      <p:sp>
        <p:nvSpPr>
          <p:cNvPr id="21" name="Text 18"/>
          <p:cNvSpPr txBox="1"/>
          <p:nvPr/>
        </p:nvSpPr>
        <p:spPr>
          <a:xfrm>
            <a:off x="685800" y="5468112"/>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4</a:t>
            </a:r>
            <a:endParaRPr lang="en-US" sz="1100" dirty="0"/>
          </a:p>
        </p:txBody>
      </p:sp>
      <p:sp>
        <p:nvSpPr>
          <p:cNvPr id="22" name="Text 19"/>
          <p:cNvSpPr txBox="1"/>
          <p:nvPr/>
        </p:nvSpPr>
        <p:spPr>
          <a:xfrm>
            <a:off x="1170432" y="5422392"/>
            <a:ext cx="3429000" cy="713232"/>
          </a:xfrm>
          <a:prstGeom prst="rect">
            <a:avLst/>
          </a:prstGeom>
          <a:noFill/>
          <a:ln/>
        </p:spPr>
        <p:txBody>
          <a:bodyPr wrap="square" lIns="0" tIns="0" rIns="0" bIns="0" rtlCol="0" anchor="t"/>
          <a:lstStyle/>
          <a:p>
            <a:pPr indent="0" marL="0">
              <a:buNone/>
            </a:pPr>
            <a:r>
              <a:rPr lang="en-US" sz="1200" dirty="0">
                <a:solidFill>
                  <a:schemeClr val="tx1"/>
                </a:solidFill>
              </a:rPr>
              <a:t>Conseguir en 2 años una cartera de gestión de clientes con una numérica de 150 clientes.</a:t>
            </a:r>
            <a:endParaRPr lang="en-US" sz="1200" dirty="0"/>
          </a:p>
        </p:txBody>
      </p:sp>
      <p:sp>
        <p:nvSpPr>
          <p:cNvPr id="23" name="Shape 20"/>
          <p:cNvSpPr/>
          <p:nvPr/>
        </p:nvSpPr>
        <p:spPr>
          <a:xfrm>
            <a:off x="4873752" y="5468112"/>
            <a:ext cx="347472" cy="347472"/>
          </a:xfrm>
          <a:prstGeom prst="ellipse">
            <a:avLst/>
          </a:prstGeom>
          <a:solidFill>
            <a:srgbClr val="FFFFFF"/>
          </a:solidFill>
          <a:ln w="15875">
            <a:solidFill>
              <a:schemeClr val="accent1"/>
            </a:solidFill>
            <a:prstDash val="solid"/>
          </a:ln>
        </p:spPr>
      </p:sp>
      <p:sp>
        <p:nvSpPr>
          <p:cNvPr id="24" name="Text 21"/>
          <p:cNvSpPr txBox="1"/>
          <p:nvPr/>
        </p:nvSpPr>
        <p:spPr>
          <a:xfrm>
            <a:off x="4873752" y="5468112"/>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5</a:t>
            </a:r>
            <a:endParaRPr lang="en-US" sz="1100" dirty="0"/>
          </a:p>
        </p:txBody>
      </p:sp>
      <p:sp>
        <p:nvSpPr>
          <p:cNvPr id="25" name="Text 22"/>
          <p:cNvSpPr txBox="1"/>
          <p:nvPr/>
        </p:nvSpPr>
        <p:spPr>
          <a:xfrm>
            <a:off x="5358384" y="5422392"/>
            <a:ext cx="3429000" cy="713232"/>
          </a:xfrm>
          <a:prstGeom prst="rect">
            <a:avLst/>
          </a:prstGeom>
          <a:noFill/>
          <a:ln/>
        </p:spPr>
        <p:txBody>
          <a:bodyPr wrap="square" lIns="0" tIns="0" rIns="0" bIns="0" rtlCol="0" anchor="t"/>
          <a:lstStyle/>
          <a:p>
            <a:pPr indent="0" marL="0">
              <a:buNone/>
            </a:pPr>
            <a:r>
              <a:rPr lang="en-US" sz="1200" dirty="0">
                <a:solidFill>
                  <a:schemeClr val="tx1"/>
                </a:solidFill>
              </a:rPr>
              <a:t>Trabajar en un sector agradecido, pudiendo tener calidad de vida y compaginar la vida laboral con la personal.</a:t>
            </a:r>
            <a:endParaRPr lang="en-US" sz="12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Nuestra herramienta de trabajo: CRM</a:t>
            </a:r>
            <a:endParaRPr lang="en-US" sz="2600" dirty="0"/>
          </a:p>
        </p:txBody>
      </p:sp>
      <p:sp>
        <p:nvSpPr>
          <p:cNvPr id="5" name="Shape 3"/>
          <p:cNvSpPr/>
          <p:nvPr/>
        </p:nvSpPr>
        <p:spPr>
          <a:xfrm>
            <a:off x="548640" y="1691640"/>
            <a:ext cx="6126480" cy="3246120"/>
          </a:xfrm>
          <a:prstGeom prst="roundRect">
            <a:avLst>
              <a:gd name="adj" fmla="val 2254"/>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6" name="Image 0" descr="/tmp/claude-0/-home-user-mesenergiaes/5a011a92-143f-5232-b40a-c25f12780ce3/scratchpad/mu/ppt/media/image6.png">    </p:cNvPr>
          <p:cNvPicPr>
            <a:picLocks noChangeAspect="1"/>
          </p:cNvPicPr>
          <p:nvPr/>
        </p:nvPicPr>
        <p:blipFill>
          <a:blip r:embed="rId1"/>
          <a:stretch>
            <a:fillRect/>
          </a:stretch>
        </p:blipFill>
        <p:spPr>
          <a:xfrm>
            <a:off x="640080" y="1802519"/>
            <a:ext cx="5943600" cy="3024362"/>
          </a:xfrm>
          <a:prstGeom prst="rect">
            <a:avLst/>
          </a:prstGeom>
        </p:spPr>
      </p:pic>
      <p:sp>
        <p:nvSpPr>
          <p:cNvPr id="7" name="Shape 4"/>
          <p:cNvSpPr/>
          <p:nvPr/>
        </p:nvSpPr>
        <p:spPr>
          <a:xfrm>
            <a:off x="548640" y="5120640"/>
            <a:ext cx="6126480" cy="493776"/>
          </a:xfrm>
          <a:prstGeom prst="roundRect">
            <a:avLst>
              <a:gd name="adj" fmla="val 18519"/>
            </a:avLst>
          </a:prstGeom>
          <a:solidFill>
            <a:srgbClr val="EFF6E6"/>
          </a:solidFill>
          <a:ln/>
        </p:spPr>
      </p:sp>
      <p:pic>
        <p:nvPicPr>
          <p:cNvPr id="8" name="Image 1" descr="/tmp/claude-0/-home-user-mesenergiaes/5a011a92-143f-5232-b40a-c25f12780ce3/scratchpad/build/assets/check-green.png">    </p:cNvPr>
          <p:cNvPicPr>
            <a:picLocks noChangeAspect="1"/>
          </p:cNvPicPr>
          <p:nvPr/>
        </p:nvPicPr>
        <p:blipFill>
          <a:blip r:embed="rId2"/>
          <a:stretch>
            <a:fillRect/>
          </a:stretch>
        </p:blipFill>
        <p:spPr>
          <a:xfrm>
            <a:off x="713232" y="5266944"/>
            <a:ext cx="201168" cy="201168"/>
          </a:xfrm>
          <a:prstGeom prst="rect">
            <a:avLst/>
          </a:prstGeom>
        </p:spPr>
      </p:pic>
      <p:sp>
        <p:nvSpPr>
          <p:cNvPr id="9" name="Text 5"/>
          <p:cNvSpPr txBox="1"/>
          <p:nvPr/>
        </p:nvSpPr>
        <p:spPr>
          <a:xfrm>
            <a:off x="1051560" y="5120640"/>
            <a:ext cx="5486400" cy="493776"/>
          </a:xfrm>
          <a:prstGeom prst="rect">
            <a:avLst/>
          </a:prstGeom>
          <a:noFill/>
          <a:ln/>
        </p:spPr>
        <p:txBody>
          <a:bodyPr wrap="square" lIns="0" tIns="0" rIns="0" bIns="0" rtlCol="0" anchor="ctr"/>
          <a:lstStyle/>
          <a:p>
            <a:pPr indent="0" marL="0">
              <a:buNone/>
            </a:pPr>
            <a:r>
              <a:rPr lang="en-US" sz="1150" dirty="0">
                <a:solidFill>
                  <a:schemeClr val="tx1"/>
                </a:solidFill>
              </a:rPr>
              <a:t>Nodo es la herramienta completa para que tu labor en Clocat Energy sea </a:t>
            </a:r>
            <a:pPr indent="0" marL="0">
              <a:buNone/>
            </a:pPr>
            <a:r>
              <a:rPr lang="en-US" sz="1150" b="1" dirty="0">
                <a:solidFill>
                  <a:schemeClr val="tx1"/>
                </a:solidFill>
              </a:rPr>
              <a:t>profesional, ordenada y eficiente.</a:t>
            </a:r>
            <a:endParaRPr lang="en-US" sz="1150" dirty="0"/>
          </a:p>
        </p:txBody>
      </p:sp>
      <p:sp>
        <p:nvSpPr>
          <p:cNvPr id="10" name="Shape 6"/>
          <p:cNvSpPr/>
          <p:nvPr/>
        </p:nvSpPr>
        <p:spPr>
          <a:xfrm>
            <a:off x="548640" y="5687568"/>
            <a:ext cx="6126480" cy="493776"/>
          </a:xfrm>
          <a:prstGeom prst="roundRect">
            <a:avLst>
              <a:gd name="adj" fmla="val 18519"/>
            </a:avLst>
          </a:prstGeom>
          <a:solidFill>
            <a:srgbClr val="EFF6E6"/>
          </a:solidFill>
          <a:ln/>
        </p:spPr>
      </p:sp>
      <p:pic>
        <p:nvPicPr>
          <p:cNvPr id="11" name="Image 2" descr="/tmp/claude-0/-home-user-mesenergiaes/5a011a92-143f-5232-b40a-c25f12780ce3/scratchpad/build/assets/check-green.png">    </p:cNvPr>
          <p:cNvPicPr>
            <a:picLocks noChangeAspect="1"/>
          </p:cNvPicPr>
          <p:nvPr/>
        </p:nvPicPr>
        <p:blipFill>
          <a:blip r:embed="rId3"/>
          <a:stretch>
            <a:fillRect/>
          </a:stretch>
        </p:blipFill>
        <p:spPr>
          <a:xfrm>
            <a:off x="713232" y="5833872"/>
            <a:ext cx="201168" cy="201168"/>
          </a:xfrm>
          <a:prstGeom prst="rect">
            <a:avLst/>
          </a:prstGeom>
        </p:spPr>
      </p:pic>
      <p:sp>
        <p:nvSpPr>
          <p:cNvPr id="12" name="Text 7"/>
          <p:cNvSpPr txBox="1"/>
          <p:nvPr/>
        </p:nvSpPr>
        <p:spPr>
          <a:xfrm>
            <a:off x="1051560" y="5687568"/>
            <a:ext cx="5486400" cy="493776"/>
          </a:xfrm>
          <a:prstGeom prst="rect">
            <a:avLst/>
          </a:prstGeom>
          <a:noFill/>
          <a:ln/>
        </p:spPr>
        <p:txBody>
          <a:bodyPr wrap="square" lIns="0" tIns="0" rIns="0" bIns="0" rtlCol="0" anchor="ctr"/>
          <a:lstStyle/>
          <a:p>
            <a:pPr indent="0" marL="0">
              <a:buNone/>
            </a:pPr>
            <a:r>
              <a:rPr lang="en-US" sz="1150" dirty="0">
                <a:solidFill>
                  <a:schemeClr val="tx1"/>
                </a:solidFill>
              </a:rPr>
              <a:t>Sirve como </a:t>
            </a:r>
            <a:pPr indent="0" marL="0">
              <a:buNone/>
            </a:pPr>
            <a:r>
              <a:rPr lang="en-US" sz="1150" b="1" dirty="0">
                <a:solidFill>
                  <a:schemeClr val="tx1"/>
                </a:solidFill>
              </a:rPr>
              <a:t>herramienta principal</a:t>
            </a:r>
            <a:pPr indent="0" marL="0">
              <a:buNone/>
            </a:pPr>
            <a:r>
              <a:rPr lang="en-US" sz="1150" dirty="0">
                <a:solidFill>
                  <a:schemeClr val="tx1"/>
                </a:solidFill>
              </a:rPr>
              <a:t> para programar, planificar, organizar, crear y gestionar todas tus labores en la empresa.</a:t>
            </a:r>
            <a:endParaRPr lang="en-US" sz="1150" dirty="0"/>
          </a:p>
        </p:txBody>
      </p:sp>
      <p:pic>
        <p:nvPicPr>
          <p:cNvPr id="13" name="Image 3" descr="/tmp/claude-0/-home-user-mesenergiaes/5a011a92-143f-5232-b40a-c25f12780ce3/scratchpad/mu/ppt/media/image5.png">    </p:cNvPr>
          <p:cNvPicPr>
            <a:picLocks noChangeAspect="1"/>
          </p:cNvPicPr>
          <p:nvPr/>
        </p:nvPicPr>
        <p:blipFill>
          <a:blip r:embed="rId4"/>
          <a:stretch>
            <a:fillRect/>
          </a:stretch>
        </p:blipFill>
        <p:spPr>
          <a:xfrm>
            <a:off x="7086600" y="1783080"/>
            <a:ext cx="1920240" cy="509798"/>
          </a:xfrm>
          <a:prstGeom prst="rect">
            <a:avLst/>
          </a:prstGeom>
        </p:spPr>
      </p:pic>
      <p:sp>
        <p:nvSpPr>
          <p:cNvPr id="14" name="Text 8"/>
          <p:cNvSpPr txBox="1"/>
          <p:nvPr/>
        </p:nvSpPr>
        <p:spPr>
          <a:xfrm>
            <a:off x="7086600" y="2514600"/>
            <a:ext cx="4556455" cy="411480"/>
          </a:xfrm>
          <a:prstGeom prst="rect">
            <a:avLst/>
          </a:prstGeom>
          <a:noFill/>
          <a:ln/>
        </p:spPr>
        <p:txBody>
          <a:bodyPr wrap="square" lIns="0" tIns="0" rIns="0" bIns="0" rtlCol="0" anchor="ctr"/>
          <a:lstStyle/>
          <a:p>
            <a:pPr indent="0" marL="0">
              <a:buNone/>
            </a:pPr>
            <a:r>
              <a:rPr lang="en-US" sz="2000" b="1" dirty="0">
                <a:solidFill>
                  <a:schemeClr val="tx2"/>
                </a:solidFill>
              </a:rPr>
              <a:t>¿Qué es Nodo Ámbar?</a:t>
            </a:r>
            <a:endParaRPr lang="en-US" sz="2000" dirty="0"/>
          </a:p>
        </p:txBody>
      </p:sp>
      <p:sp>
        <p:nvSpPr>
          <p:cNvPr id="15" name="Text 9"/>
          <p:cNvSpPr txBox="1"/>
          <p:nvPr/>
        </p:nvSpPr>
        <p:spPr>
          <a:xfrm>
            <a:off x="7086600" y="2944368"/>
            <a:ext cx="4556455" cy="502920"/>
          </a:xfrm>
          <a:prstGeom prst="rect">
            <a:avLst/>
          </a:prstGeom>
          <a:noFill/>
          <a:ln/>
        </p:spPr>
        <p:txBody>
          <a:bodyPr wrap="square" lIns="0" tIns="0" rIns="0" bIns="0" rtlCol="0" anchor="t"/>
          <a:lstStyle/>
          <a:p>
            <a:pPr indent="0" marL="0">
              <a:buNone/>
            </a:pPr>
            <a:r>
              <a:rPr lang="en-US" sz="1350" b="1" dirty="0">
                <a:solidFill>
                  <a:schemeClr val="accent1"/>
                </a:solidFill>
              </a:rPr>
              <a:t>Es un software especializado para asesores energéticos.</a:t>
            </a:r>
            <a:endParaRPr lang="en-US" sz="1350" dirty="0"/>
          </a:p>
        </p:txBody>
      </p:sp>
      <p:sp>
        <p:nvSpPr>
          <p:cNvPr id="16" name="Text 10"/>
          <p:cNvSpPr txBox="1"/>
          <p:nvPr/>
        </p:nvSpPr>
        <p:spPr>
          <a:xfrm>
            <a:off x="7086600" y="3611880"/>
            <a:ext cx="4556455" cy="2194560"/>
          </a:xfrm>
          <a:prstGeom prst="rect">
            <a:avLst/>
          </a:prstGeom>
          <a:noFill/>
          <a:ln/>
        </p:spPr>
        <p:txBody>
          <a:bodyPr wrap="square" lIns="0" tIns="0" rIns="0" bIns="0" rtlCol="0" anchor="t"/>
          <a:lstStyle/>
          <a:p>
            <a:pPr indent="0" marL="0">
              <a:lnSpc>
                <a:spcPct val="110000"/>
              </a:lnSpc>
              <a:buNone/>
            </a:pPr>
            <a:r>
              <a:rPr lang="en-US" sz="1300" b="1" dirty="0">
                <a:solidFill>
                  <a:schemeClr val="tx1"/>
                </a:solidFill>
              </a:rPr>
              <a:t>Todo su negocio en un solo sistema: </a:t>
            </a:r>
            <a:pPr indent="0" marL="0">
              <a:lnSpc>
                <a:spcPct val="110000"/>
              </a:lnSpc>
              <a:buNone/>
            </a:pPr>
            <a:r>
              <a:rPr lang="en-US" sz="1300" dirty="0">
                <a:solidFill>
                  <a:schemeClr val="tx1"/>
                </a:solidFill>
              </a:rPr>
              <a:t>los estados de sus contratos, las autofacturas a toda su red comercial, la gestión documental de contratos y ofertas, comparador de precios, cruce de certificaciones que envían las comercializadoras, informes y mucho más.</a:t>
            </a:r>
            <a:endParaRPr lang="en-US" sz="13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Cómo utilizar Nodo</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Y qué beneficios ofrece a nuestros asesores.</a:t>
            </a:r>
            <a:endParaRPr lang="en-US" sz="1400" dirty="0"/>
          </a:p>
        </p:txBody>
      </p:sp>
      <p:sp>
        <p:nvSpPr>
          <p:cNvPr id="6" name="Shape 4"/>
          <p:cNvSpPr/>
          <p:nvPr/>
        </p:nvSpPr>
        <p:spPr>
          <a:xfrm>
            <a:off x="548640" y="2103120"/>
            <a:ext cx="5989320" cy="4114800"/>
          </a:xfrm>
          <a:prstGeom prst="roundRect">
            <a:avLst>
              <a:gd name="adj" fmla="val 1778"/>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7" name="Image 0" descr="/tmp/claude-0/-home-user-mesenergiaes/5a011a92-143f-5232-b40a-c25f12780ce3/scratchpad/mu/ppt/media/image7.png">    </p:cNvPr>
          <p:cNvPicPr>
            <a:picLocks noChangeAspect="1"/>
          </p:cNvPicPr>
          <p:nvPr/>
        </p:nvPicPr>
        <p:blipFill>
          <a:blip r:embed="rId1"/>
          <a:stretch>
            <a:fillRect/>
          </a:stretch>
        </p:blipFill>
        <p:spPr>
          <a:xfrm>
            <a:off x="648323" y="2194560"/>
            <a:ext cx="5789953" cy="3931920"/>
          </a:xfrm>
          <a:prstGeom prst="rect">
            <a:avLst/>
          </a:prstGeom>
        </p:spPr>
      </p:pic>
      <p:sp>
        <p:nvSpPr>
          <p:cNvPr id="8" name="Shape 5"/>
          <p:cNvSpPr/>
          <p:nvPr/>
        </p:nvSpPr>
        <p:spPr>
          <a:xfrm>
            <a:off x="6766560" y="2103120"/>
            <a:ext cx="4876495" cy="1828800"/>
          </a:xfrm>
          <a:prstGeom prst="roundRect">
            <a:avLst>
              <a:gd name="adj" fmla="val 4000"/>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9" name="Image 1" descr="/tmp/claude-0/-home-user-mesenergiaes/5a011a92-143f-5232-b40a-c25f12780ce3/scratchpad/mu/ppt/media/image8.png">    </p:cNvPr>
          <p:cNvPicPr>
            <a:picLocks noChangeAspect="1"/>
          </p:cNvPicPr>
          <p:nvPr/>
        </p:nvPicPr>
        <p:blipFill>
          <a:blip r:embed="rId2"/>
          <a:stretch>
            <a:fillRect/>
          </a:stretch>
        </p:blipFill>
        <p:spPr>
          <a:xfrm>
            <a:off x="6900520" y="2194560"/>
            <a:ext cx="4608576" cy="1645920"/>
          </a:xfrm>
          <a:prstGeom prst="rect">
            <a:avLst/>
          </a:prstGeom>
        </p:spPr>
      </p:pic>
      <p:sp>
        <p:nvSpPr>
          <p:cNvPr id="10" name="Shape 6"/>
          <p:cNvSpPr/>
          <p:nvPr/>
        </p:nvSpPr>
        <p:spPr>
          <a:xfrm>
            <a:off x="6766560" y="4114800"/>
            <a:ext cx="4876495" cy="2103120"/>
          </a:xfrm>
          <a:prstGeom prst="roundRect">
            <a:avLst>
              <a:gd name="adj" fmla="val 4348"/>
            </a:avLst>
          </a:prstGeom>
          <a:solidFill>
            <a:srgbClr val="EFF6E6"/>
          </a:solidFill>
          <a:ln/>
        </p:spPr>
      </p:sp>
      <p:sp>
        <p:nvSpPr>
          <p:cNvPr id="11" name="Text 7"/>
          <p:cNvSpPr txBox="1"/>
          <p:nvPr/>
        </p:nvSpPr>
        <p:spPr>
          <a:xfrm>
            <a:off x="6995160" y="4251960"/>
            <a:ext cx="4419295" cy="228600"/>
          </a:xfrm>
          <a:prstGeom prst="rect">
            <a:avLst/>
          </a:prstGeom>
          <a:noFill/>
          <a:ln/>
        </p:spPr>
        <p:txBody>
          <a:bodyPr wrap="square" lIns="0" tIns="0" rIns="0" bIns="0" rtlCol="0" anchor="ctr"/>
          <a:lstStyle/>
          <a:p>
            <a:pPr indent="0" marL="0">
              <a:buNone/>
            </a:pPr>
            <a:r>
              <a:rPr lang="en-US" sz="900" b="1" spc="200" kern="0" dirty="0">
                <a:solidFill>
                  <a:schemeClr val="accent1"/>
                </a:solidFill>
              </a:rPr>
              <a:t>QUÉ TE OFRECE NODO</a:t>
            </a:r>
            <a:endParaRPr lang="en-US" sz="900" dirty="0"/>
          </a:p>
        </p:txBody>
      </p:sp>
      <p:pic>
        <p:nvPicPr>
          <p:cNvPr id="12" name="Image 2" descr="/tmp/claude-0/-home-user-mesenergiaes/5a011a92-143f-5232-b40a-c25f12780ce3/scratchpad/build/assets/check-green.png">    </p:cNvPr>
          <p:cNvPicPr>
            <a:picLocks noChangeAspect="1"/>
          </p:cNvPicPr>
          <p:nvPr/>
        </p:nvPicPr>
        <p:blipFill>
          <a:blip r:embed="rId3"/>
          <a:stretch>
            <a:fillRect/>
          </a:stretch>
        </p:blipFill>
        <p:spPr>
          <a:xfrm>
            <a:off x="6995160" y="4645152"/>
            <a:ext cx="182880" cy="182880"/>
          </a:xfrm>
          <a:prstGeom prst="rect">
            <a:avLst/>
          </a:prstGeom>
        </p:spPr>
      </p:pic>
      <p:sp>
        <p:nvSpPr>
          <p:cNvPr id="13" name="Text 8"/>
          <p:cNvSpPr txBox="1"/>
          <p:nvPr/>
        </p:nvSpPr>
        <p:spPr>
          <a:xfrm>
            <a:off x="7315200" y="4572000"/>
            <a:ext cx="4144975" cy="329184"/>
          </a:xfrm>
          <a:prstGeom prst="rect">
            <a:avLst/>
          </a:prstGeom>
          <a:noFill/>
          <a:ln/>
        </p:spPr>
        <p:txBody>
          <a:bodyPr wrap="square" lIns="0" tIns="0" rIns="0" bIns="0" rtlCol="0" anchor="ctr"/>
          <a:lstStyle/>
          <a:p>
            <a:pPr indent="0" marL="0">
              <a:buNone/>
            </a:pPr>
            <a:r>
              <a:rPr lang="en-US" sz="1250" dirty="0">
                <a:solidFill>
                  <a:schemeClr val="tx1"/>
                </a:solidFill>
              </a:rPr>
              <a:t>Estados de todos tus contratos</a:t>
            </a:r>
            <a:endParaRPr lang="en-US" sz="1250" dirty="0"/>
          </a:p>
        </p:txBody>
      </p:sp>
      <p:pic>
        <p:nvPicPr>
          <p:cNvPr id="14" name="Image 3" descr="/tmp/claude-0/-home-user-mesenergiaes/5a011a92-143f-5232-b40a-c25f12780ce3/scratchpad/build/assets/check-green.png">    </p:cNvPr>
          <p:cNvPicPr>
            <a:picLocks noChangeAspect="1"/>
          </p:cNvPicPr>
          <p:nvPr/>
        </p:nvPicPr>
        <p:blipFill>
          <a:blip r:embed="rId4"/>
          <a:stretch>
            <a:fillRect/>
          </a:stretch>
        </p:blipFill>
        <p:spPr>
          <a:xfrm>
            <a:off x="6995160" y="5029200"/>
            <a:ext cx="182880" cy="182880"/>
          </a:xfrm>
          <a:prstGeom prst="rect">
            <a:avLst/>
          </a:prstGeom>
        </p:spPr>
      </p:pic>
      <p:sp>
        <p:nvSpPr>
          <p:cNvPr id="15" name="Text 9"/>
          <p:cNvSpPr txBox="1"/>
          <p:nvPr/>
        </p:nvSpPr>
        <p:spPr>
          <a:xfrm>
            <a:off x="7315200" y="4956048"/>
            <a:ext cx="4144975" cy="329184"/>
          </a:xfrm>
          <a:prstGeom prst="rect">
            <a:avLst/>
          </a:prstGeom>
          <a:noFill/>
          <a:ln/>
        </p:spPr>
        <p:txBody>
          <a:bodyPr wrap="square" lIns="0" tIns="0" rIns="0" bIns="0" rtlCol="0" anchor="ctr"/>
          <a:lstStyle/>
          <a:p>
            <a:pPr indent="0" marL="0">
              <a:buNone/>
            </a:pPr>
            <a:r>
              <a:rPr lang="en-US" sz="1250" dirty="0">
                <a:solidFill>
                  <a:schemeClr val="tx1"/>
                </a:solidFill>
              </a:rPr>
              <a:t>Autofacturas a toda tu red comercial</a:t>
            </a:r>
            <a:endParaRPr lang="en-US" sz="1250" dirty="0"/>
          </a:p>
        </p:txBody>
      </p:sp>
      <p:pic>
        <p:nvPicPr>
          <p:cNvPr id="16" name="Image 4" descr="/tmp/claude-0/-home-user-mesenergiaes/5a011a92-143f-5232-b40a-c25f12780ce3/scratchpad/build/assets/check-green.png">    </p:cNvPr>
          <p:cNvPicPr>
            <a:picLocks noChangeAspect="1"/>
          </p:cNvPicPr>
          <p:nvPr/>
        </p:nvPicPr>
        <p:blipFill>
          <a:blip r:embed="rId5"/>
          <a:stretch>
            <a:fillRect/>
          </a:stretch>
        </p:blipFill>
        <p:spPr>
          <a:xfrm>
            <a:off x="6995160" y="5413248"/>
            <a:ext cx="182880" cy="182880"/>
          </a:xfrm>
          <a:prstGeom prst="rect">
            <a:avLst/>
          </a:prstGeom>
        </p:spPr>
      </p:pic>
      <p:sp>
        <p:nvSpPr>
          <p:cNvPr id="17" name="Text 10"/>
          <p:cNvSpPr txBox="1"/>
          <p:nvPr/>
        </p:nvSpPr>
        <p:spPr>
          <a:xfrm>
            <a:off x="7315200" y="5340096"/>
            <a:ext cx="4144975" cy="329184"/>
          </a:xfrm>
          <a:prstGeom prst="rect">
            <a:avLst/>
          </a:prstGeom>
          <a:noFill/>
          <a:ln/>
        </p:spPr>
        <p:txBody>
          <a:bodyPr wrap="square" lIns="0" tIns="0" rIns="0" bIns="0" rtlCol="0" anchor="ctr"/>
          <a:lstStyle/>
          <a:p>
            <a:pPr indent="0" marL="0">
              <a:buNone/>
            </a:pPr>
            <a:r>
              <a:rPr lang="en-US" sz="1250" dirty="0">
                <a:solidFill>
                  <a:schemeClr val="tx1"/>
                </a:solidFill>
              </a:rPr>
              <a:t>Gestión documental de contratos y ofertas</a:t>
            </a:r>
            <a:endParaRPr lang="en-US" sz="1250" dirty="0"/>
          </a:p>
        </p:txBody>
      </p:sp>
      <p:pic>
        <p:nvPicPr>
          <p:cNvPr id="18" name="Image 5" descr="/tmp/claude-0/-home-user-mesenergiaes/5a011a92-143f-5232-b40a-c25f12780ce3/scratchpad/build/assets/check-green.png">    </p:cNvPr>
          <p:cNvPicPr>
            <a:picLocks noChangeAspect="1"/>
          </p:cNvPicPr>
          <p:nvPr/>
        </p:nvPicPr>
        <p:blipFill>
          <a:blip r:embed="rId6"/>
          <a:stretch>
            <a:fillRect/>
          </a:stretch>
        </p:blipFill>
        <p:spPr>
          <a:xfrm>
            <a:off x="6995160" y="5797296"/>
            <a:ext cx="182880" cy="182880"/>
          </a:xfrm>
          <a:prstGeom prst="rect">
            <a:avLst/>
          </a:prstGeom>
        </p:spPr>
      </p:pic>
      <p:sp>
        <p:nvSpPr>
          <p:cNvPr id="19" name="Text 11"/>
          <p:cNvSpPr txBox="1"/>
          <p:nvPr/>
        </p:nvSpPr>
        <p:spPr>
          <a:xfrm>
            <a:off x="7315200" y="5724144"/>
            <a:ext cx="4144975" cy="329184"/>
          </a:xfrm>
          <a:prstGeom prst="rect">
            <a:avLst/>
          </a:prstGeom>
          <a:noFill/>
          <a:ln/>
        </p:spPr>
        <p:txBody>
          <a:bodyPr wrap="square" lIns="0" tIns="0" rIns="0" bIns="0" rtlCol="0" anchor="ctr"/>
          <a:lstStyle/>
          <a:p>
            <a:pPr indent="0" marL="0">
              <a:buNone/>
            </a:pPr>
            <a:r>
              <a:rPr lang="en-US" sz="1250" dirty="0">
                <a:solidFill>
                  <a:schemeClr val="tx1"/>
                </a:solidFill>
              </a:rPr>
              <a:t>Comparador de precios e informes</a:t>
            </a:r>
            <a:endParaRPr lang="en-US" sz="125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Comparador de facturas en menos de 2 minutos</a:t>
            </a:r>
            <a:endParaRPr lang="en-US" sz="2600" dirty="0"/>
          </a:p>
        </p:txBody>
      </p:sp>
      <p:sp>
        <p:nvSpPr>
          <p:cNvPr id="5" name="Shape 3"/>
          <p:cNvSpPr/>
          <p:nvPr/>
        </p:nvSpPr>
        <p:spPr>
          <a:xfrm>
            <a:off x="548640" y="1691640"/>
            <a:ext cx="5760720" cy="4526280"/>
          </a:xfrm>
          <a:prstGeom prst="roundRect">
            <a:avLst>
              <a:gd name="adj" fmla="val 1616"/>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6" name="Image 0" descr="/tmp/claude-0/-home-user-mesenergiaes/5a011a92-143f-5232-b40a-c25f12780ce3/scratchpad/mu/ppt/media/image9.png">    </p:cNvPr>
          <p:cNvPicPr>
            <a:picLocks noChangeAspect="1"/>
          </p:cNvPicPr>
          <p:nvPr/>
        </p:nvPicPr>
        <p:blipFill>
          <a:blip r:embed="rId1"/>
          <a:stretch>
            <a:fillRect/>
          </a:stretch>
        </p:blipFill>
        <p:spPr>
          <a:xfrm>
            <a:off x="640080" y="2101328"/>
            <a:ext cx="5577840" cy="3706903"/>
          </a:xfrm>
          <a:prstGeom prst="rect">
            <a:avLst/>
          </a:prstGeom>
        </p:spPr>
      </p:pic>
      <p:sp>
        <p:nvSpPr>
          <p:cNvPr id="7" name="Shape 4"/>
          <p:cNvSpPr/>
          <p:nvPr/>
        </p:nvSpPr>
        <p:spPr>
          <a:xfrm>
            <a:off x="6537960" y="1691640"/>
            <a:ext cx="5105095" cy="2743200"/>
          </a:xfrm>
          <a:prstGeom prst="roundRect">
            <a:avLst>
              <a:gd name="adj" fmla="val 2667"/>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8" name="Image 1" descr="/tmp/claude-0/-home-user-mesenergiaes/5a011a92-143f-5232-b40a-c25f12780ce3/scratchpad/mu/ppt/media/image10.png">    </p:cNvPr>
          <p:cNvPicPr>
            <a:picLocks noChangeAspect="1"/>
          </p:cNvPicPr>
          <p:nvPr/>
        </p:nvPicPr>
        <p:blipFill>
          <a:blip r:embed="rId2"/>
          <a:stretch>
            <a:fillRect/>
          </a:stretch>
        </p:blipFill>
        <p:spPr>
          <a:xfrm>
            <a:off x="6629400" y="1805341"/>
            <a:ext cx="4922215" cy="2515799"/>
          </a:xfrm>
          <a:prstGeom prst="rect">
            <a:avLst/>
          </a:prstGeom>
        </p:spPr>
      </p:pic>
      <p:sp>
        <p:nvSpPr>
          <p:cNvPr id="9" name="Shape 5"/>
          <p:cNvSpPr/>
          <p:nvPr/>
        </p:nvSpPr>
        <p:spPr>
          <a:xfrm>
            <a:off x="6537960" y="4617720"/>
            <a:ext cx="5105095" cy="1600200"/>
          </a:xfrm>
          <a:prstGeom prst="roundRect">
            <a:avLst>
              <a:gd name="adj" fmla="val 5714"/>
            </a:avLst>
          </a:prstGeom>
          <a:solidFill>
            <a:srgbClr val="FDF1E3"/>
          </a:solidFill>
          <a:ln/>
        </p:spPr>
      </p:sp>
      <p:sp>
        <p:nvSpPr>
          <p:cNvPr id="10" name="Text 6"/>
          <p:cNvSpPr txBox="1"/>
          <p:nvPr/>
        </p:nvSpPr>
        <p:spPr>
          <a:xfrm>
            <a:off x="6812280" y="4709160"/>
            <a:ext cx="2194560" cy="1417320"/>
          </a:xfrm>
          <a:prstGeom prst="rect">
            <a:avLst/>
          </a:prstGeom>
          <a:noFill/>
          <a:ln/>
        </p:spPr>
        <p:txBody>
          <a:bodyPr wrap="square" lIns="0" tIns="0" rIns="0" bIns="0" rtlCol="0" anchor="ctr"/>
          <a:lstStyle/>
          <a:p>
            <a:pPr indent="0" marL="0">
              <a:buNone/>
            </a:pPr>
            <a:r>
              <a:rPr lang="en-US" sz="4800" b="1" dirty="0">
                <a:solidFill>
                  <a:schemeClr val="accent3"/>
                </a:solidFill>
              </a:rPr>
              <a:t>&lt; 2</a:t>
            </a:r>
            <a:pPr indent="0" marL="0">
              <a:buNone/>
            </a:pPr>
            <a:r>
              <a:rPr lang="en-US" sz="2400" b="1" dirty="0">
                <a:solidFill>
                  <a:schemeClr val="accent3"/>
                </a:solidFill>
              </a:rPr>
              <a:t> min</a:t>
            </a:r>
            <a:endParaRPr lang="en-US" sz="4800" dirty="0"/>
          </a:p>
        </p:txBody>
      </p:sp>
      <p:sp>
        <p:nvSpPr>
          <p:cNvPr id="11" name="Text 7"/>
          <p:cNvSpPr txBox="1"/>
          <p:nvPr/>
        </p:nvSpPr>
        <p:spPr>
          <a:xfrm>
            <a:off x="9006840" y="4709160"/>
            <a:ext cx="2407615" cy="1417320"/>
          </a:xfrm>
          <a:prstGeom prst="rect">
            <a:avLst/>
          </a:prstGeom>
          <a:noFill/>
          <a:ln/>
        </p:spPr>
        <p:txBody>
          <a:bodyPr wrap="square" lIns="0" tIns="0" rIns="0" bIns="0" rtlCol="0" anchor="ctr"/>
          <a:lstStyle/>
          <a:p>
            <a:pPr indent="0" marL="0">
              <a:buNone/>
            </a:pPr>
            <a:r>
              <a:rPr lang="en-US" sz="1250" dirty="0">
                <a:solidFill>
                  <a:schemeClr val="tx1"/>
                </a:solidFill>
              </a:rPr>
              <a:t>Lector de facturas en PDF para estudio automático y comparativa con todas las comercializadoras.</a:t>
            </a:r>
            <a:endParaRPr lang="en-US" sz="125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Ten un control absoluto de tus operaciones</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…y, sobre todo, </a:t>
            </a:r>
            <a:pPr indent="0" marL="0">
              <a:buNone/>
            </a:pPr>
            <a:r>
              <a:rPr lang="en-US" sz="1400" b="1" dirty="0">
                <a:solidFill>
                  <a:schemeClr val="accent1"/>
                </a:solidFill>
              </a:rPr>
              <a:t>de tus comisiones.</a:t>
            </a:r>
            <a:endParaRPr lang="en-US" sz="1400" dirty="0"/>
          </a:p>
        </p:txBody>
      </p:sp>
      <p:sp>
        <p:nvSpPr>
          <p:cNvPr id="6" name="Shape 4"/>
          <p:cNvSpPr/>
          <p:nvPr/>
        </p:nvSpPr>
        <p:spPr>
          <a:xfrm>
            <a:off x="548640" y="2103120"/>
            <a:ext cx="6903720" cy="3291840"/>
          </a:xfrm>
          <a:prstGeom prst="roundRect">
            <a:avLst>
              <a:gd name="adj" fmla="val 2222"/>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7" name="Image 0" descr="/tmp/claude-0/-home-user-mesenergiaes/5a011a92-143f-5232-b40a-c25f12780ce3/scratchpad/mu/ppt/media/image11.png">    </p:cNvPr>
          <p:cNvPicPr>
            <a:picLocks noChangeAspect="1"/>
          </p:cNvPicPr>
          <p:nvPr/>
        </p:nvPicPr>
        <p:blipFill>
          <a:blip r:embed="rId1"/>
          <a:stretch>
            <a:fillRect/>
          </a:stretch>
        </p:blipFill>
        <p:spPr>
          <a:xfrm>
            <a:off x="640080" y="2234003"/>
            <a:ext cx="6720840" cy="3030074"/>
          </a:xfrm>
          <a:prstGeom prst="rect">
            <a:avLst/>
          </a:prstGeom>
        </p:spPr>
      </p:pic>
      <p:sp>
        <p:nvSpPr>
          <p:cNvPr id="8" name="Shape 5"/>
          <p:cNvSpPr/>
          <p:nvPr/>
        </p:nvSpPr>
        <p:spPr>
          <a:xfrm>
            <a:off x="7680960" y="2103120"/>
            <a:ext cx="3962095" cy="3291840"/>
          </a:xfrm>
          <a:prstGeom prst="roundRect">
            <a:avLst>
              <a:gd name="adj" fmla="val 2222"/>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9" name="Image 1" descr="/tmp/claude-0/-home-user-mesenergiaes/5a011a92-143f-5232-b40a-c25f12780ce3/scratchpad/mu/ppt/media/image12.png">    </p:cNvPr>
          <p:cNvPicPr>
            <a:picLocks noChangeAspect="1"/>
          </p:cNvPicPr>
          <p:nvPr/>
        </p:nvPicPr>
        <p:blipFill>
          <a:blip r:embed="rId2"/>
          <a:stretch>
            <a:fillRect/>
          </a:stretch>
        </p:blipFill>
        <p:spPr>
          <a:xfrm>
            <a:off x="7772400" y="2525857"/>
            <a:ext cx="3779215" cy="2446367"/>
          </a:xfrm>
          <a:prstGeom prst="rect">
            <a:avLst/>
          </a:prstGeom>
        </p:spPr>
      </p:pic>
      <p:sp>
        <p:nvSpPr>
          <p:cNvPr id="10" name="Shape 6"/>
          <p:cNvSpPr/>
          <p:nvPr/>
        </p:nvSpPr>
        <p:spPr>
          <a:xfrm>
            <a:off x="548640" y="5577840"/>
            <a:ext cx="11094415" cy="640080"/>
          </a:xfrm>
          <a:prstGeom prst="roundRect">
            <a:avLst>
              <a:gd name="adj" fmla="val 14286"/>
            </a:avLst>
          </a:prstGeom>
          <a:solidFill>
            <a:srgbClr val="EFF6E6"/>
          </a:solidFill>
          <a:ln/>
        </p:spPr>
      </p:sp>
      <p:pic>
        <p:nvPicPr>
          <p:cNvPr id="11" name="Image 2" descr="/tmp/claude-0/-home-user-mesenergiaes/5a011a92-143f-5232-b40a-c25f12780ce3/scratchpad/build/assets/check-green.png">    </p:cNvPr>
          <p:cNvPicPr>
            <a:picLocks noChangeAspect="1"/>
          </p:cNvPicPr>
          <p:nvPr/>
        </p:nvPicPr>
        <p:blipFill>
          <a:blip r:embed="rId3"/>
          <a:stretch>
            <a:fillRect/>
          </a:stretch>
        </p:blipFill>
        <p:spPr>
          <a:xfrm>
            <a:off x="777240" y="5797296"/>
            <a:ext cx="201168" cy="201168"/>
          </a:xfrm>
          <a:prstGeom prst="rect">
            <a:avLst/>
          </a:prstGeom>
        </p:spPr>
      </p:pic>
      <p:sp>
        <p:nvSpPr>
          <p:cNvPr id="12" name="Text 7"/>
          <p:cNvSpPr txBox="1"/>
          <p:nvPr/>
        </p:nvSpPr>
        <p:spPr>
          <a:xfrm>
            <a:off x="1143000" y="5577840"/>
            <a:ext cx="10271455" cy="640080"/>
          </a:xfrm>
          <a:prstGeom prst="rect">
            <a:avLst/>
          </a:prstGeom>
          <a:noFill/>
          <a:ln/>
        </p:spPr>
        <p:txBody>
          <a:bodyPr wrap="square" lIns="0" tIns="0" rIns="0" bIns="0" rtlCol="0" anchor="ctr"/>
          <a:lstStyle/>
          <a:p>
            <a:pPr indent="0" marL="0">
              <a:buNone/>
            </a:pPr>
            <a:r>
              <a:rPr lang="en-US" sz="1300" dirty="0">
                <a:solidFill>
                  <a:schemeClr val="tx1"/>
                </a:solidFill>
              </a:rPr>
              <a:t>Consulta en todo momento el estado de cada operación y tus comisiones: </a:t>
            </a:r>
            <a:pPr indent="0" marL="0">
              <a:buNone/>
            </a:pPr>
            <a:r>
              <a:rPr lang="en-US" sz="1300" b="1" dirty="0">
                <a:solidFill>
                  <a:schemeClr val="tx1"/>
                </a:solidFill>
              </a:rPr>
              <a:t>cobradas, pendientes, posibles y bajas.</a:t>
            </a:r>
            <a:endParaRPr lang="en-US" sz="13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Almacenamiento en la nube con todos tus anexos</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Los tuyos y los de tod@s, siempre a mano desde Nodo.</a:t>
            </a:r>
            <a:endParaRPr lang="en-US" sz="1400" dirty="0"/>
          </a:p>
        </p:txBody>
      </p:sp>
      <p:sp>
        <p:nvSpPr>
          <p:cNvPr id="6" name="Shape 4"/>
          <p:cNvSpPr/>
          <p:nvPr/>
        </p:nvSpPr>
        <p:spPr>
          <a:xfrm>
            <a:off x="548640" y="2103120"/>
            <a:ext cx="6217920" cy="4114800"/>
          </a:xfrm>
          <a:prstGeom prst="roundRect">
            <a:avLst>
              <a:gd name="adj" fmla="val 1778"/>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7" name="Image 0" descr="/tmp/claude-0/-home-user-mesenergiaes/5a011a92-143f-5232-b40a-c25f12780ce3/scratchpad/mu/ppt/media/image14.png">    </p:cNvPr>
          <p:cNvPicPr>
            <a:picLocks noChangeAspect="1"/>
          </p:cNvPicPr>
          <p:nvPr/>
        </p:nvPicPr>
        <p:blipFill>
          <a:blip r:embed="rId1"/>
          <a:stretch>
            <a:fillRect/>
          </a:stretch>
        </p:blipFill>
        <p:spPr>
          <a:xfrm>
            <a:off x="670112" y="2194560"/>
            <a:ext cx="5974976" cy="3931920"/>
          </a:xfrm>
          <a:prstGeom prst="rect">
            <a:avLst/>
          </a:prstGeom>
        </p:spPr>
      </p:pic>
      <p:sp>
        <p:nvSpPr>
          <p:cNvPr id="8" name="Shape 5"/>
          <p:cNvSpPr/>
          <p:nvPr/>
        </p:nvSpPr>
        <p:spPr>
          <a:xfrm>
            <a:off x="6995160" y="2103120"/>
            <a:ext cx="4647895" cy="1005840"/>
          </a:xfrm>
          <a:prstGeom prst="roundRect">
            <a:avLst>
              <a:gd name="adj" fmla="val 7273"/>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9" name="Image 1" descr="/tmp/claude-0/-home-user-mesenergiaes/5a011a92-143f-5232-b40a-c25f12780ce3/scratchpad/mu/ppt/media/image13.png">    </p:cNvPr>
          <p:cNvPicPr>
            <a:picLocks noChangeAspect="1"/>
          </p:cNvPicPr>
          <p:nvPr/>
        </p:nvPicPr>
        <p:blipFill>
          <a:blip r:embed="rId2"/>
          <a:stretch>
            <a:fillRect/>
          </a:stretch>
        </p:blipFill>
        <p:spPr>
          <a:xfrm>
            <a:off x="7068312" y="2215567"/>
            <a:ext cx="4501591" cy="780945"/>
          </a:xfrm>
          <a:prstGeom prst="rect">
            <a:avLst/>
          </a:prstGeom>
        </p:spPr>
      </p:pic>
      <p:sp>
        <p:nvSpPr>
          <p:cNvPr id="10" name="Shape 6"/>
          <p:cNvSpPr/>
          <p:nvPr/>
        </p:nvSpPr>
        <p:spPr>
          <a:xfrm>
            <a:off x="6995160" y="3337560"/>
            <a:ext cx="4647895" cy="2880360"/>
          </a:xfrm>
          <a:prstGeom prst="roundRect">
            <a:avLst>
              <a:gd name="adj" fmla="val 3175"/>
            </a:avLst>
          </a:prstGeom>
          <a:solidFill>
            <a:srgbClr val="EDF2F9"/>
          </a:solidFill>
          <a:ln/>
        </p:spPr>
      </p:sp>
      <p:sp>
        <p:nvSpPr>
          <p:cNvPr id="11" name="Text 7"/>
          <p:cNvSpPr txBox="1"/>
          <p:nvPr/>
        </p:nvSpPr>
        <p:spPr>
          <a:xfrm>
            <a:off x="7223760" y="3520440"/>
            <a:ext cx="4190695" cy="228600"/>
          </a:xfrm>
          <a:prstGeom prst="rect">
            <a:avLst/>
          </a:prstGeom>
          <a:noFill/>
          <a:ln/>
        </p:spPr>
        <p:txBody>
          <a:bodyPr wrap="square" lIns="0" tIns="0" rIns="0" bIns="0" rtlCol="0" anchor="ctr"/>
          <a:lstStyle/>
          <a:p>
            <a:pPr indent="0" marL="0">
              <a:buNone/>
            </a:pPr>
            <a:r>
              <a:rPr lang="en-US" sz="900" b="1" spc="200" kern="0" dirty="0">
                <a:solidFill>
                  <a:schemeClr val="accent2"/>
                </a:solidFill>
              </a:rPr>
              <a:t>DÓNDE ENCONTRARLO</a:t>
            </a:r>
            <a:endParaRPr lang="en-US" sz="900" dirty="0"/>
          </a:p>
        </p:txBody>
      </p:sp>
      <p:sp>
        <p:nvSpPr>
          <p:cNvPr id="12" name="Text 8"/>
          <p:cNvSpPr txBox="1"/>
          <p:nvPr/>
        </p:nvSpPr>
        <p:spPr>
          <a:xfrm>
            <a:off x="7223760" y="3840480"/>
            <a:ext cx="4190695" cy="365760"/>
          </a:xfrm>
          <a:prstGeom prst="rect">
            <a:avLst/>
          </a:prstGeom>
          <a:noFill/>
          <a:ln/>
        </p:spPr>
        <p:txBody>
          <a:bodyPr wrap="square" lIns="0" tIns="0" rIns="0" bIns="0" rtlCol="0" anchor="ctr"/>
          <a:lstStyle/>
          <a:p>
            <a:pPr indent="0" marL="0">
              <a:buNone/>
            </a:pPr>
            <a:r>
              <a:rPr lang="en-US" sz="1500" b="1" dirty="0">
                <a:solidFill>
                  <a:schemeClr val="tx2"/>
                </a:solidFill>
              </a:rPr>
              <a:t>Nodo Ámbar</a:t>
            </a:r>
            <a:pPr indent="0" marL="0">
              <a:buNone/>
            </a:pPr>
            <a:r>
              <a:rPr lang="en-US" sz="1500" b="1" dirty="0">
                <a:solidFill>
                  <a:schemeClr val="accent2"/>
                </a:solidFill>
              </a:rPr>
              <a:t>  ›  Utilidades</a:t>
            </a:r>
            <a:endParaRPr lang="en-US" sz="1500" dirty="0"/>
          </a:p>
        </p:txBody>
      </p:sp>
      <p:sp>
        <p:nvSpPr>
          <p:cNvPr id="13" name="Shape 9"/>
          <p:cNvSpPr/>
          <p:nvPr/>
        </p:nvSpPr>
        <p:spPr>
          <a:xfrm>
            <a:off x="7223760" y="4389120"/>
            <a:ext cx="4190695" cy="685800"/>
          </a:xfrm>
          <a:prstGeom prst="roundRect">
            <a:avLst>
              <a:gd name="adj" fmla="val 10667"/>
            </a:avLst>
          </a:prstGeom>
          <a:solidFill>
            <a:srgbClr val="FFFFFF"/>
          </a:solidFill>
          <a:ln w="9525">
            <a:solidFill>
              <a:srgbClr val="D7E2F0"/>
            </a:solidFill>
            <a:prstDash val="solid"/>
          </a:ln>
        </p:spPr>
      </p:sp>
      <p:sp>
        <p:nvSpPr>
          <p:cNvPr id="14" name="Text 10"/>
          <p:cNvSpPr txBox="1"/>
          <p:nvPr/>
        </p:nvSpPr>
        <p:spPr>
          <a:xfrm>
            <a:off x="7406640" y="4389120"/>
            <a:ext cx="3824935" cy="685800"/>
          </a:xfrm>
          <a:prstGeom prst="rect">
            <a:avLst/>
          </a:prstGeom>
          <a:noFill/>
          <a:ln/>
        </p:spPr>
        <p:txBody>
          <a:bodyPr wrap="square" lIns="0" tIns="0" rIns="0" bIns="0" rtlCol="0" anchor="ctr"/>
          <a:lstStyle/>
          <a:p>
            <a:pPr indent="0" marL="0">
              <a:buNone/>
            </a:pPr>
            <a:r>
              <a:rPr lang="en-US" sz="1200" b="1" dirty="0">
                <a:solidFill>
                  <a:schemeClr val="accent2"/>
                </a:solidFill>
              </a:rPr>
              <a:t>FTP común</a:t>
            </a:r>
            <a:endParaRPr lang="en-US" sz="1200" dirty="0"/>
          </a:p>
          <a:p>
            <a:pPr indent="0" marL="0">
              <a:buNone/>
            </a:pPr>
            <a:r>
              <a:rPr lang="en-US" sz="1200" dirty="0">
                <a:solidFill>
                  <a:schemeClr val="tx1"/>
                </a:solidFill>
              </a:rPr>
              <a:t>Los anexos de todo el equipo.</a:t>
            </a:r>
            <a:endParaRPr lang="en-US" sz="1200" dirty="0"/>
          </a:p>
        </p:txBody>
      </p:sp>
      <p:sp>
        <p:nvSpPr>
          <p:cNvPr id="15" name="Shape 11"/>
          <p:cNvSpPr/>
          <p:nvPr/>
        </p:nvSpPr>
        <p:spPr>
          <a:xfrm>
            <a:off x="7223760" y="5212080"/>
            <a:ext cx="4190695" cy="685800"/>
          </a:xfrm>
          <a:prstGeom prst="roundRect">
            <a:avLst>
              <a:gd name="adj" fmla="val 10667"/>
            </a:avLst>
          </a:prstGeom>
          <a:solidFill>
            <a:srgbClr val="FFFFFF"/>
          </a:solidFill>
          <a:ln w="9525">
            <a:solidFill>
              <a:srgbClr val="D7E2F0"/>
            </a:solidFill>
            <a:prstDash val="solid"/>
          </a:ln>
        </p:spPr>
      </p:sp>
      <p:sp>
        <p:nvSpPr>
          <p:cNvPr id="16" name="Text 12"/>
          <p:cNvSpPr txBox="1"/>
          <p:nvPr/>
        </p:nvSpPr>
        <p:spPr>
          <a:xfrm>
            <a:off x="7406640" y="5212080"/>
            <a:ext cx="3824935" cy="685800"/>
          </a:xfrm>
          <a:prstGeom prst="rect">
            <a:avLst/>
          </a:prstGeom>
          <a:noFill/>
          <a:ln/>
        </p:spPr>
        <p:txBody>
          <a:bodyPr wrap="square" lIns="0" tIns="0" rIns="0" bIns="0" rtlCol="0" anchor="ctr"/>
          <a:lstStyle/>
          <a:p>
            <a:pPr indent="0" marL="0">
              <a:buNone/>
            </a:pPr>
            <a:r>
              <a:rPr lang="en-US" sz="1200" b="1" dirty="0">
                <a:solidFill>
                  <a:schemeClr val="accent2"/>
                </a:solidFill>
              </a:rPr>
              <a:t>FTP personal</a:t>
            </a:r>
            <a:endParaRPr lang="en-US" sz="1200" dirty="0"/>
          </a:p>
          <a:p>
            <a:pPr indent="0" marL="0">
              <a:buNone/>
            </a:pPr>
            <a:r>
              <a:rPr lang="en-US" sz="1200" dirty="0">
                <a:solidFill>
                  <a:schemeClr val="tx1"/>
                </a:solidFill>
              </a:rPr>
              <a:t>Tus propios documentos y anexos.</a:t>
            </a:r>
            <a:endParaRPr lang="en-US" sz="12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Cómo preparar el mejor informe para tus clientes</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Con toda la información de su </a:t>
            </a:r>
            <a:pPr indent="0" marL="0">
              <a:buNone/>
            </a:pPr>
            <a:r>
              <a:rPr lang="en-US" sz="1400" b="1" dirty="0">
                <a:solidFill>
                  <a:schemeClr val="tx1"/>
                </a:solidFill>
              </a:rPr>
              <a:t>maxímetro.</a:t>
            </a:r>
            <a:endParaRPr lang="en-US" sz="1400" dirty="0"/>
          </a:p>
        </p:txBody>
      </p:sp>
      <p:sp>
        <p:nvSpPr>
          <p:cNvPr id="6" name="Shape 4"/>
          <p:cNvSpPr/>
          <p:nvPr/>
        </p:nvSpPr>
        <p:spPr>
          <a:xfrm>
            <a:off x="548640" y="2103120"/>
            <a:ext cx="7955280" cy="4114800"/>
          </a:xfrm>
          <a:prstGeom prst="roundRect">
            <a:avLst>
              <a:gd name="adj" fmla="val 1778"/>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7" name="Image 0" descr="/tmp/claude-0/-home-user-mesenergiaes/5a011a92-143f-5232-b40a-c25f12780ce3/scratchpad/mu/ppt/media/image15.png">    </p:cNvPr>
          <p:cNvPicPr>
            <a:picLocks noChangeAspect="1"/>
          </p:cNvPicPr>
          <p:nvPr/>
        </p:nvPicPr>
        <p:blipFill>
          <a:blip r:embed="rId1"/>
          <a:stretch>
            <a:fillRect/>
          </a:stretch>
        </p:blipFill>
        <p:spPr>
          <a:xfrm>
            <a:off x="640080" y="2356411"/>
            <a:ext cx="7772400" cy="3608217"/>
          </a:xfrm>
          <a:prstGeom prst="rect">
            <a:avLst/>
          </a:prstGeom>
        </p:spPr>
      </p:pic>
      <p:sp>
        <p:nvSpPr>
          <p:cNvPr id="8" name="Shape 5"/>
          <p:cNvSpPr/>
          <p:nvPr/>
        </p:nvSpPr>
        <p:spPr>
          <a:xfrm>
            <a:off x="8732520" y="2103120"/>
            <a:ext cx="2910535" cy="4114800"/>
          </a:xfrm>
          <a:prstGeom prst="roundRect">
            <a:avLst>
              <a:gd name="adj" fmla="val 3142"/>
            </a:avLst>
          </a:prstGeom>
          <a:solidFill>
            <a:srgbClr val="1F3260"/>
          </a:solidFill>
          <a:ln/>
        </p:spPr>
      </p:sp>
      <p:pic>
        <p:nvPicPr>
          <p:cNvPr id="9" name="Image 1" descr="/tmp/claude-0/-home-user-mesenergiaes/5a011a92-143f-5232-b40a-c25f12780ce3/scratchpad/build/assets/quote-yellow.png">    </p:cNvPr>
          <p:cNvPicPr>
            <a:picLocks noChangeAspect="1"/>
          </p:cNvPicPr>
          <p:nvPr/>
        </p:nvPicPr>
        <p:blipFill>
          <a:blip r:embed="rId2"/>
          <a:stretch>
            <a:fillRect/>
          </a:stretch>
        </p:blipFill>
        <p:spPr>
          <a:xfrm>
            <a:off x="9052560" y="2423160"/>
            <a:ext cx="457200" cy="457200"/>
          </a:xfrm>
          <a:prstGeom prst="rect">
            <a:avLst/>
          </a:prstGeom>
        </p:spPr>
      </p:pic>
      <p:sp>
        <p:nvSpPr>
          <p:cNvPr id="10" name="Text 6"/>
          <p:cNvSpPr txBox="1"/>
          <p:nvPr/>
        </p:nvSpPr>
        <p:spPr>
          <a:xfrm>
            <a:off x="9052560" y="3063240"/>
            <a:ext cx="2270455" cy="2011680"/>
          </a:xfrm>
          <a:prstGeom prst="rect">
            <a:avLst/>
          </a:prstGeom>
          <a:noFill/>
          <a:ln/>
        </p:spPr>
        <p:txBody>
          <a:bodyPr wrap="square" lIns="0" tIns="0" rIns="0" bIns="0" rtlCol="0" anchor="t"/>
          <a:lstStyle/>
          <a:p>
            <a:pPr indent="0" marL="0">
              <a:buNone/>
            </a:pPr>
            <a:r>
              <a:rPr lang="en-US" sz="2100" b="1" dirty="0">
                <a:solidFill>
                  <a:schemeClr val="bg1"/>
                </a:solidFill>
              </a:rPr>
              <a:t>Quien tiene toda la información tiene el </a:t>
            </a:r>
            <a:pPr indent="0" marL="0">
              <a:buNone/>
            </a:pPr>
            <a:r>
              <a:rPr lang="en-US" sz="2100" b="1" dirty="0">
                <a:solidFill>
                  <a:schemeClr val="accent5"/>
                </a:solidFill>
              </a:rPr>
              <a:t>«poder»</a:t>
            </a:r>
            <a:endParaRPr lang="en-US" sz="2100" dirty="0"/>
          </a:p>
        </p:txBody>
      </p:sp>
      <p:sp>
        <p:nvSpPr>
          <p:cNvPr id="11" name="Text 7"/>
          <p:cNvSpPr txBox="1"/>
          <p:nvPr/>
        </p:nvSpPr>
        <p:spPr>
          <a:xfrm>
            <a:off x="9052560" y="5074920"/>
            <a:ext cx="2270455" cy="960120"/>
          </a:xfrm>
          <a:prstGeom prst="rect">
            <a:avLst/>
          </a:prstGeom>
          <a:noFill/>
          <a:ln/>
        </p:spPr>
        <p:txBody>
          <a:bodyPr wrap="square" lIns="0" tIns="0" rIns="0" bIns="0" rtlCol="0" anchor="t"/>
          <a:lstStyle/>
          <a:p>
            <a:pPr indent="0" marL="0">
              <a:buNone/>
            </a:pPr>
            <a:r>
              <a:rPr lang="en-US" sz="1100" dirty="0">
                <a:solidFill>
                  <a:srgbClr val="DCE4F2"/>
                </a:solidFill>
              </a:rPr>
              <a:t>Consumo por periodos (P1–P6), potencias contratadas y maxímetro: la base para optimizar la potencia.</a:t>
            </a:r>
            <a:endParaRPr lang="en-US" sz="11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Introducción al mundo eléctrico</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Bienvenidos a un sector que nunca morirá: </a:t>
            </a:r>
            <a:pPr indent="0" marL="0">
              <a:buNone/>
            </a:pPr>
            <a:r>
              <a:rPr lang="en-US" sz="1400" b="1" dirty="0">
                <a:solidFill>
                  <a:schemeClr val="accent1"/>
                </a:solidFill>
              </a:rPr>
              <a:t>¡todo el mundo enciende la luz cada día!</a:t>
            </a:r>
            <a:endParaRPr lang="en-US" sz="1400" dirty="0"/>
          </a:p>
        </p:txBody>
      </p:sp>
      <p:sp>
        <p:nvSpPr>
          <p:cNvPr id="6" name="Shape 4"/>
          <p:cNvSpPr/>
          <p:nvPr/>
        </p:nvSpPr>
        <p:spPr>
          <a:xfrm>
            <a:off x="548640" y="2103120"/>
            <a:ext cx="6949440" cy="2788920"/>
          </a:xfrm>
          <a:prstGeom prst="roundRect">
            <a:avLst>
              <a:gd name="adj" fmla="val 2623"/>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7" name="Image 0" descr="/tmp/claude-0/-home-user-mesenergiaes/5a011a92-143f-5232-b40a-c25f12780ce3/scratchpad/mu/ppt/media/image16.png">    </p:cNvPr>
          <p:cNvPicPr>
            <a:picLocks noChangeAspect="1"/>
          </p:cNvPicPr>
          <p:nvPr/>
        </p:nvPicPr>
        <p:blipFill>
          <a:blip r:embed="rId1"/>
          <a:stretch>
            <a:fillRect/>
          </a:stretch>
        </p:blipFill>
        <p:spPr>
          <a:xfrm>
            <a:off x="935950" y="2194560"/>
            <a:ext cx="6174821" cy="2606040"/>
          </a:xfrm>
          <a:prstGeom prst="rect">
            <a:avLst/>
          </a:prstGeom>
        </p:spPr>
      </p:pic>
      <p:sp>
        <p:nvSpPr>
          <p:cNvPr id="8" name="Shape 5"/>
          <p:cNvSpPr/>
          <p:nvPr/>
        </p:nvSpPr>
        <p:spPr>
          <a:xfrm>
            <a:off x="7726680" y="2103120"/>
            <a:ext cx="3916375" cy="2788920"/>
          </a:xfrm>
          <a:prstGeom prst="roundRect">
            <a:avLst>
              <a:gd name="adj" fmla="val 3279"/>
            </a:avLst>
          </a:prstGeom>
          <a:solidFill>
            <a:srgbClr val="1F3260"/>
          </a:solidFill>
          <a:ln/>
        </p:spPr>
      </p:sp>
      <p:sp>
        <p:nvSpPr>
          <p:cNvPr id="9" name="Text 6"/>
          <p:cNvSpPr txBox="1"/>
          <p:nvPr/>
        </p:nvSpPr>
        <p:spPr>
          <a:xfrm>
            <a:off x="8046720" y="2240280"/>
            <a:ext cx="1188720" cy="1234440"/>
          </a:xfrm>
          <a:prstGeom prst="rect">
            <a:avLst/>
          </a:prstGeom>
          <a:noFill/>
          <a:ln/>
        </p:spPr>
        <p:txBody>
          <a:bodyPr wrap="square" lIns="0" tIns="0" rIns="0" bIns="0" rtlCol="0" anchor="ctr"/>
          <a:lstStyle/>
          <a:p>
            <a:pPr indent="0" marL="0">
              <a:buNone/>
            </a:pPr>
            <a:r>
              <a:rPr lang="en-US" sz="8000" b="1" dirty="0">
                <a:solidFill>
                  <a:schemeClr val="accent5"/>
                </a:solidFill>
              </a:rPr>
              <a:t>4</a:t>
            </a:r>
            <a:endParaRPr lang="en-US" sz="8000" dirty="0"/>
          </a:p>
        </p:txBody>
      </p:sp>
      <p:sp>
        <p:nvSpPr>
          <p:cNvPr id="10" name="Text 7"/>
          <p:cNvSpPr txBox="1"/>
          <p:nvPr/>
        </p:nvSpPr>
        <p:spPr>
          <a:xfrm>
            <a:off x="9144000" y="2606040"/>
            <a:ext cx="2270455" cy="457200"/>
          </a:xfrm>
          <a:prstGeom prst="rect">
            <a:avLst/>
          </a:prstGeom>
          <a:noFill/>
          <a:ln/>
        </p:spPr>
        <p:txBody>
          <a:bodyPr wrap="square" lIns="0" tIns="0" rIns="0" bIns="0" rtlCol="0" anchor="ctr"/>
          <a:lstStyle/>
          <a:p>
            <a:pPr indent="0" marL="0">
              <a:buNone/>
            </a:pPr>
            <a:r>
              <a:rPr lang="en-US" sz="2000" b="1" dirty="0">
                <a:solidFill>
                  <a:schemeClr val="bg1"/>
                </a:solidFill>
              </a:rPr>
              <a:t>actividades</a:t>
            </a:r>
            <a:endParaRPr lang="en-US" sz="2000" dirty="0"/>
          </a:p>
        </p:txBody>
      </p:sp>
      <p:sp>
        <p:nvSpPr>
          <p:cNvPr id="11" name="Text 8"/>
          <p:cNvSpPr txBox="1"/>
          <p:nvPr/>
        </p:nvSpPr>
        <p:spPr>
          <a:xfrm>
            <a:off x="8046720" y="3566160"/>
            <a:ext cx="3276295" cy="1097280"/>
          </a:xfrm>
          <a:prstGeom prst="rect">
            <a:avLst/>
          </a:prstGeom>
          <a:noFill/>
          <a:ln/>
        </p:spPr>
        <p:txBody>
          <a:bodyPr wrap="square" lIns="0" tIns="0" rIns="0" bIns="0" rtlCol="0" anchor="t"/>
          <a:lstStyle/>
          <a:p>
            <a:pPr indent="0" marL="0">
              <a:buNone/>
            </a:pPr>
            <a:r>
              <a:rPr lang="en-US" sz="1300" dirty="0">
                <a:solidFill>
                  <a:srgbClr val="DCE4F2"/>
                </a:solidFill>
              </a:rPr>
              <a:t>Las principales actividades destinadas al suministro de energía eléctrica son las siguientes:</a:t>
            </a:r>
            <a:endParaRPr lang="en-US" sz="1300" dirty="0"/>
          </a:p>
        </p:txBody>
      </p:sp>
      <p:sp>
        <p:nvSpPr>
          <p:cNvPr id="12" name="Shape 9"/>
          <p:cNvSpPr/>
          <p:nvPr/>
        </p:nvSpPr>
        <p:spPr>
          <a:xfrm>
            <a:off x="548640" y="5074920"/>
            <a:ext cx="2636444" cy="1143000"/>
          </a:xfrm>
          <a:prstGeom prst="roundRect">
            <a:avLst>
              <a:gd name="adj" fmla="val 8000"/>
            </a:avLst>
          </a:prstGeom>
          <a:solidFill>
            <a:schemeClr val="accent1"/>
          </a:solidFill>
          <a:ln/>
        </p:spPr>
      </p:sp>
      <p:sp>
        <p:nvSpPr>
          <p:cNvPr id="13" name="Shape 10"/>
          <p:cNvSpPr/>
          <p:nvPr/>
        </p:nvSpPr>
        <p:spPr>
          <a:xfrm>
            <a:off x="548640" y="5120640"/>
            <a:ext cx="2636444" cy="1097280"/>
          </a:xfrm>
          <a:prstGeom prst="roundRect">
            <a:avLst>
              <a:gd name="adj" fmla="val 8333"/>
            </a:avLst>
          </a:prstGeom>
          <a:solidFill>
            <a:srgbClr val="F4F6F9"/>
          </a:solidFill>
          <a:ln/>
        </p:spPr>
      </p:sp>
      <p:sp>
        <p:nvSpPr>
          <p:cNvPr id="14" name="Shape 11"/>
          <p:cNvSpPr/>
          <p:nvPr/>
        </p:nvSpPr>
        <p:spPr>
          <a:xfrm>
            <a:off x="731520" y="5276088"/>
            <a:ext cx="384048" cy="384048"/>
          </a:xfrm>
          <a:prstGeom prst="ellipse">
            <a:avLst/>
          </a:prstGeom>
          <a:solidFill>
            <a:schemeClr val="accent1"/>
          </a:solidFill>
          <a:ln/>
        </p:spPr>
      </p:sp>
      <p:sp>
        <p:nvSpPr>
          <p:cNvPr id="15" name="Text 12"/>
          <p:cNvSpPr txBox="1"/>
          <p:nvPr/>
        </p:nvSpPr>
        <p:spPr>
          <a:xfrm>
            <a:off x="731520" y="5276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G</a:t>
            </a:r>
            <a:endParaRPr lang="en-US" sz="1300" dirty="0"/>
          </a:p>
        </p:txBody>
      </p:sp>
      <p:sp>
        <p:nvSpPr>
          <p:cNvPr id="16" name="Text 13"/>
          <p:cNvSpPr txBox="1"/>
          <p:nvPr/>
        </p:nvSpPr>
        <p:spPr>
          <a:xfrm>
            <a:off x="1234440" y="5276088"/>
            <a:ext cx="1813484" cy="384048"/>
          </a:xfrm>
          <a:prstGeom prst="rect">
            <a:avLst/>
          </a:prstGeom>
          <a:noFill/>
          <a:ln/>
        </p:spPr>
        <p:txBody>
          <a:bodyPr wrap="square" lIns="0" tIns="0" rIns="0" bIns="0" rtlCol="0" anchor="ctr"/>
          <a:lstStyle/>
          <a:p>
            <a:pPr indent="0" marL="0">
              <a:buNone/>
            </a:pPr>
            <a:r>
              <a:rPr lang="en-US" sz="1100" b="1" dirty="0">
                <a:solidFill>
                  <a:schemeClr val="accent1"/>
                </a:solidFill>
              </a:rPr>
              <a:t>GENERACIÓN</a:t>
            </a:r>
            <a:endParaRPr lang="en-US" sz="1100" dirty="0"/>
          </a:p>
        </p:txBody>
      </p:sp>
      <p:sp>
        <p:nvSpPr>
          <p:cNvPr id="17" name="Text 14"/>
          <p:cNvSpPr txBox="1"/>
          <p:nvPr/>
        </p:nvSpPr>
        <p:spPr>
          <a:xfrm>
            <a:off x="731520" y="5715000"/>
            <a:ext cx="2270684" cy="457200"/>
          </a:xfrm>
          <a:prstGeom prst="rect">
            <a:avLst/>
          </a:prstGeom>
          <a:noFill/>
          <a:ln/>
        </p:spPr>
        <p:txBody>
          <a:bodyPr wrap="square" lIns="0" tIns="0" rIns="0" bIns="0" rtlCol="0" anchor="t"/>
          <a:lstStyle/>
          <a:p>
            <a:pPr indent="0" marL="0">
              <a:buNone/>
            </a:pPr>
            <a:r>
              <a:rPr lang="en-US" sz="1000" dirty="0">
                <a:solidFill>
                  <a:schemeClr val="accent6"/>
                </a:solidFill>
              </a:rPr>
              <a:t>Producción de la energía eléctrica, en régimen ordinario y especial.</a:t>
            </a:r>
            <a:endParaRPr lang="en-US" sz="1000" dirty="0"/>
          </a:p>
        </p:txBody>
      </p:sp>
      <p:sp>
        <p:nvSpPr>
          <p:cNvPr id="18" name="Shape 15"/>
          <p:cNvSpPr/>
          <p:nvPr/>
        </p:nvSpPr>
        <p:spPr>
          <a:xfrm>
            <a:off x="3367964" y="5074920"/>
            <a:ext cx="2636444" cy="1143000"/>
          </a:xfrm>
          <a:prstGeom prst="roundRect">
            <a:avLst>
              <a:gd name="adj" fmla="val 8000"/>
            </a:avLst>
          </a:prstGeom>
          <a:solidFill>
            <a:schemeClr val="accent2"/>
          </a:solidFill>
          <a:ln/>
        </p:spPr>
      </p:sp>
      <p:sp>
        <p:nvSpPr>
          <p:cNvPr id="19" name="Shape 16"/>
          <p:cNvSpPr/>
          <p:nvPr/>
        </p:nvSpPr>
        <p:spPr>
          <a:xfrm>
            <a:off x="3367964" y="5120640"/>
            <a:ext cx="2636444" cy="1097280"/>
          </a:xfrm>
          <a:prstGeom prst="roundRect">
            <a:avLst>
              <a:gd name="adj" fmla="val 8333"/>
            </a:avLst>
          </a:prstGeom>
          <a:solidFill>
            <a:srgbClr val="F4F6F9"/>
          </a:solidFill>
          <a:ln/>
        </p:spPr>
      </p:sp>
      <p:sp>
        <p:nvSpPr>
          <p:cNvPr id="20" name="Shape 17"/>
          <p:cNvSpPr/>
          <p:nvPr/>
        </p:nvSpPr>
        <p:spPr>
          <a:xfrm>
            <a:off x="3550844" y="5276088"/>
            <a:ext cx="384048" cy="384048"/>
          </a:xfrm>
          <a:prstGeom prst="ellipse">
            <a:avLst/>
          </a:prstGeom>
          <a:solidFill>
            <a:schemeClr val="accent2"/>
          </a:solidFill>
          <a:ln/>
        </p:spPr>
      </p:sp>
      <p:sp>
        <p:nvSpPr>
          <p:cNvPr id="21" name="Text 18"/>
          <p:cNvSpPr txBox="1"/>
          <p:nvPr/>
        </p:nvSpPr>
        <p:spPr>
          <a:xfrm>
            <a:off x="3550844" y="5276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T</a:t>
            </a:r>
            <a:endParaRPr lang="en-US" sz="1300" dirty="0"/>
          </a:p>
        </p:txBody>
      </p:sp>
      <p:sp>
        <p:nvSpPr>
          <p:cNvPr id="22" name="Text 19"/>
          <p:cNvSpPr txBox="1"/>
          <p:nvPr/>
        </p:nvSpPr>
        <p:spPr>
          <a:xfrm>
            <a:off x="4053764" y="5276088"/>
            <a:ext cx="1813484" cy="384048"/>
          </a:xfrm>
          <a:prstGeom prst="rect">
            <a:avLst/>
          </a:prstGeom>
          <a:noFill/>
          <a:ln/>
        </p:spPr>
        <p:txBody>
          <a:bodyPr wrap="square" lIns="0" tIns="0" rIns="0" bIns="0" rtlCol="0" anchor="ctr"/>
          <a:lstStyle/>
          <a:p>
            <a:pPr indent="0" marL="0">
              <a:buNone/>
            </a:pPr>
            <a:r>
              <a:rPr lang="en-US" sz="1100" b="1" dirty="0">
                <a:solidFill>
                  <a:schemeClr val="accent2"/>
                </a:solidFill>
              </a:rPr>
              <a:t>TRANSPORTE</a:t>
            </a:r>
            <a:endParaRPr lang="en-US" sz="1100" dirty="0"/>
          </a:p>
        </p:txBody>
      </p:sp>
      <p:sp>
        <p:nvSpPr>
          <p:cNvPr id="23" name="Text 20"/>
          <p:cNvSpPr txBox="1"/>
          <p:nvPr/>
        </p:nvSpPr>
        <p:spPr>
          <a:xfrm>
            <a:off x="3550844" y="5715000"/>
            <a:ext cx="2270684" cy="457200"/>
          </a:xfrm>
          <a:prstGeom prst="rect">
            <a:avLst/>
          </a:prstGeom>
          <a:noFill/>
          <a:ln/>
        </p:spPr>
        <p:txBody>
          <a:bodyPr wrap="square" lIns="0" tIns="0" rIns="0" bIns="0" rtlCol="0" anchor="t"/>
          <a:lstStyle/>
          <a:p>
            <a:pPr indent="0" marL="0">
              <a:buNone/>
            </a:pPr>
            <a:r>
              <a:rPr lang="en-US" sz="1000" dirty="0">
                <a:solidFill>
                  <a:schemeClr val="accent6"/>
                </a:solidFill>
              </a:rPr>
              <a:t>Red de alta tensión (380 kV) gestionada por REE.</a:t>
            </a:r>
            <a:endParaRPr lang="en-US" sz="1000" dirty="0"/>
          </a:p>
        </p:txBody>
      </p:sp>
      <p:sp>
        <p:nvSpPr>
          <p:cNvPr id="24" name="Shape 21"/>
          <p:cNvSpPr/>
          <p:nvPr/>
        </p:nvSpPr>
        <p:spPr>
          <a:xfrm>
            <a:off x="6187288" y="5074920"/>
            <a:ext cx="2636444" cy="1143000"/>
          </a:xfrm>
          <a:prstGeom prst="roundRect">
            <a:avLst>
              <a:gd name="adj" fmla="val 8000"/>
            </a:avLst>
          </a:prstGeom>
          <a:solidFill>
            <a:schemeClr val="accent3"/>
          </a:solidFill>
          <a:ln/>
        </p:spPr>
      </p:sp>
      <p:sp>
        <p:nvSpPr>
          <p:cNvPr id="25" name="Shape 22"/>
          <p:cNvSpPr/>
          <p:nvPr/>
        </p:nvSpPr>
        <p:spPr>
          <a:xfrm>
            <a:off x="6187288" y="5120640"/>
            <a:ext cx="2636444" cy="1097280"/>
          </a:xfrm>
          <a:prstGeom prst="roundRect">
            <a:avLst>
              <a:gd name="adj" fmla="val 8333"/>
            </a:avLst>
          </a:prstGeom>
          <a:solidFill>
            <a:srgbClr val="F4F6F9"/>
          </a:solidFill>
          <a:ln/>
        </p:spPr>
      </p:sp>
      <p:sp>
        <p:nvSpPr>
          <p:cNvPr id="26" name="Shape 23"/>
          <p:cNvSpPr/>
          <p:nvPr/>
        </p:nvSpPr>
        <p:spPr>
          <a:xfrm>
            <a:off x="6370168" y="5276088"/>
            <a:ext cx="384048" cy="384048"/>
          </a:xfrm>
          <a:prstGeom prst="ellipse">
            <a:avLst/>
          </a:prstGeom>
          <a:solidFill>
            <a:schemeClr val="accent3"/>
          </a:solidFill>
          <a:ln/>
        </p:spPr>
      </p:sp>
      <p:sp>
        <p:nvSpPr>
          <p:cNvPr id="27" name="Text 24"/>
          <p:cNvSpPr txBox="1"/>
          <p:nvPr/>
        </p:nvSpPr>
        <p:spPr>
          <a:xfrm>
            <a:off x="6370168" y="5276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8" name="Text 25"/>
          <p:cNvSpPr txBox="1"/>
          <p:nvPr/>
        </p:nvSpPr>
        <p:spPr>
          <a:xfrm>
            <a:off x="6873088" y="5276088"/>
            <a:ext cx="1813484" cy="384048"/>
          </a:xfrm>
          <a:prstGeom prst="rect">
            <a:avLst/>
          </a:prstGeom>
          <a:noFill/>
          <a:ln/>
        </p:spPr>
        <p:txBody>
          <a:bodyPr wrap="square" lIns="0" tIns="0" rIns="0" bIns="0" rtlCol="0" anchor="ctr"/>
          <a:lstStyle/>
          <a:p>
            <a:pPr indent="0" marL="0">
              <a:buNone/>
            </a:pPr>
            <a:r>
              <a:rPr lang="en-US" sz="1100" b="1" dirty="0">
                <a:solidFill>
                  <a:schemeClr val="accent3"/>
                </a:solidFill>
              </a:rPr>
              <a:t>DISTRIBUCIÓN</a:t>
            </a:r>
            <a:endParaRPr lang="en-US" sz="1100" dirty="0"/>
          </a:p>
        </p:txBody>
      </p:sp>
      <p:sp>
        <p:nvSpPr>
          <p:cNvPr id="29" name="Text 26"/>
          <p:cNvSpPr txBox="1"/>
          <p:nvPr/>
        </p:nvSpPr>
        <p:spPr>
          <a:xfrm>
            <a:off x="6370168" y="5715000"/>
            <a:ext cx="2270684" cy="457200"/>
          </a:xfrm>
          <a:prstGeom prst="rect">
            <a:avLst/>
          </a:prstGeom>
          <a:noFill/>
          <a:ln/>
        </p:spPr>
        <p:txBody>
          <a:bodyPr wrap="square" lIns="0" tIns="0" rIns="0" bIns="0" rtlCol="0" anchor="t"/>
          <a:lstStyle/>
          <a:p>
            <a:pPr indent="0" marL="0">
              <a:buNone/>
            </a:pPr>
            <a:r>
              <a:rPr lang="en-US" sz="1000" dirty="0">
                <a:solidFill>
                  <a:schemeClr val="accent6"/>
                </a:solidFill>
              </a:rPr>
              <a:t>Lleva la energía hasta los puntos de consumo.</a:t>
            </a:r>
            <a:endParaRPr lang="en-US" sz="1000" dirty="0"/>
          </a:p>
        </p:txBody>
      </p:sp>
      <p:sp>
        <p:nvSpPr>
          <p:cNvPr id="30" name="Shape 27"/>
          <p:cNvSpPr/>
          <p:nvPr/>
        </p:nvSpPr>
        <p:spPr>
          <a:xfrm>
            <a:off x="9006611" y="5074920"/>
            <a:ext cx="2636444" cy="1143000"/>
          </a:xfrm>
          <a:prstGeom prst="roundRect">
            <a:avLst>
              <a:gd name="adj" fmla="val 8000"/>
            </a:avLst>
          </a:prstGeom>
          <a:solidFill>
            <a:schemeClr val="accent4"/>
          </a:solidFill>
          <a:ln/>
        </p:spPr>
      </p:sp>
      <p:sp>
        <p:nvSpPr>
          <p:cNvPr id="31" name="Shape 28"/>
          <p:cNvSpPr/>
          <p:nvPr/>
        </p:nvSpPr>
        <p:spPr>
          <a:xfrm>
            <a:off x="9006611" y="5120640"/>
            <a:ext cx="2636444" cy="1097280"/>
          </a:xfrm>
          <a:prstGeom prst="roundRect">
            <a:avLst>
              <a:gd name="adj" fmla="val 8333"/>
            </a:avLst>
          </a:prstGeom>
          <a:solidFill>
            <a:srgbClr val="F4F6F9"/>
          </a:solidFill>
          <a:ln/>
        </p:spPr>
      </p:sp>
      <p:sp>
        <p:nvSpPr>
          <p:cNvPr id="32" name="Shape 29"/>
          <p:cNvSpPr/>
          <p:nvPr/>
        </p:nvSpPr>
        <p:spPr>
          <a:xfrm>
            <a:off x="9189491" y="5276088"/>
            <a:ext cx="384048" cy="384048"/>
          </a:xfrm>
          <a:prstGeom prst="ellipse">
            <a:avLst/>
          </a:prstGeom>
          <a:solidFill>
            <a:schemeClr val="accent4"/>
          </a:solidFill>
          <a:ln/>
        </p:spPr>
      </p:sp>
      <p:sp>
        <p:nvSpPr>
          <p:cNvPr id="33" name="Text 30"/>
          <p:cNvSpPr txBox="1"/>
          <p:nvPr/>
        </p:nvSpPr>
        <p:spPr>
          <a:xfrm>
            <a:off x="9189491" y="5276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34" name="Text 31"/>
          <p:cNvSpPr txBox="1"/>
          <p:nvPr/>
        </p:nvSpPr>
        <p:spPr>
          <a:xfrm>
            <a:off x="9692411" y="5276088"/>
            <a:ext cx="1813484" cy="384048"/>
          </a:xfrm>
          <a:prstGeom prst="rect">
            <a:avLst/>
          </a:prstGeom>
          <a:noFill/>
          <a:ln/>
        </p:spPr>
        <p:txBody>
          <a:bodyPr wrap="square" lIns="0" tIns="0" rIns="0" bIns="0" rtlCol="0" anchor="ctr"/>
          <a:lstStyle/>
          <a:p>
            <a:pPr indent="0" marL="0">
              <a:buNone/>
            </a:pPr>
            <a:r>
              <a:rPr lang="en-US" sz="1100" b="1" dirty="0">
                <a:solidFill>
                  <a:schemeClr val="accent4"/>
                </a:solidFill>
              </a:rPr>
              <a:t>COMERCIALIZACIÓN</a:t>
            </a:r>
            <a:endParaRPr lang="en-US" sz="1100" dirty="0"/>
          </a:p>
        </p:txBody>
      </p:sp>
      <p:sp>
        <p:nvSpPr>
          <p:cNvPr id="35" name="Text 32"/>
          <p:cNvSpPr txBox="1"/>
          <p:nvPr/>
        </p:nvSpPr>
        <p:spPr>
          <a:xfrm>
            <a:off x="9189491" y="5715000"/>
            <a:ext cx="2270684" cy="457200"/>
          </a:xfrm>
          <a:prstGeom prst="rect">
            <a:avLst/>
          </a:prstGeom>
          <a:noFill/>
          <a:ln/>
        </p:spPr>
        <p:txBody>
          <a:bodyPr wrap="square" lIns="0" tIns="0" rIns="0" bIns="0" rtlCol="0" anchor="t"/>
          <a:lstStyle/>
          <a:p>
            <a:pPr indent="0" marL="0">
              <a:buNone/>
            </a:pPr>
            <a:r>
              <a:rPr lang="en-US" sz="1000" dirty="0">
                <a:solidFill>
                  <a:schemeClr val="accent6"/>
                </a:solidFill>
              </a:rPr>
              <a:t>Compra y venta de energía eléctrica.</a:t>
            </a:r>
            <a:endParaRPr lang="en-US" sz="10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Las 4 actividades del suministro eléctrico</a:t>
            </a:r>
            <a:endParaRPr lang="en-US" sz="2600" dirty="0"/>
          </a:p>
        </p:txBody>
      </p:sp>
      <p:sp>
        <p:nvSpPr>
          <p:cNvPr id="5" name="Shape 3"/>
          <p:cNvSpPr/>
          <p:nvPr/>
        </p:nvSpPr>
        <p:spPr>
          <a:xfrm>
            <a:off x="548640" y="1691640"/>
            <a:ext cx="5432908" cy="2212848"/>
          </a:xfrm>
          <a:prstGeom prst="roundRect">
            <a:avLst>
              <a:gd name="adj" fmla="val 4132"/>
            </a:avLst>
          </a:prstGeom>
          <a:solidFill>
            <a:srgbClr val="F4F6F9"/>
          </a:solidFill>
          <a:ln/>
        </p:spPr>
      </p:sp>
      <p:sp>
        <p:nvSpPr>
          <p:cNvPr id="6" name="Shape 4"/>
          <p:cNvSpPr/>
          <p:nvPr/>
        </p:nvSpPr>
        <p:spPr>
          <a:xfrm>
            <a:off x="548640" y="1691640"/>
            <a:ext cx="5432908" cy="384048"/>
          </a:xfrm>
          <a:prstGeom prst="roundRect">
            <a:avLst>
              <a:gd name="adj" fmla="val 19048"/>
            </a:avLst>
          </a:prstGeom>
          <a:solidFill>
            <a:schemeClr val="accent1"/>
          </a:solidFill>
          <a:ln/>
        </p:spPr>
      </p:sp>
      <p:sp>
        <p:nvSpPr>
          <p:cNvPr id="7" name="Text 5"/>
          <p:cNvSpPr txBox="1"/>
          <p:nvPr/>
        </p:nvSpPr>
        <p:spPr>
          <a:xfrm>
            <a:off x="731520" y="1691640"/>
            <a:ext cx="5067148" cy="384048"/>
          </a:xfrm>
          <a:prstGeom prst="rect">
            <a:avLst/>
          </a:prstGeom>
          <a:noFill/>
          <a:ln/>
        </p:spPr>
        <p:txBody>
          <a:bodyPr wrap="square" lIns="0" tIns="0" rIns="0" bIns="0" rtlCol="0" anchor="ctr"/>
          <a:lstStyle/>
          <a:p>
            <a:pPr indent="0" marL="0">
              <a:buNone/>
            </a:pPr>
            <a:r>
              <a:rPr lang="en-US" sz="1100" b="1" spc="100" kern="0" dirty="0">
                <a:solidFill>
                  <a:schemeClr val="bg1"/>
                </a:solidFill>
              </a:rPr>
              <a:t>G · GENERACIÓN</a:t>
            </a:r>
            <a:endParaRPr lang="en-US" sz="1100" dirty="0"/>
          </a:p>
        </p:txBody>
      </p:sp>
      <p:sp>
        <p:nvSpPr>
          <p:cNvPr id="8" name="Text 6"/>
          <p:cNvSpPr txBox="1"/>
          <p:nvPr/>
        </p:nvSpPr>
        <p:spPr>
          <a:xfrm>
            <a:off x="749808" y="2194560"/>
            <a:ext cx="5030572" cy="1618488"/>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La generación es toda aquella industria que se dedica únicamente a la producción de la energía eléctrica, existiendo generadores en régimen ordinario (tecnologías de ciclo combinado, nuclear, carbón, fuel y grandes hidráulicas) y generadores en régimen especial (entre otras tecnologías, las renovables).</a:t>
            </a:r>
            <a:endParaRPr lang="en-US" sz="1100" dirty="0"/>
          </a:p>
        </p:txBody>
      </p:sp>
      <p:sp>
        <p:nvSpPr>
          <p:cNvPr id="9" name="Shape 7"/>
          <p:cNvSpPr/>
          <p:nvPr/>
        </p:nvSpPr>
        <p:spPr>
          <a:xfrm>
            <a:off x="6210148" y="1691640"/>
            <a:ext cx="5432908" cy="2212848"/>
          </a:xfrm>
          <a:prstGeom prst="roundRect">
            <a:avLst>
              <a:gd name="adj" fmla="val 4132"/>
            </a:avLst>
          </a:prstGeom>
          <a:solidFill>
            <a:srgbClr val="F4F6F9"/>
          </a:solidFill>
          <a:ln/>
        </p:spPr>
      </p:sp>
      <p:sp>
        <p:nvSpPr>
          <p:cNvPr id="10" name="Shape 8"/>
          <p:cNvSpPr/>
          <p:nvPr/>
        </p:nvSpPr>
        <p:spPr>
          <a:xfrm>
            <a:off x="6210148" y="1691640"/>
            <a:ext cx="5432908" cy="384048"/>
          </a:xfrm>
          <a:prstGeom prst="roundRect">
            <a:avLst>
              <a:gd name="adj" fmla="val 19048"/>
            </a:avLst>
          </a:prstGeom>
          <a:solidFill>
            <a:schemeClr val="accent2"/>
          </a:solidFill>
          <a:ln/>
        </p:spPr>
      </p:sp>
      <p:sp>
        <p:nvSpPr>
          <p:cNvPr id="11" name="Text 9"/>
          <p:cNvSpPr txBox="1"/>
          <p:nvPr/>
        </p:nvSpPr>
        <p:spPr>
          <a:xfrm>
            <a:off x="6393028" y="1691640"/>
            <a:ext cx="5067148" cy="384048"/>
          </a:xfrm>
          <a:prstGeom prst="rect">
            <a:avLst/>
          </a:prstGeom>
          <a:noFill/>
          <a:ln/>
        </p:spPr>
        <p:txBody>
          <a:bodyPr wrap="square" lIns="0" tIns="0" rIns="0" bIns="0" rtlCol="0" anchor="ctr"/>
          <a:lstStyle/>
          <a:p>
            <a:pPr indent="0" marL="0">
              <a:buNone/>
            </a:pPr>
            <a:r>
              <a:rPr lang="en-US" sz="1100" b="1" spc="100" kern="0" dirty="0">
                <a:solidFill>
                  <a:schemeClr val="bg1"/>
                </a:solidFill>
              </a:rPr>
              <a:t>T · TRANSPORTE</a:t>
            </a:r>
            <a:endParaRPr lang="en-US" sz="1100" dirty="0"/>
          </a:p>
        </p:txBody>
      </p:sp>
      <p:sp>
        <p:nvSpPr>
          <p:cNvPr id="12" name="Text 10"/>
          <p:cNvSpPr txBox="1"/>
          <p:nvPr/>
        </p:nvSpPr>
        <p:spPr>
          <a:xfrm>
            <a:off x="6411316" y="2194560"/>
            <a:ext cx="5030572" cy="1618488"/>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Debido a la dificultad que supone el almacenamiento de la energía eléctrica, la energía generada se transporta directamente al consumidor a través de la red de transporte. El transporte se realiza en alta tensión (380 kV) con el fin de minimizar las pérdidas del sistema. Es un monopolio natural: el transportista único y operador del sistema eléctrico español de alta tensión es Red Eléctrica de España (REE), que gestiona, mantiene y repara toda esta infraestructura.</a:t>
            </a:r>
            <a:endParaRPr lang="en-US" sz="1100" dirty="0"/>
          </a:p>
        </p:txBody>
      </p:sp>
      <p:sp>
        <p:nvSpPr>
          <p:cNvPr id="13" name="Shape 11"/>
          <p:cNvSpPr/>
          <p:nvPr/>
        </p:nvSpPr>
        <p:spPr>
          <a:xfrm>
            <a:off x="548640" y="4023360"/>
            <a:ext cx="5432908" cy="2212848"/>
          </a:xfrm>
          <a:prstGeom prst="roundRect">
            <a:avLst>
              <a:gd name="adj" fmla="val 4132"/>
            </a:avLst>
          </a:prstGeom>
          <a:solidFill>
            <a:srgbClr val="F4F6F9"/>
          </a:solidFill>
          <a:ln/>
        </p:spPr>
      </p:sp>
      <p:sp>
        <p:nvSpPr>
          <p:cNvPr id="14" name="Shape 12"/>
          <p:cNvSpPr/>
          <p:nvPr/>
        </p:nvSpPr>
        <p:spPr>
          <a:xfrm>
            <a:off x="548640" y="4023360"/>
            <a:ext cx="5432908" cy="384048"/>
          </a:xfrm>
          <a:prstGeom prst="roundRect">
            <a:avLst>
              <a:gd name="adj" fmla="val 19048"/>
            </a:avLst>
          </a:prstGeom>
          <a:solidFill>
            <a:schemeClr val="accent3"/>
          </a:solidFill>
          <a:ln/>
        </p:spPr>
      </p:sp>
      <p:sp>
        <p:nvSpPr>
          <p:cNvPr id="15" name="Text 13"/>
          <p:cNvSpPr txBox="1"/>
          <p:nvPr/>
        </p:nvSpPr>
        <p:spPr>
          <a:xfrm>
            <a:off x="731520" y="4023360"/>
            <a:ext cx="5067148" cy="384048"/>
          </a:xfrm>
          <a:prstGeom prst="rect">
            <a:avLst/>
          </a:prstGeom>
          <a:noFill/>
          <a:ln/>
        </p:spPr>
        <p:txBody>
          <a:bodyPr wrap="square" lIns="0" tIns="0" rIns="0" bIns="0" rtlCol="0" anchor="ctr"/>
          <a:lstStyle/>
          <a:p>
            <a:pPr indent="0" marL="0">
              <a:buNone/>
            </a:pPr>
            <a:r>
              <a:rPr lang="en-US" sz="1100" b="1" spc="100" kern="0" dirty="0">
                <a:solidFill>
                  <a:schemeClr val="bg1"/>
                </a:solidFill>
              </a:rPr>
              <a:t>D · DISTRIBUCIÓN</a:t>
            </a:r>
            <a:endParaRPr lang="en-US" sz="1100" dirty="0"/>
          </a:p>
        </p:txBody>
      </p:sp>
      <p:sp>
        <p:nvSpPr>
          <p:cNvPr id="16" name="Text 14"/>
          <p:cNvSpPr txBox="1"/>
          <p:nvPr/>
        </p:nvSpPr>
        <p:spPr>
          <a:xfrm>
            <a:off x="749808" y="4526280"/>
            <a:ext cx="5030572" cy="1618488"/>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Se basa en la construcción, operación y mantenimiento de las instalaciones de distribución destinadas a suministrar la energía eléctrica en los puntos de consumo. Hasta la desaparición total de las tarifas y, transitoriamente, hasta la aparición del suministro de último recurso, incluye también la venta de energía a aquellos consumidores finales o distribuidores que adquieran dicha energía a tarifa (Endesa, Iberdrola, Gas Natural, E.ON).</a:t>
            </a:r>
            <a:endParaRPr lang="en-US" sz="1100" dirty="0"/>
          </a:p>
        </p:txBody>
      </p:sp>
      <p:sp>
        <p:nvSpPr>
          <p:cNvPr id="17" name="Shape 15"/>
          <p:cNvSpPr/>
          <p:nvPr/>
        </p:nvSpPr>
        <p:spPr>
          <a:xfrm>
            <a:off x="6210148" y="4023360"/>
            <a:ext cx="5432908" cy="2212848"/>
          </a:xfrm>
          <a:prstGeom prst="roundRect">
            <a:avLst>
              <a:gd name="adj" fmla="val 4132"/>
            </a:avLst>
          </a:prstGeom>
          <a:solidFill>
            <a:srgbClr val="F4F6F9"/>
          </a:solidFill>
          <a:ln/>
        </p:spPr>
      </p:sp>
      <p:sp>
        <p:nvSpPr>
          <p:cNvPr id="18" name="Shape 16"/>
          <p:cNvSpPr/>
          <p:nvPr/>
        </p:nvSpPr>
        <p:spPr>
          <a:xfrm>
            <a:off x="6210148" y="4023360"/>
            <a:ext cx="5432908" cy="384048"/>
          </a:xfrm>
          <a:prstGeom prst="roundRect">
            <a:avLst>
              <a:gd name="adj" fmla="val 19048"/>
            </a:avLst>
          </a:prstGeom>
          <a:solidFill>
            <a:schemeClr val="accent4"/>
          </a:solidFill>
          <a:ln/>
        </p:spPr>
      </p:sp>
      <p:sp>
        <p:nvSpPr>
          <p:cNvPr id="19" name="Text 17"/>
          <p:cNvSpPr txBox="1"/>
          <p:nvPr/>
        </p:nvSpPr>
        <p:spPr>
          <a:xfrm>
            <a:off x="6393028" y="4023360"/>
            <a:ext cx="5067148" cy="384048"/>
          </a:xfrm>
          <a:prstGeom prst="rect">
            <a:avLst/>
          </a:prstGeom>
          <a:noFill/>
          <a:ln/>
        </p:spPr>
        <p:txBody>
          <a:bodyPr wrap="square" lIns="0" tIns="0" rIns="0" bIns="0" rtlCol="0" anchor="ctr"/>
          <a:lstStyle/>
          <a:p>
            <a:pPr indent="0" marL="0">
              <a:buNone/>
            </a:pPr>
            <a:r>
              <a:rPr lang="en-US" sz="1100" b="1" spc="100" kern="0" dirty="0">
                <a:solidFill>
                  <a:schemeClr val="bg1"/>
                </a:solidFill>
              </a:rPr>
              <a:t>C · COMERCIALIZACIÓN</a:t>
            </a:r>
            <a:endParaRPr lang="en-US" sz="1100" dirty="0"/>
          </a:p>
        </p:txBody>
      </p:sp>
      <p:sp>
        <p:nvSpPr>
          <p:cNvPr id="20" name="Text 18"/>
          <p:cNvSpPr txBox="1"/>
          <p:nvPr/>
        </p:nvSpPr>
        <p:spPr>
          <a:xfrm>
            <a:off x="6411316" y="4526280"/>
            <a:ext cx="5030572" cy="1618488"/>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Consiste en la compra y venta de energía eléctrica (www.omel.es). Los comercializadores pueden adquirir la energía en el mercado diario e intradiario, en el mercado a plazo, a generadores tanto del régimen ordinario como del especial y a otros comercializadores, como ATLAS ENERGÍA. Por otro lado, pueden vender energía bien a los consumidores mediante la libre contratación, bien directamente al mercado diario e intradiario, en el mercado a plazo y a otros comercializadores.</a:t>
            </a:r>
            <a:endParaRPr lang="en-US" sz="11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¿Qué ofrecer: precio fijo o indexado?</a:t>
            </a:r>
            <a:endParaRPr lang="en-US" sz="2600" dirty="0"/>
          </a:p>
        </p:txBody>
      </p:sp>
      <p:pic>
        <p:nvPicPr>
          <p:cNvPr id="5" name="Image 0" descr="/tmp/claude-0/-home-user-mesenergiaes/5a011a92-143f-5232-b40a-c25f12780ce3/scratchpad/mu/ppt/media/image17.png">    </p:cNvPr>
          <p:cNvPicPr>
            <a:picLocks noChangeAspect="1"/>
          </p:cNvPicPr>
          <p:nvPr/>
        </p:nvPicPr>
        <p:blipFill>
          <a:blip r:embed="rId1"/>
          <a:srcRect l="0" r="0" t="0" b="0"/>
          <a:stretch/>
        </p:blipFill>
        <p:spPr>
          <a:xfrm>
            <a:off x="9006840" y="1691640"/>
            <a:ext cx="2636215" cy="4526280"/>
          </a:xfrm>
          <a:prstGeom prst="rect">
            <a:avLst/>
          </a:prstGeom>
        </p:spPr>
      </p:pic>
      <p:sp>
        <p:nvSpPr>
          <p:cNvPr id="6" name="Shape 3"/>
          <p:cNvSpPr/>
          <p:nvPr/>
        </p:nvSpPr>
        <p:spPr>
          <a:xfrm>
            <a:off x="548640" y="1691640"/>
            <a:ext cx="4000500" cy="4526280"/>
          </a:xfrm>
          <a:prstGeom prst="roundRect">
            <a:avLst>
              <a:gd name="adj" fmla="val 2286"/>
            </a:avLst>
          </a:prstGeom>
          <a:solidFill>
            <a:srgbClr val="F4F6F9"/>
          </a:solidFill>
          <a:ln/>
        </p:spPr>
      </p:sp>
      <p:sp>
        <p:nvSpPr>
          <p:cNvPr id="7" name="Shape 4"/>
          <p:cNvSpPr/>
          <p:nvPr/>
        </p:nvSpPr>
        <p:spPr>
          <a:xfrm>
            <a:off x="548640" y="1691640"/>
            <a:ext cx="4000500" cy="411480"/>
          </a:xfrm>
          <a:prstGeom prst="roundRect">
            <a:avLst>
              <a:gd name="adj" fmla="val 17778"/>
            </a:avLst>
          </a:prstGeom>
          <a:solidFill>
            <a:schemeClr val="accent1"/>
          </a:solidFill>
          <a:ln/>
        </p:spPr>
      </p:sp>
      <p:sp>
        <p:nvSpPr>
          <p:cNvPr id="8" name="Text 5"/>
          <p:cNvSpPr txBox="1"/>
          <p:nvPr/>
        </p:nvSpPr>
        <p:spPr>
          <a:xfrm>
            <a:off x="731520" y="1691640"/>
            <a:ext cx="3634740" cy="411480"/>
          </a:xfrm>
          <a:prstGeom prst="rect">
            <a:avLst/>
          </a:prstGeom>
          <a:noFill/>
          <a:ln/>
        </p:spPr>
        <p:txBody>
          <a:bodyPr wrap="square" lIns="0" tIns="0" rIns="0" bIns="0" rtlCol="0" anchor="ctr"/>
          <a:lstStyle/>
          <a:p>
            <a:pPr indent="0" marL="0">
              <a:buNone/>
            </a:pPr>
            <a:r>
              <a:rPr lang="en-US" sz="1100" b="1" spc="100" kern="0" dirty="0">
                <a:solidFill>
                  <a:schemeClr val="bg1"/>
                </a:solidFill>
              </a:rPr>
              <a:t>PRECIO FIJO</a:t>
            </a:r>
            <a:endParaRPr lang="en-US" sz="1100" dirty="0"/>
          </a:p>
        </p:txBody>
      </p:sp>
      <p:sp>
        <p:nvSpPr>
          <p:cNvPr id="9" name="Text 6"/>
          <p:cNvSpPr txBox="1"/>
          <p:nvPr/>
        </p:nvSpPr>
        <p:spPr>
          <a:xfrm>
            <a:off x="777240" y="2240280"/>
            <a:ext cx="3543300" cy="365760"/>
          </a:xfrm>
          <a:prstGeom prst="rect">
            <a:avLst/>
          </a:prstGeom>
          <a:noFill/>
          <a:ln/>
        </p:spPr>
        <p:txBody>
          <a:bodyPr wrap="square" lIns="0" tIns="0" rIns="0" bIns="0" rtlCol="0" anchor="ctr"/>
          <a:lstStyle/>
          <a:p>
            <a:pPr indent="0" marL="0">
              <a:buNone/>
            </a:pPr>
            <a:r>
              <a:rPr lang="en-US" sz="1400" b="1" dirty="0">
                <a:solidFill>
                  <a:schemeClr val="tx2"/>
                </a:solidFill>
              </a:rPr>
              <a:t>¿En qué consiste el precio fijo?</a:t>
            </a:r>
            <a:endParaRPr lang="en-US" sz="1400" dirty="0"/>
          </a:p>
        </p:txBody>
      </p:sp>
      <p:sp>
        <p:nvSpPr>
          <p:cNvPr id="10" name="Text 7"/>
          <p:cNvSpPr txBox="1"/>
          <p:nvPr/>
        </p:nvSpPr>
        <p:spPr>
          <a:xfrm>
            <a:off x="777240" y="2697480"/>
            <a:ext cx="3543300" cy="2377440"/>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Las tarifas con precio fijo son aquellas en las que el precio de la luz, medido en €/kW, es el mismo para cada período tarifario durante la vigencia del contrato. La duración de estos es, por norma general, de </a:t>
            </a:r>
            <a:pPr indent="0" marL="0">
              <a:lnSpc>
                <a:spcPct val="105000"/>
              </a:lnSpc>
              <a:buNone/>
            </a:pPr>
            <a:r>
              <a:rPr lang="en-US" sz="1200" b="1" dirty="0">
                <a:solidFill>
                  <a:schemeClr val="tx1"/>
                </a:solidFill>
              </a:rPr>
              <a:t>12 meses</a:t>
            </a:r>
            <a:pPr indent="0" marL="0">
              <a:lnSpc>
                <a:spcPct val="105000"/>
              </a:lnSpc>
              <a:buNone/>
            </a:pPr>
            <a:r>
              <a:rPr lang="en-US" sz="1200" dirty="0">
                <a:solidFill>
                  <a:schemeClr val="tx1"/>
                </a:solidFill>
              </a:rPr>
              <a:t>. De esta manera, conoces de antemano el precio que vas a pagar de la luz, sin depender de la evolución del mercado o de la </a:t>
            </a:r>
            <a:pPr indent="0" marL="0">
              <a:lnSpc>
                <a:spcPct val="105000"/>
              </a:lnSpc>
              <a:buNone/>
            </a:pPr>
            <a:r>
              <a:rPr lang="en-US" sz="1200" b="1" dirty="0">
                <a:solidFill>
                  <a:schemeClr val="tx1"/>
                </a:solidFill>
              </a:rPr>
              <a:t>subasta mayorista.</a:t>
            </a:r>
            <a:endParaRPr lang="en-US" sz="1200" dirty="0"/>
          </a:p>
        </p:txBody>
      </p:sp>
      <p:sp>
        <p:nvSpPr>
          <p:cNvPr id="11" name="Shape 8"/>
          <p:cNvSpPr/>
          <p:nvPr/>
        </p:nvSpPr>
        <p:spPr>
          <a:xfrm>
            <a:off x="731520" y="5166360"/>
            <a:ext cx="3634740" cy="384048"/>
          </a:xfrm>
          <a:prstGeom prst="roundRect">
            <a:avLst>
              <a:gd name="adj" fmla="val 23810"/>
            </a:avLst>
          </a:prstGeom>
          <a:solidFill>
            <a:srgbClr val="EFF6E6"/>
          </a:solidFill>
          <a:ln/>
        </p:spPr>
      </p:sp>
      <p:sp>
        <p:nvSpPr>
          <p:cNvPr id="12" name="Text 9"/>
          <p:cNvSpPr txBox="1"/>
          <p:nvPr/>
        </p:nvSpPr>
        <p:spPr>
          <a:xfrm>
            <a:off x="914400" y="5166360"/>
            <a:ext cx="3268980" cy="384048"/>
          </a:xfrm>
          <a:prstGeom prst="rect">
            <a:avLst/>
          </a:prstGeom>
          <a:noFill/>
          <a:ln/>
        </p:spPr>
        <p:txBody>
          <a:bodyPr wrap="square" lIns="0" tIns="0" rIns="0" bIns="0" rtlCol="0" anchor="ctr"/>
          <a:lstStyle/>
          <a:p>
            <a:pPr indent="0" marL="0">
              <a:buNone/>
            </a:pPr>
            <a:r>
              <a:rPr lang="en-US" sz="1100" b="1" dirty="0">
                <a:solidFill>
                  <a:schemeClr val="accent1"/>
                </a:solidFill>
              </a:rPr>
              <a:t>Precio conocido de antemano</a:t>
            </a:r>
            <a:endParaRPr lang="en-US" sz="1100" dirty="0"/>
          </a:p>
        </p:txBody>
      </p:sp>
      <p:sp>
        <p:nvSpPr>
          <p:cNvPr id="13" name="Shape 10"/>
          <p:cNvSpPr/>
          <p:nvPr/>
        </p:nvSpPr>
        <p:spPr>
          <a:xfrm>
            <a:off x="731520" y="5641848"/>
            <a:ext cx="3634740" cy="384048"/>
          </a:xfrm>
          <a:prstGeom prst="roundRect">
            <a:avLst>
              <a:gd name="adj" fmla="val 23810"/>
            </a:avLst>
          </a:prstGeom>
          <a:solidFill>
            <a:srgbClr val="EFF6E6"/>
          </a:solidFill>
          <a:ln/>
        </p:spPr>
      </p:sp>
      <p:sp>
        <p:nvSpPr>
          <p:cNvPr id="14" name="Text 11"/>
          <p:cNvSpPr txBox="1"/>
          <p:nvPr/>
        </p:nvSpPr>
        <p:spPr>
          <a:xfrm>
            <a:off x="914400" y="5641848"/>
            <a:ext cx="3268980" cy="384048"/>
          </a:xfrm>
          <a:prstGeom prst="rect">
            <a:avLst/>
          </a:prstGeom>
          <a:noFill/>
          <a:ln/>
        </p:spPr>
        <p:txBody>
          <a:bodyPr wrap="square" lIns="0" tIns="0" rIns="0" bIns="0" rtlCol="0" anchor="ctr"/>
          <a:lstStyle/>
          <a:p>
            <a:pPr indent="0" marL="0">
              <a:buNone/>
            </a:pPr>
            <a:r>
              <a:rPr lang="en-US" sz="1100" b="1" dirty="0">
                <a:solidFill>
                  <a:schemeClr val="accent1"/>
                </a:solidFill>
              </a:rPr>
              <a:t>Contratos de 12 meses</a:t>
            </a:r>
            <a:endParaRPr lang="en-US" sz="1100" dirty="0"/>
          </a:p>
        </p:txBody>
      </p:sp>
      <p:sp>
        <p:nvSpPr>
          <p:cNvPr id="15" name="Shape 12"/>
          <p:cNvSpPr/>
          <p:nvPr/>
        </p:nvSpPr>
        <p:spPr>
          <a:xfrm>
            <a:off x="4777740" y="1691640"/>
            <a:ext cx="4000500" cy="4526280"/>
          </a:xfrm>
          <a:prstGeom prst="roundRect">
            <a:avLst>
              <a:gd name="adj" fmla="val 2286"/>
            </a:avLst>
          </a:prstGeom>
          <a:solidFill>
            <a:srgbClr val="F4F6F9"/>
          </a:solidFill>
          <a:ln/>
        </p:spPr>
      </p:sp>
      <p:sp>
        <p:nvSpPr>
          <p:cNvPr id="16" name="Shape 13"/>
          <p:cNvSpPr/>
          <p:nvPr/>
        </p:nvSpPr>
        <p:spPr>
          <a:xfrm>
            <a:off x="4777740" y="1691640"/>
            <a:ext cx="4000500" cy="411480"/>
          </a:xfrm>
          <a:prstGeom prst="roundRect">
            <a:avLst>
              <a:gd name="adj" fmla="val 17778"/>
            </a:avLst>
          </a:prstGeom>
          <a:solidFill>
            <a:schemeClr val="accent2"/>
          </a:solidFill>
          <a:ln/>
        </p:spPr>
      </p:sp>
      <p:sp>
        <p:nvSpPr>
          <p:cNvPr id="17" name="Text 14"/>
          <p:cNvSpPr txBox="1"/>
          <p:nvPr/>
        </p:nvSpPr>
        <p:spPr>
          <a:xfrm>
            <a:off x="4960620" y="1691640"/>
            <a:ext cx="3634740" cy="411480"/>
          </a:xfrm>
          <a:prstGeom prst="rect">
            <a:avLst/>
          </a:prstGeom>
          <a:noFill/>
          <a:ln/>
        </p:spPr>
        <p:txBody>
          <a:bodyPr wrap="square" lIns="0" tIns="0" rIns="0" bIns="0" rtlCol="0" anchor="ctr"/>
          <a:lstStyle/>
          <a:p>
            <a:pPr indent="0" marL="0">
              <a:buNone/>
            </a:pPr>
            <a:r>
              <a:rPr lang="en-US" sz="1100" b="1" spc="100" kern="0" dirty="0">
                <a:solidFill>
                  <a:schemeClr val="bg1"/>
                </a:solidFill>
              </a:rPr>
              <a:t>PRECIO INDEXADO</a:t>
            </a:r>
            <a:endParaRPr lang="en-US" sz="1100" dirty="0"/>
          </a:p>
        </p:txBody>
      </p:sp>
      <p:sp>
        <p:nvSpPr>
          <p:cNvPr id="18" name="Text 15"/>
          <p:cNvSpPr txBox="1"/>
          <p:nvPr/>
        </p:nvSpPr>
        <p:spPr>
          <a:xfrm>
            <a:off x="5006340" y="2240280"/>
            <a:ext cx="3543300" cy="365760"/>
          </a:xfrm>
          <a:prstGeom prst="rect">
            <a:avLst/>
          </a:prstGeom>
          <a:noFill/>
          <a:ln/>
        </p:spPr>
        <p:txBody>
          <a:bodyPr wrap="square" lIns="0" tIns="0" rIns="0" bIns="0" rtlCol="0" anchor="ctr"/>
          <a:lstStyle/>
          <a:p>
            <a:pPr indent="0" marL="0">
              <a:buNone/>
            </a:pPr>
            <a:r>
              <a:rPr lang="en-US" sz="1400" b="1" dirty="0">
                <a:solidFill>
                  <a:schemeClr val="tx2"/>
                </a:solidFill>
              </a:rPr>
              <a:t>¿Qué es el precio indexado?</a:t>
            </a:r>
            <a:endParaRPr lang="en-US" sz="1400" dirty="0"/>
          </a:p>
        </p:txBody>
      </p:sp>
      <p:sp>
        <p:nvSpPr>
          <p:cNvPr id="19" name="Text 16"/>
          <p:cNvSpPr txBox="1"/>
          <p:nvPr/>
        </p:nvSpPr>
        <p:spPr>
          <a:xfrm>
            <a:off x="5006340" y="2697480"/>
            <a:ext cx="3543300" cy="2377440"/>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Los precios indexados son una variante de </a:t>
            </a:r>
            <a:pPr indent="0" marL="0">
              <a:lnSpc>
                <a:spcPct val="105000"/>
              </a:lnSpc>
              <a:buNone/>
            </a:pPr>
            <a:r>
              <a:rPr lang="en-US" sz="1200" b="1" dirty="0">
                <a:solidFill>
                  <a:schemeClr val="tx1"/>
                </a:solidFill>
              </a:rPr>
              <a:t>tarifa de suministro de electricidad</a:t>
            </a:r>
            <a:pPr indent="0" marL="0">
              <a:lnSpc>
                <a:spcPct val="105000"/>
              </a:lnSpc>
              <a:buNone/>
            </a:pPr>
            <a:r>
              <a:rPr lang="en-US" sz="1200" dirty="0">
                <a:solidFill>
                  <a:schemeClr val="tx1"/>
                </a:solidFill>
              </a:rPr>
              <a:t> bajo la cual el precio de la luz se cobra según el mercado mayorista o </a:t>
            </a:r>
            <a:pPr indent="0" marL="0">
              <a:lnSpc>
                <a:spcPct val="105000"/>
              </a:lnSpc>
              <a:buNone/>
            </a:pPr>
            <a:r>
              <a:rPr lang="en-US" sz="1200" i="1" dirty="0">
                <a:solidFill>
                  <a:schemeClr val="tx1"/>
                </a:solidFill>
              </a:rPr>
              <a:t>pool</a:t>
            </a:r>
            <a:pPr indent="0" marL="0">
              <a:lnSpc>
                <a:spcPct val="105000"/>
              </a:lnSpc>
              <a:buNone/>
            </a:pPr>
            <a:r>
              <a:rPr lang="en-US" sz="1200" dirty="0">
                <a:solidFill>
                  <a:schemeClr val="tx1"/>
                </a:solidFill>
              </a:rPr>
              <a:t>. A esto hay que sumarle posteriormente los costes regulados de la energía más los gastos de gestión de la comercializadora de la que seamos clientes.</a:t>
            </a:r>
            <a:endParaRPr lang="en-US" sz="1200" dirty="0"/>
          </a:p>
        </p:txBody>
      </p:sp>
      <p:sp>
        <p:nvSpPr>
          <p:cNvPr id="20" name="Shape 17"/>
          <p:cNvSpPr/>
          <p:nvPr/>
        </p:nvSpPr>
        <p:spPr>
          <a:xfrm>
            <a:off x="4960620" y="5166360"/>
            <a:ext cx="3634740" cy="384048"/>
          </a:xfrm>
          <a:prstGeom prst="roundRect">
            <a:avLst>
              <a:gd name="adj" fmla="val 23810"/>
            </a:avLst>
          </a:prstGeom>
          <a:solidFill>
            <a:srgbClr val="EDF2F9"/>
          </a:solidFill>
          <a:ln/>
        </p:spPr>
      </p:sp>
      <p:sp>
        <p:nvSpPr>
          <p:cNvPr id="21" name="Text 18"/>
          <p:cNvSpPr txBox="1"/>
          <p:nvPr/>
        </p:nvSpPr>
        <p:spPr>
          <a:xfrm>
            <a:off x="5143500" y="5166360"/>
            <a:ext cx="3268980" cy="384048"/>
          </a:xfrm>
          <a:prstGeom prst="rect">
            <a:avLst/>
          </a:prstGeom>
          <a:noFill/>
          <a:ln/>
        </p:spPr>
        <p:txBody>
          <a:bodyPr wrap="square" lIns="0" tIns="0" rIns="0" bIns="0" rtlCol="0" anchor="ctr"/>
          <a:lstStyle/>
          <a:p>
            <a:pPr indent="0" marL="0">
              <a:buNone/>
            </a:pPr>
            <a:r>
              <a:rPr lang="en-US" sz="1100" b="1" dirty="0">
                <a:solidFill>
                  <a:schemeClr val="accent2"/>
                </a:solidFill>
              </a:rPr>
              <a:t>Sigue al mercado mayorista (pool)</a:t>
            </a:r>
            <a:endParaRPr lang="en-US" sz="1100" dirty="0"/>
          </a:p>
        </p:txBody>
      </p:sp>
      <p:sp>
        <p:nvSpPr>
          <p:cNvPr id="22" name="Shape 19"/>
          <p:cNvSpPr/>
          <p:nvPr/>
        </p:nvSpPr>
        <p:spPr>
          <a:xfrm>
            <a:off x="4960620" y="5641848"/>
            <a:ext cx="3634740" cy="384048"/>
          </a:xfrm>
          <a:prstGeom prst="roundRect">
            <a:avLst>
              <a:gd name="adj" fmla="val 23810"/>
            </a:avLst>
          </a:prstGeom>
          <a:solidFill>
            <a:srgbClr val="EDF2F9"/>
          </a:solidFill>
          <a:ln/>
        </p:spPr>
      </p:sp>
      <p:sp>
        <p:nvSpPr>
          <p:cNvPr id="23" name="Text 20"/>
          <p:cNvSpPr txBox="1"/>
          <p:nvPr/>
        </p:nvSpPr>
        <p:spPr>
          <a:xfrm>
            <a:off x="5143500" y="5641848"/>
            <a:ext cx="3268980" cy="384048"/>
          </a:xfrm>
          <a:prstGeom prst="rect">
            <a:avLst/>
          </a:prstGeom>
          <a:noFill/>
          <a:ln/>
        </p:spPr>
        <p:txBody>
          <a:bodyPr wrap="square" lIns="0" tIns="0" rIns="0" bIns="0" rtlCol="0" anchor="ctr"/>
          <a:lstStyle/>
          <a:p>
            <a:pPr indent="0" marL="0">
              <a:buNone/>
            </a:pPr>
            <a:r>
              <a:rPr lang="en-US" sz="1100" b="1" dirty="0">
                <a:solidFill>
                  <a:schemeClr val="accent2"/>
                </a:solidFill>
              </a:rPr>
              <a:t>+ costes regulados + gestión</a:t>
            </a:r>
            <a:endParaRPr lang="en-US" sz="11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¿Qué es OMIE?</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400" dirty="0">
                <a:solidFill>
                  <a:schemeClr val="tx1"/>
                </a:solidFill>
              </a:rPr>
              <a:t>Mercado Ibérico de la luz y el gas.</a:t>
            </a:r>
            <a:endParaRPr lang="en-US" sz="1400" dirty="0"/>
          </a:p>
        </p:txBody>
      </p:sp>
      <p:sp>
        <p:nvSpPr>
          <p:cNvPr id="6" name="Text 4"/>
          <p:cNvSpPr txBox="1"/>
          <p:nvPr/>
        </p:nvSpPr>
        <p:spPr>
          <a:xfrm>
            <a:off x="548640" y="2148840"/>
            <a:ext cx="6035040" cy="2103120"/>
          </a:xfrm>
          <a:prstGeom prst="rect">
            <a:avLst/>
          </a:prstGeom>
          <a:noFill/>
          <a:ln/>
        </p:spPr>
        <p:txBody>
          <a:bodyPr wrap="square" lIns="0" tIns="0" rIns="0" bIns="0" rtlCol="0" anchor="t"/>
          <a:lstStyle/>
          <a:p>
            <a:pPr indent="0" marL="0">
              <a:lnSpc>
                <a:spcPct val="105000"/>
              </a:lnSpc>
              <a:buNone/>
            </a:pPr>
            <a:r>
              <a:rPr lang="en-US" sz="1900" b="1" dirty="0">
                <a:solidFill>
                  <a:schemeClr val="tx2"/>
                </a:solidFill>
              </a:rPr>
              <a:t>OMIE es una empresa que gestiona la </a:t>
            </a:r>
            <a:pPr indent="0" marL="0">
              <a:lnSpc>
                <a:spcPct val="105000"/>
              </a:lnSpc>
              <a:buNone/>
            </a:pPr>
            <a:r>
              <a:rPr lang="en-US" sz="1900" b="1" dirty="0">
                <a:solidFill>
                  <a:schemeClr val="accent1"/>
                </a:solidFill>
              </a:rPr>
              <a:t>totalidad de los mercados (diarios e intradiarios)</a:t>
            </a:r>
            <a:pPr indent="0" marL="0">
              <a:lnSpc>
                <a:spcPct val="105000"/>
              </a:lnSpc>
              <a:buNone/>
            </a:pPr>
            <a:r>
              <a:rPr lang="en-US" sz="1900" b="1" dirty="0">
                <a:solidFill>
                  <a:schemeClr val="tx2"/>
                </a:solidFill>
              </a:rPr>
              <a:t> de toda la Península Ibérica, y su modelo operativo es el mismo que el aplicado por muchos otros mercados europeos.</a:t>
            </a:r>
            <a:endParaRPr lang="en-US" sz="1900" dirty="0"/>
          </a:p>
        </p:txBody>
      </p:sp>
      <p:sp>
        <p:nvSpPr>
          <p:cNvPr id="7" name="Shape 5"/>
          <p:cNvSpPr/>
          <p:nvPr/>
        </p:nvSpPr>
        <p:spPr>
          <a:xfrm>
            <a:off x="548640" y="4434840"/>
            <a:ext cx="6035040" cy="868680"/>
          </a:xfrm>
          <a:prstGeom prst="roundRect">
            <a:avLst>
              <a:gd name="adj" fmla="val 10526"/>
            </a:avLst>
          </a:prstGeom>
          <a:solidFill>
            <a:srgbClr val="EFF6E6"/>
          </a:solidFill>
          <a:ln/>
        </p:spPr>
      </p:sp>
      <p:pic>
        <p:nvPicPr>
          <p:cNvPr id="8" name="Image 0" descr="/tmp/claude-0/-home-user-mesenergiaes/5a011a92-143f-5232-b40a-c25f12780ce3/scratchpad/build/assets/check-green.png">    </p:cNvPr>
          <p:cNvPicPr>
            <a:picLocks noChangeAspect="1"/>
          </p:cNvPicPr>
          <p:nvPr/>
        </p:nvPicPr>
        <p:blipFill>
          <a:blip r:embed="rId1"/>
          <a:stretch>
            <a:fillRect/>
          </a:stretch>
        </p:blipFill>
        <p:spPr>
          <a:xfrm>
            <a:off x="777240" y="4754880"/>
            <a:ext cx="219456" cy="219456"/>
          </a:xfrm>
          <a:prstGeom prst="rect">
            <a:avLst/>
          </a:prstGeom>
        </p:spPr>
      </p:pic>
      <p:sp>
        <p:nvSpPr>
          <p:cNvPr id="9" name="Text 6"/>
          <p:cNvSpPr txBox="1"/>
          <p:nvPr/>
        </p:nvSpPr>
        <p:spPr>
          <a:xfrm>
            <a:off x="1188720" y="4434840"/>
            <a:ext cx="5166360" cy="868680"/>
          </a:xfrm>
          <a:prstGeom prst="rect">
            <a:avLst/>
          </a:prstGeom>
          <a:noFill/>
          <a:ln/>
        </p:spPr>
        <p:txBody>
          <a:bodyPr wrap="square" lIns="0" tIns="0" rIns="0" bIns="0" rtlCol="0" anchor="ctr"/>
          <a:lstStyle/>
          <a:p>
            <a:pPr indent="0" marL="0">
              <a:buNone/>
            </a:pPr>
            <a:r>
              <a:rPr lang="en-US" sz="1350" dirty="0">
                <a:solidFill>
                  <a:schemeClr val="tx1"/>
                </a:solidFill>
              </a:rPr>
              <a:t>OMIE es responsable de la gestión del mercado eléctrico en </a:t>
            </a:r>
            <a:pPr indent="0" marL="0">
              <a:buNone/>
            </a:pPr>
            <a:r>
              <a:rPr lang="en-US" sz="1350" b="1" dirty="0">
                <a:solidFill>
                  <a:schemeClr val="tx1"/>
                </a:solidFill>
              </a:rPr>
              <a:t>España y Portugal.</a:t>
            </a:r>
            <a:endParaRPr lang="en-US" sz="1350" dirty="0"/>
          </a:p>
        </p:txBody>
      </p:sp>
      <p:pic>
        <p:nvPicPr>
          <p:cNvPr id="10" name="Image 1" descr="/tmp/claude-0/-home-user-mesenergiaes/5a011a92-143f-5232-b40a-c25f12780ce3/scratchpad/build/assets/link-blue.png">    </p:cNvPr>
          <p:cNvPicPr>
            <a:picLocks noChangeAspect="1"/>
          </p:cNvPicPr>
          <p:nvPr/>
        </p:nvPicPr>
        <p:blipFill>
          <a:blip r:embed="rId2"/>
          <a:stretch>
            <a:fillRect/>
          </a:stretch>
        </p:blipFill>
        <p:spPr>
          <a:xfrm>
            <a:off x="548640" y="5669280"/>
            <a:ext cx="182880" cy="182880"/>
          </a:xfrm>
          <a:prstGeom prst="rect">
            <a:avLst/>
          </a:prstGeom>
        </p:spPr>
      </p:pic>
      <p:sp>
        <p:nvSpPr>
          <p:cNvPr id="11" name="Text 7"/>
          <p:cNvSpPr txBox="1"/>
          <p:nvPr/>
        </p:nvSpPr>
        <p:spPr>
          <a:xfrm>
            <a:off x="841248" y="5577840"/>
            <a:ext cx="2743200" cy="365760"/>
          </a:xfrm>
          <a:prstGeom prst="rect">
            <a:avLst/>
          </a:prstGeom>
          <a:noFill/>
          <a:ln/>
        </p:spPr>
        <p:txBody>
          <a:bodyPr wrap="square" lIns="0" tIns="0" rIns="0" bIns="0" rtlCol="0" anchor="ctr"/>
          <a:lstStyle/>
          <a:p>
            <a:pPr indent="0" marL="0">
              <a:buNone/>
            </a:pPr>
            <a:r>
              <a:rPr lang="en-US" sz="1300" b="1" u="sng" dirty="0">
                <a:solidFill>
                  <a:schemeClr val="accent2"/>
                </a:solidFill>
                <a:hlinkClick r:id="rId3" invalidUrl="" action="" tgtFrame="" tooltip="OMIE" history="1" highlightClick="0" endSnd="0">
                  <a:extLst>
                    <a:ext uri="{A12FA001-AC4F-418D-AE19-62706E023703}">
                      <ahyp:hlinkClr xmlns:ahyp="http://schemas.microsoft.com/office/drawing/2018/hyperlinkcolor" val="tx"/>
                    </a:ext>
                  </a:extLst>
                </a:hlinkClick>
              </a:rPr>
              <a:t>www.omie.es</a:t>
            </a:r>
            <a:endParaRPr lang="en-US" sz="1300" dirty="0"/>
          </a:p>
        </p:txBody>
      </p:sp>
      <p:sp>
        <p:nvSpPr>
          <p:cNvPr id="12" name="Shape 8"/>
          <p:cNvSpPr/>
          <p:nvPr/>
        </p:nvSpPr>
        <p:spPr>
          <a:xfrm>
            <a:off x="6903720" y="1691640"/>
            <a:ext cx="4739335" cy="1691640"/>
          </a:xfrm>
          <a:prstGeom prst="roundRect">
            <a:avLst>
              <a:gd name="adj" fmla="val 4324"/>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13" name="Image 2" descr="/tmp/claude-0/-home-user-mesenergiaes/5a011a92-143f-5232-b40a-c25f12780ce3/scratchpad/mu/ppt/media/image19.png">    </p:cNvPr>
          <p:cNvPicPr>
            <a:picLocks noChangeAspect="1"/>
          </p:cNvPicPr>
          <p:nvPr/>
        </p:nvPicPr>
        <p:blipFill>
          <a:blip r:embed="rId4"/>
          <a:stretch>
            <a:fillRect/>
          </a:stretch>
        </p:blipFill>
        <p:spPr>
          <a:xfrm>
            <a:off x="8234977" y="1874520"/>
            <a:ext cx="2076821" cy="1325880"/>
          </a:xfrm>
          <a:prstGeom prst="rect">
            <a:avLst/>
          </a:prstGeom>
        </p:spPr>
      </p:pic>
      <p:sp>
        <p:nvSpPr>
          <p:cNvPr id="14" name="Shape 9"/>
          <p:cNvSpPr/>
          <p:nvPr/>
        </p:nvSpPr>
        <p:spPr>
          <a:xfrm>
            <a:off x="6903720" y="3566160"/>
            <a:ext cx="4739335" cy="2651760"/>
          </a:xfrm>
          <a:prstGeom prst="roundRect">
            <a:avLst>
              <a:gd name="adj" fmla="val 2759"/>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15" name="Image 3" descr="/tmp/claude-0/-home-user-mesenergiaes/5a011a92-143f-5232-b40a-c25f12780ce3/scratchpad/mu/ppt/media/image18.png">    </p:cNvPr>
          <p:cNvPicPr>
            <a:picLocks noChangeAspect="1"/>
          </p:cNvPicPr>
          <p:nvPr/>
        </p:nvPicPr>
        <p:blipFill>
          <a:blip r:embed="rId5"/>
          <a:stretch>
            <a:fillRect/>
          </a:stretch>
        </p:blipFill>
        <p:spPr>
          <a:xfrm>
            <a:off x="7040880" y="3780233"/>
            <a:ext cx="4465015" cy="2223613"/>
          </a:xfrm>
          <a:prstGeom prst="rect">
            <a:avLst/>
          </a:prstGeom>
        </p:spPr>
      </p:pic>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Cómo entender una factura de luz y gas</a:t>
            </a:r>
            <a:endParaRPr lang="en-US" sz="2600" dirty="0"/>
          </a:p>
        </p:txBody>
      </p:sp>
      <p:sp>
        <p:nvSpPr>
          <p:cNvPr id="5" name="Shape 3"/>
          <p:cNvSpPr/>
          <p:nvPr/>
        </p:nvSpPr>
        <p:spPr>
          <a:xfrm>
            <a:off x="548640" y="1691640"/>
            <a:ext cx="3840480" cy="1226716"/>
          </a:xfrm>
          <a:prstGeom prst="roundRect">
            <a:avLst>
              <a:gd name="adj" fmla="val 5963"/>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6" name="Image 0" descr="/tmp/claude-0/-home-user-mesenergiaes/5a011a92-143f-5232-b40a-c25f12780ce3/scratchpad/mu/ppt/media/image22.png">    </p:cNvPr>
          <p:cNvPicPr>
            <a:picLocks noChangeAspect="1"/>
          </p:cNvPicPr>
          <p:nvPr/>
        </p:nvPicPr>
        <p:blipFill>
          <a:blip r:embed="rId1"/>
          <a:stretch>
            <a:fillRect/>
          </a:stretch>
        </p:blipFill>
        <p:spPr>
          <a:xfrm>
            <a:off x="640080" y="1783080"/>
            <a:ext cx="3657600" cy="1043836"/>
          </a:xfrm>
          <a:prstGeom prst="rect">
            <a:avLst/>
          </a:prstGeom>
        </p:spPr>
      </p:pic>
      <p:sp>
        <p:nvSpPr>
          <p:cNvPr id="7" name="Shape 4"/>
          <p:cNvSpPr/>
          <p:nvPr/>
        </p:nvSpPr>
        <p:spPr>
          <a:xfrm>
            <a:off x="548640" y="3017520"/>
            <a:ext cx="3840480" cy="2011680"/>
          </a:xfrm>
          <a:prstGeom prst="roundRect">
            <a:avLst>
              <a:gd name="adj" fmla="val 3636"/>
            </a:avLst>
          </a:prstGeom>
          <a:solidFill>
            <a:srgbClr val="FFFFFF"/>
          </a:solidFill>
          <a:ln w="9525">
            <a:solidFill>
              <a:srgbClr val="DCE3EC"/>
            </a:solidFill>
            <a:prstDash val="solid"/>
          </a:ln>
          <a:effectLst>
            <a:outerShdw sx="100000" sy="100000" kx="0" ky="0" algn="bl" rotWithShape="0" blurRad="101600" dist="25400" dir="5400000">
              <a:srgbClr val="1F3260">
                <a:alpha val="10000"/>
              </a:srgbClr>
            </a:outerShdw>
          </a:effectLst>
        </p:spPr>
      </p:sp>
      <p:pic>
        <p:nvPicPr>
          <p:cNvPr id="8" name="Image 1" descr="/tmp/claude-0/-home-user-mesenergiaes/5a011a92-143f-5232-b40a-c25f12780ce3/scratchpad/mu/ppt/media/image20.jpeg">    </p:cNvPr>
          <p:cNvPicPr>
            <a:picLocks noChangeAspect="1"/>
          </p:cNvPicPr>
          <p:nvPr/>
        </p:nvPicPr>
        <p:blipFill>
          <a:blip r:embed="rId2"/>
          <a:stretch>
            <a:fillRect/>
          </a:stretch>
        </p:blipFill>
        <p:spPr>
          <a:xfrm>
            <a:off x="640080" y="3108960"/>
            <a:ext cx="3657600" cy="1828800"/>
          </a:xfrm>
          <a:prstGeom prst="rect">
            <a:avLst/>
          </a:prstGeom>
        </p:spPr>
      </p:pic>
      <p:sp>
        <p:nvSpPr>
          <p:cNvPr id="9" name="Shape 5"/>
          <p:cNvSpPr/>
          <p:nvPr/>
        </p:nvSpPr>
        <p:spPr>
          <a:xfrm>
            <a:off x="4617720" y="1691640"/>
            <a:ext cx="3398368" cy="4526280"/>
          </a:xfrm>
          <a:prstGeom prst="roundRect">
            <a:avLst>
              <a:gd name="adj" fmla="val 2691"/>
            </a:avLst>
          </a:prstGeom>
          <a:solidFill>
            <a:srgbClr val="F4F6F9"/>
          </a:solidFill>
          <a:ln/>
        </p:spPr>
      </p:sp>
      <p:sp>
        <p:nvSpPr>
          <p:cNvPr id="10" name="Shape 6"/>
          <p:cNvSpPr/>
          <p:nvPr/>
        </p:nvSpPr>
        <p:spPr>
          <a:xfrm>
            <a:off x="4617720" y="1691640"/>
            <a:ext cx="3398368" cy="384048"/>
          </a:xfrm>
          <a:prstGeom prst="roundRect">
            <a:avLst>
              <a:gd name="adj" fmla="val 19048"/>
            </a:avLst>
          </a:prstGeom>
          <a:solidFill>
            <a:schemeClr val="accent2"/>
          </a:solidFill>
          <a:ln/>
        </p:spPr>
      </p:sp>
      <p:sp>
        <p:nvSpPr>
          <p:cNvPr id="11" name="Text 7"/>
          <p:cNvSpPr txBox="1"/>
          <p:nvPr/>
        </p:nvSpPr>
        <p:spPr>
          <a:xfrm>
            <a:off x="4800600" y="1691640"/>
            <a:ext cx="3032608" cy="384048"/>
          </a:xfrm>
          <a:prstGeom prst="rect">
            <a:avLst/>
          </a:prstGeom>
          <a:noFill/>
          <a:ln/>
        </p:spPr>
        <p:txBody>
          <a:bodyPr wrap="square" lIns="0" tIns="0" rIns="0" bIns="0" rtlCol="0" anchor="ctr"/>
          <a:lstStyle/>
          <a:p>
            <a:pPr indent="0" marL="0">
              <a:buNone/>
            </a:pPr>
            <a:r>
              <a:rPr lang="en-US" sz="1100" b="1" spc="100" kern="0" dirty="0">
                <a:solidFill>
                  <a:schemeClr val="bg1"/>
                </a:solidFill>
              </a:rPr>
              <a:t>DATOS DE LA COMPAÑÍA</a:t>
            </a:r>
            <a:endParaRPr lang="en-US" sz="1100" dirty="0"/>
          </a:p>
        </p:txBody>
      </p:sp>
      <p:sp>
        <p:nvSpPr>
          <p:cNvPr id="12" name="Text 8"/>
          <p:cNvSpPr txBox="1"/>
          <p:nvPr/>
        </p:nvSpPr>
        <p:spPr>
          <a:xfrm>
            <a:off x="4800600" y="2240280"/>
            <a:ext cx="3032608" cy="393192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En el margen superior derecho se muestra la imagen visual de la marca, el logotipo. A la derecha de este normalmente destaca el tipo de factura (gas, luz, etc.). Inmediatamente debajo encontramos:</a:t>
            </a:r>
            <a:endParaRPr lang="en-US" sz="1050" dirty="0"/>
          </a:p>
          <a:p>
            <a:pPr indent="0" marL="0">
              <a:spcAft>
                <a:spcPts val="400"/>
              </a:spcAft>
              <a:buNone/>
            </a:pPr>
            <a:r>
              <a:rPr lang="en-US" sz="1050" b="1" dirty="0">
                <a:solidFill>
                  <a:schemeClr val="accent2"/>
                </a:solidFill>
              </a:rPr>
              <a:t>Denominación social de la compañía: </a:t>
            </a:r>
            <a:pPr indent="0" marL="0">
              <a:spcAft>
                <a:spcPts val="400"/>
              </a:spcAft>
              <a:buNone/>
            </a:pPr>
            <a:r>
              <a:rPr lang="en-US" sz="1050" dirty="0">
                <a:solidFill>
                  <a:schemeClr val="tx1"/>
                </a:solidFill>
              </a:rPr>
              <a:t>nombre completo de esta.</a:t>
            </a:r>
            <a:endParaRPr lang="en-US" sz="1050" dirty="0"/>
          </a:p>
          <a:p>
            <a:pPr indent="0" marL="0">
              <a:spcAft>
                <a:spcPts val="400"/>
              </a:spcAft>
              <a:buNone/>
            </a:pPr>
            <a:r>
              <a:rPr lang="en-US" sz="1050" b="1" dirty="0">
                <a:solidFill>
                  <a:schemeClr val="accent2"/>
                </a:solidFill>
              </a:rPr>
              <a:t>CIF (Coste, Seguro, Flete): </a:t>
            </a:r>
            <a:pPr indent="0" marL="0">
              <a:spcAft>
                <a:spcPts val="400"/>
              </a:spcAft>
              <a:buNone/>
            </a:pPr>
            <a:r>
              <a:rPr lang="en-US" sz="1050" dirty="0">
                <a:solidFill>
                  <a:schemeClr val="tx1"/>
                </a:solidFill>
              </a:rPr>
              <a:t>fórmula que nos indica que en el precio de un producto o servicio está incluido el seguro y el flete (precio del transporte).</a:t>
            </a:r>
            <a:endParaRPr lang="en-US" sz="1050" dirty="0"/>
          </a:p>
          <a:p>
            <a:pPr indent="0" marL="0">
              <a:spcAft>
                <a:spcPts val="400"/>
              </a:spcAft>
              <a:buNone/>
            </a:pPr>
            <a:r>
              <a:rPr lang="en-US" sz="1050" b="1" dirty="0">
                <a:solidFill>
                  <a:schemeClr val="accent2"/>
                </a:solidFill>
              </a:rPr>
              <a:t>Domicilio de tu compañía eléctrica.</a:t>
            </a:r>
            <a:endParaRPr lang="en-US" sz="1050" dirty="0"/>
          </a:p>
        </p:txBody>
      </p:sp>
      <p:sp>
        <p:nvSpPr>
          <p:cNvPr id="13" name="Shape 9"/>
          <p:cNvSpPr/>
          <p:nvPr/>
        </p:nvSpPr>
        <p:spPr>
          <a:xfrm>
            <a:off x="8244688" y="1691640"/>
            <a:ext cx="3398368" cy="4526280"/>
          </a:xfrm>
          <a:prstGeom prst="roundRect">
            <a:avLst>
              <a:gd name="adj" fmla="val 2691"/>
            </a:avLst>
          </a:prstGeom>
          <a:solidFill>
            <a:srgbClr val="F4F6F9"/>
          </a:solidFill>
          <a:ln/>
        </p:spPr>
      </p:sp>
      <p:sp>
        <p:nvSpPr>
          <p:cNvPr id="14" name="Shape 10"/>
          <p:cNvSpPr/>
          <p:nvPr/>
        </p:nvSpPr>
        <p:spPr>
          <a:xfrm>
            <a:off x="8244688" y="1691640"/>
            <a:ext cx="3398368" cy="384048"/>
          </a:xfrm>
          <a:prstGeom prst="roundRect">
            <a:avLst>
              <a:gd name="adj" fmla="val 19048"/>
            </a:avLst>
          </a:prstGeom>
          <a:solidFill>
            <a:schemeClr val="accent1"/>
          </a:solidFill>
          <a:ln/>
        </p:spPr>
      </p:sp>
      <p:sp>
        <p:nvSpPr>
          <p:cNvPr id="15" name="Text 11"/>
          <p:cNvSpPr txBox="1"/>
          <p:nvPr/>
        </p:nvSpPr>
        <p:spPr>
          <a:xfrm>
            <a:off x="8427568" y="1691640"/>
            <a:ext cx="3032608" cy="384048"/>
          </a:xfrm>
          <a:prstGeom prst="rect">
            <a:avLst/>
          </a:prstGeom>
          <a:noFill/>
          <a:ln/>
        </p:spPr>
        <p:txBody>
          <a:bodyPr wrap="square" lIns="0" tIns="0" rIns="0" bIns="0" rtlCol="0" anchor="ctr"/>
          <a:lstStyle/>
          <a:p>
            <a:pPr indent="0" marL="0">
              <a:buNone/>
            </a:pPr>
            <a:r>
              <a:rPr lang="en-US" sz="1100" b="1" spc="100" kern="0" dirty="0">
                <a:solidFill>
                  <a:schemeClr val="bg1"/>
                </a:solidFill>
              </a:rPr>
              <a:t>RESUMEN DE LA FACTURA</a:t>
            </a:r>
            <a:endParaRPr lang="en-US" sz="1100" dirty="0"/>
          </a:p>
        </p:txBody>
      </p:sp>
      <p:sp>
        <p:nvSpPr>
          <p:cNvPr id="16" name="Text 12"/>
          <p:cNvSpPr txBox="1"/>
          <p:nvPr/>
        </p:nvSpPr>
        <p:spPr>
          <a:xfrm>
            <a:off x="8427568" y="2240280"/>
            <a:ext cx="3032608" cy="393192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En la esquina superior derecha de nuestro recibo encontramos el Resumen de la factura, que básicamente recoge el importe a pagar, el tipo de producto contratado y detalles propios de la factura que sirven para identificarla.</a:t>
            </a:r>
            <a:endParaRPr lang="en-US" sz="1050" dirty="0"/>
          </a:p>
          <a:p>
            <a:pPr indent="0" marL="0">
              <a:spcAft>
                <a:spcPts val="400"/>
              </a:spcAft>
              <a:buNone/>
            </a:pPr>
            <a:r>
              <a:rPr lang="en-US" sz="1050" b="1" dirty="0">
                <a:solidFill>
                  <a:schemeClr val="accent2"/>
                </a:solidFill>
              </a:rPr>
              <a:t>Total importe factura: </a:t>
            </a:r>
            <a:pPr indent="0" marL="0">
              <a:spcAft>
                <a:spcPts val="400"/>
              </a:spcAft>
              <a:buNone/>
            </a:pPr>
            <a:r>
              <a:rPr lang="en-US" sz="1050" dirty="0">
                <a:solidFill>
                  <a:schemeClr val="tx1"/>
                </a:solidFill>
              </a:rPr>
              <a:t>importe total de nuestra factura de la luz.</a:t>
            </a:r>
            <a:endParaRPr lang="en-US" sz="1050" dirty="0"/>
          </a:p>
          <a:p>
            <a:pPr indent="0" marL="0">
              <a:spcAft>
                <a:spcPts val="400"/>
              </a:spcAft>
              <a:buNone/>
            </a:pPr>
            <a:r>
              <a:rPr lang="en-US" sz="1050" b="1" dirty="0">
                <a:solidFill>
                  <a:schemeClr val="accent2"/>
                </a:solidFill>
              </a:rPr>
              <a:t>Producto contratado: </a:t>
            </a:r>
            <a:pPr indent="0" marL="0">
              <a:spcAft>
                <a:spcPts val="400"/>
              </a:spcAft>
              <a:buNone/>
            </a:pPr>
            <a:r>
              <a:rPr lang="en-US" sz="1050" dirty="0">
                <a:solidFill>
                  <a:schemeClr val="tx1"/>
                </a:solidFill>
              </a:rPr>
              <a:t>nombre identificativo de la tarifa contratada.</a:t>
            </a:r>
            <a:endParaRPr lang="en-US" sz="1050" dirty="0"/>
          </a:p>
          <a:p>
            <a:pPr indent="0" marL="0">
              <a:spcAft>
                <a:spcPts val="400"/>
              </a:spcAft>
              <a:buNone/>
            </a:pPr>
            <a:r>
              <a:rPr lang="en-US" sz="1050" b="1" dirty="0">
                <a:solidFill>
                  <a:schemeClr val="accent2"/>
                </a:solidFill>
              </a:rPr>
              <a:t>Nº factura: </a:t>
            </a:r>
            <a:pPr indent="0" marL="0">
              <a:spcAft>
                <a:spcPts val="400"/>
              </a:spcAft>
              <a:buNone/>
            </a:pPr>
            <a:r>
              <a:rPr lang="en-US" sz="1050" dirty="0">
                <a:solidFill>
                  <a:schemeClr val="tx1"/>
                </a:solidFill>
              </a:rPr>
              <a:t>número de identificación de esta.</a:t>
            </a:r>
            <a:endParaRPr lang="en-US" sz="1050" dirty="0"/>
          </a:p>
          <a:p>
            <a:pPr indent="0" marL="0">
              <a:spcAft>
                <a:spcPts val="400"/>
              </a:spcAft>
              <a:buNone/>
            </a:pPr>
            <a:r>
              <a:rPr lang="en-US" sz="1050" b="1" dirty="0">
                <a:solidFill>
                  <a:schemeClr val="accent2"/>
                </a:solidFill>
              </a:rPr>
              <a:t>Referencia: </a:t>
            </a:r>
            <a:pPr indent="0" marL="0">
              <a:spcAft>
                <a:spcPts val="400"/>
              </a:spcAft>
              <a:buNone/>
            </a:pPr>
            <a:r>
              <a:rPr lang="en-US" sz="1050" dirty="0">
                <a:solidFill>
                  <a:schemeClr val="tx1"/>
                </a:solidFill>
              </a:rPr>
              <a:t>código de la factura, formado por dos códigos: el primero, el número de contrato, y el segundo, la secuencia correspondiente a la factura.</a:t>
            </a:r>
            <a:endParaRPr lang="en-US" sz="1050" dirty="0"/>
          </a:p>
          <a:p>
            <a:pPr indent="0" marL="0">
              <a:spcAft>
                <a:spcPts val="400"/>
              </a:spcAft>
              <a:buNone/>
            </a:pPr>
            <a:r>
              <a:rPr lang="en-US" sz="1050" b="1" dirty="0">
                <a:solidFill>
                  <a:schemeClr val="accent2"/>
                </a:solidFill>
              </a:rPr>
              <a:t>Fecha de emisión de la factura: </a:t>
            </a:r>
            <a:pPr indent="0" marL="0">
              <a:spcAft>
                <a:spcPts val="400"/>
              </a:spcAft>
              <a:buNone/>
            </a:pPr>
            <a:r>
              <a:rPr lang="en-US" sz="1050" dirty="0">
                <a:solidFill>
                  <a:schemeClr val="tx1"/>
                </a:solidFill>
              </a:rPr>
              <a:t>fecha en la que la compañía envía la factura.</a:t>
            </a:r>
            <a:endParaRPr lang="en-US" sz="1050" dirty="0"/>
          </a:p>
          <a:p>
            <a:pPr indent="0" marL="0">
              <a:spcAft>
                <a:spcPts val="400"/>
              </a:spcAft>
              <a:buNone/>
            </a:pPr>
            <a:r>
              <a:rPr lang="en-US" sz="1050" b="1" dirty="0">
                <a:solidFill>
                  <a:schemeClr val="accent2"/>
                </a:solidFill>
              </a:rPr>
              <a:t>Periodo de facturación: </a:t>
            </a:r>
            <a:pPr indent="0" marL="0">
              <a:spcAft>
                <a:spcPts val="400"/>
              </a:spcAft>
              <a:buNone/>
            </a:pPr>
            <a:r>
              <a:rPr lang="en-US" sz="1050" dirty="0">
                <a:solidFill>
                  <a:schemeClr val="tx1"/>
                </a:solidFill>
              </a:rPr>
              <a:t>intervalo de tiempo facturado. Suelen ser dos meses, dependiendo de la compañía.</a:t>
            </a:r>
            <a:endParaRPr lang="en-US" sz="105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claude-0/-home-user-mesenergiaes/5a011a92-143f-5232-b40a-c25f12780ce3/scratchpad/build/assets/logo-full.png">    </p:cNvPr>
          <p:cNvPicPr>
            <a:picLocks noChangeAspect="1"/>
          </p:cNvPicPr>
          <p:nvPr/>
        </p:nvPicPr>
        <p:blipFill>
          <a:blip r:embed="rId1"/>
          <a:stretch>
            <a:fillRect/>
          </a:stretch>
        </p:blipFill>
        <p:spPr>
          <a:xfrm>
            <a:off x="685800" y="502920"/>
            <a:ext cx="3639312" cy="1463040"/>
          </a:xfrm>
          <a:prstGeom prst="rect">
            <a:avLst/>
          </a:prstGeom>
        </p:spPr>
      </p:pic>
      <p:sp>
        <p:nvSpPr>
          <p:cNvPr id="3" name="Shape 0"/>
          <p:cNvSpPr/>
          <p:nvPr/>
        </p:nvSpPr>
        <p:spPr>
          <a:xfrm>
            <a:off x="8229600" y="3310128"/>
            <a:ext cx="3410712" cy="2697480"/>
          </a:xfrm>
          <a:prstGeom prst="rect">
            <a:avLst/>
          </a:prstGeom>
          <a:solidFill>
            <a:srgbClr val="FFFFFF"/>
          </a:solidFill>
          <a:ln/>
          <a:effectLst>
            <a:outerShdw sx="100000" sy="100000" kx="0" ky="0" algn="bl" rotWithShape="0" blurRad="101600" dist="25400" dir="5400000">
              <a:srgbClr val="1F3260">
                <a:alpha val="10000"/>
              </a:srgbClr>
            </a:outerShdw>
          </a:effectLst>
        </p:spPr>
      </p:sp>
      <p:pic>
        <p:nvPicPr>
          <p:cNvPr id="4" name="Image 1" descr="/tmp/claude-0/-home-user-mesenergiaes/5a011a92-143f-5232-b40a-c25f12780ce3/scratchpad/mu/ppt/media/image23.png">    </p:cNvPr>
          <p:cNvPicPr>
            <a:picLocks noChangeAspect="1"/>
          </p:cNvPicPr>
          <p:nvPr/>
        </p:nvPicPr>
        <p:blipFill>
          <a:blip r:embed="rId2"/>
          <a:srcRect l="0" r="0" t="0" b="0"/>
          <a:stretch/>
        </p:blipFill>
        <p:spPr>
          <a:xfrm>
            <a:off x="8293608" y="3374136"/>
            <a:ext cx="3282696" cy="2569464"/>
          </a:xfrm>
          <a:prstGeom prst="rect">
            <a:avLst/>
          </a:prstGeom>
        </p:spPr>
      </p:pic>
      <p:sp>
        <p:nvSpPr>
          <p:cNvPr id="5" name="Text 1"/>
          <p:cNvSpPr txBox="1"/>
          <p:nvPr/>
        </p:nvSpPr>
        <p:spPr>
          <a:xfrm>
            <a:off x="731520" y="3931920"/>
            <a:ext cx="7315200" cy="228600"/>
          </a:xfrm>
          <a:prstGeom prst="rect">
            <a:avLst/>
          </a:prstGeom>
          <a:noFill/>
          <a:ln/>
        </p:spPr>
        <p:txBody>
          <a:bodyPr wrap="square" lIns="0" tIns="0" rIns="0" bIns="0" rtlCol="0" anchor="ctr"/>
          <a:lstStyle/>
          <a:p>
            <a:pPr indent="0" marL="0">
              <a:buNone/>
            </a:pPr>
            <a:r>
              <a:rPr lang="en-US" sz="900" b="1" spc="200" kern="0" dirty="0">
                <a:solidFill>
                  <a:schemeClr val="accent5"/>
                </a:solidFill>
              </a:rPr>
              <a:t>CAPÍTULOS 12 – 15</a:t>
            </a:r>
            <a:endParaRPr lang="en-US" sz="900" dirty="0"/>
          </a:p>
        </p:txBody>
      </p:sp>
      <p:sp>
        <p:nvSpPr>
          <p:cNvPr id="6" name="Text 2"/>
          <p:cNvSpPr txBox="1"/>
          <p:nvPr/>
        </p:nvSpPr>
        <p:spPr>
          <a:xfrm>
            <a:off x="731520" y="4224528"/>
            <a:ext cx="8229600" cy="1188720"/>
          </a:xfrm>
          <a:prstGeom prst="rect">
            <a:avLst/>
          </a:prstGeom>
          <a:noFill/>
          <a:ln/>
        </p:spPr>
        <p:txBody>
          <a:bodyPr wrap="square" lIns="0" tIns="0" rIns="0" bIns="0" rtlCol="0" anchor="t"/>
          <a:lstStyle/>
          <a:p>
            <a:pPr indent="0" marL="0">
              <a:lnSpc>
                <a:spcPct val="92000"/>
              </a:lnSpc>
              <a:buNone/>
            </a:pPr>
            <a:r>
              <a:rPr lang="en-US" sz="4000" b="1" dirty="0">
                <a:solidFill>
                  <a:schemeClr val="bg1"/>
                </a:solidFill>
              </a:rPr>
              <a:t>Pasos básicos para</a:t>
            </a:r>
            <a:endParaRPr lang="en-US" sz="4000" dirty="0"/>
          </a:p>
          <a:p>
            <a:pPr indent="0" marL="0">
              <a:lnSpc>
                <a:spcPct val="92000"/>
              </a:lnSpc>
              <a:buNone/>
            </a:pPr>
            <a:r>
              <a:rPr lang="en-US" sz="4000" b="1" dirty="0">
                <a:solidFill>
                  <a:schemeClr val="bg1"/>
                </a:solidFill>
              </a:rPr>
              <a:t>ser un buen asesor</a:t>
            </a:r>
            <a:endParaRPr lang="en-US" sz="4000" dirty="0"/>
          </a:p>
        </p:txBody>
      </p:sp>
      <p:sp>
        <p:nvSpPr>
          <p:cNvPr id="7" name="Text 3"/>
          <p:cNvSpPr txBox="1"/>
          <p:nvPr/>
        </p:nvSpPr>
        <p:spPr>
          <a:xfrm>
            <a:off x="731520" y="5559552"/>
            <a:ext cx="7132320" cy="457200"/>
          </a:xfrm>
          <a:prstGeom prst="rect">
            <a:avLst/>
          </a:prstGeom>
          <a:noFill/>
          <a:ln/>
        </p:spPr>
        <p:txBody>
          <a:bodyPr wrap="square" lIns="0" tIns="0" rIns="0" bIns="0" rtlCol="0" anchor="t"/>
          <a:lstStyle/>
          <a:p>
            <a:pPr indent="0" marL="0">
              <a:buNone/>
            </a:pPr>
            <a:r>
              <a:rPr lang="en-US" sz="1250" dirty="0">
                <a:solidFill>
                  <a:srgbClr val="DCE4F2"/>
                </a:solidFill>
              </a:rPr>
              <a:t>Guía de conductas y buenas prácticas, consejos antes de concertar una visita, speech comercial y gestión del tiempo.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Guía de conductas y buenas prácticas</a:t>
            </a:r>
            <a:endParaRPr lang="en-US" sz="2600" dirty="0"/>
          </a:p>
        </p:txBody>
      </p:sp>
      <p:sp>
        <p:nvSpPr>
          <p:cNvPr id="5" name="Shape 3"/>
          <p:cNvSpPr/>
          <p:nvPr/>
        </p:nvSpPr>
        <p:spPr>
          <a:xfrm>
            <a:off x="548640" y="1664208"/>
            <a:ext cx="3576218" cy="1051560"/>
          </a:xfrm>
          <a:prstGeom prst="roundRect">
            <a:avLst>
              <a:gd name="adj" fmla="val 8696"/>
            </a:avLst>
          </a:prstGeom>
          <a:solidFill>
            <a:srgbClr val="F4F6F9"/>
          </a:solidFill>
          <a:ln/>
        </p:spPr>
      </p:sp>
      <p:sp>
        <p:nvSpPr>
          <p:cNvPr id="6" name="Shape 4"/>
          <p:cNvSpPr/>
          <p:nvPr/>
        </p:nvSpPr>
        <p:spPr>
          <a:xfrm>
            <a:off x="685800" y="1801368"/>
            <a:ext cx="347472" cy="347472"/>
          </a:xfrm>
          <a:prstGeom prst="ellipse">
            <a:avLst/>
          </a:prstGeom>
          <a:solidFill>
            <a:srgbClr val="FFFFFF"/>
          </a:solidFill>
          <a:ln w="15875">
            <a:solidFill>
              <a:schemeClr val="accent1"/>
            </a:solidFill>
            <a:prstDash val="solid"/>
          </a:ln>
        </p:spPr>
      </p:sp>
      <p:sp>
        <p:nvSpPr>
          <p:cNvPr id="7" name="Text 5"/>
          <p:cNvSpPr txBox="1"/>
          <p:nvPr/>
        </p:nvSpPr>
        <p:spPr>
          <a:xfrm>
            <a:off x="685800" y="1801368"/>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8" name="Text 6"/>
          <p:cNvSpPr txBox="1"/>
          <p:nvPr/>
        </p:nvSpPr>
        <p:spPr>
          <a:xfrm>
            <a:off x="1143000" y="1755648"/>
            <a:ext cx="2844698" cy="868680"/>
          </a:xfrm>
          <a:prstGeom prst="rect">
            <a:avLst/>
          </a:prstGeom>
          <a:noFill/>
          <a:ln/>
        </p:spPr>
        <p:txBody>
          <a:bodyPr wrap="square" lIns="0" tIns="0" rIns="0" bIns="0" rtlCol="0" anchor="ctr"/>
          <a:lstStyle/>
          <a:p>
            <a:pPr indent="0" marL="0">
              <a:buNone/>
            </a:pPr>
            <a:r>
              <a:rPr lang="en-US" sz="1050" dirty="0">
                <a:solidFill>
                  <a:schemeClr val="tx1"/>
                </a:solidFill>
              </a:rPr>
              <a:t>Es recomendable </a:t>
            </a:r>
            <a:pPr indent="0" marL="0">
              <a:buNone/>
            </a:pPr>
            <a:r>
              <a:rPr lang="en-US" sz="1050" b="1" dirty="0">
                <a:solidFill>
                  <a:schemeClr val="tx1"/>
                </a:solidFill>
              </a:rPr>
              <a:t>llegar con 10 minutos de antelación</a:t>
            </a:r>
            <a:pPr indent="0" marL="0">
              <a:buNone/>
            </a:pPr>
            <a:r>
              <a:rPr lang="en-US" sz="1050" dirty="0">
                <a:solidFill>
                  <a:schemeClr val="tx1"/>
                </a:solidFill>
              </a:rPr>
              <a:t> para poder prepararlo todo (ordenador, programas, sistema, limpiar la mesa) y empezar el día con todo recogido.</a:t>
            </a:r>
            <a:endParaRPr lang="en-US" sz="1050" dirty="0"/>
          </a:p>
        </p:txBody>
      </p:sp>
      <p:sp>
        <p:nvSpPr>
          <p:cNvPr id="9" name="Shape 7"/>
          <p:cNvSpPr/>
          <p:nvPr/>
        </p:nvSpPr>
        <p:spPr>
          <a:xfrm>
            <a:off x="4307738" y="1664208"/>
            <a:ext cx="3576218" cy="1051560"/>
          </a:xfrm>
          <a:prstGeom prst="roundRect">
            <a:avLst>
              <a:gd name="adj" fmla="val 8696"/>
            </a:avLst>
          </a:prstGeom>
          <a:solidFill>
            <a:srgbClr val="F4F6F9"/>
          </a:solidFill>
          <a:ln/>
        </p:spPr>
      </p:sp>
      <p:sp>
        <p:nvSpPr>
          <p:cNvPr id="10" name="Shape 8"/>
          <p:cNvSpPr/>
          <p:nvPr/>
        </p:nvSpPr>
        <p:spPr>
          <a:xfrm>
            <a:off x="4444898" y="1801368"/>
            <a:ext cx="347472" cy="347472"/>
          </a:xfrm>
          <a:prstGeom prst="ellipse">
            <a:avLst/>
          </a:prstGeom>
          <a:solidFill>
            <a:srgbClr val="FFFFFF"/>
          </a:solidFill>
          <a:ln w="15875">
            <a:solidFill>
              <a:schemeClr val="accent1"/>
            </a:solidFill>
            <a:prstDash val="solid"/>
          </a:ln>
        </p:spPr>
      </p:sp>
      <p:sp>
        <p:nvSpPr>
          <p:cNvPr id="11" name="Text 9"/>
          <p:cNvSpPr txBox="1"/>
          <p:nvPr/>
        </p:nvSpPr>
        <p:spPr>
          <a:xfrm>
            <a:off x="4444898" y="1801368"/>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12" name="Text 10"/>
          <p:cNvSpPr txBox="1"/>
          <p:nvPr/>
        </p:nvSpPr>
        <p:spPr>
          <a:xfrm>
            <a:off x="4902098" y="1755648"/>
            <a:ext cx="2844698" cy="868680"/>
          </a:xfrm>
          <a:prstGeom prst="rect">
            <a:avLst/>
          </a:prstGeom>
          <a:noFill/>
          <a:ln/>
        </p:spPr>
        <p:txBody>
          <a:bodyPr wrap="square" lIns="0" tIns="0" rIns="0" bIns="0" rtlCol="0" anchor="ctr"/>
          <a:lstStyle/>
          <a:p>
            <a:pPr indent="0" marL="0">
              <a:buNone/>
            </a:pPr>
            <a:r>
              <a:rPr lang="en-US" sz="1050" dirty="0">
                <a:solidFill>
                  <a:schemeClr val="tx1"/>
                </a:solidFill>
              </a:rPr>
              <a:t>Es muy importante dejar los problemas personales atados y entrar a trabajar con una </a:t>
            </a:r>
            <a:pPr indent="0" marL="0">
              <a:buNone/>
            </a:pPr>
            <a:r>
              <a:rPr lang="en-US" sz="1050" b="1" dirty="0">
                <a:solidFill>
                  <a:schemeClr val="tx1"/>
                </a:solidFill>
              </a:rPr>
              <a:t>actitud positiva</a:t>
            </a:r>
            <a:pPr indent="0" marL="0">
              <a:buNone/>
            </a:pPr>
            <a:r>
              <a:rPr lang="en-US" sz="1050" dirty="0">
                <a:solidFill>
                  <a:schemeClr val="tx1"/>
                </a:solidFill>
              </a:rPr>
              <a:t>, para que nada del exterior influya en tu día de trabajo.</a:t>
            </a:r>
            <a:endParaRPr lang="en-US" sz="1050" dirty="0"/>
          </a:p>
        </p:txBody>
      </p:sp>
      <p:sp>
        <p:nvSpPr>
          <p:cNvPr id="13" name="Shape 11"/>
          <p:cNvSpPr/>
          <p:nvPr/>
        </p:nvSpPr>
        <p:spPr>
          <a:xfrm>
            <a:off x="8066837" y="1664208"/>
            <a:ext cx="3576218" cy="1051560"/>
          </a:xfrm>
          <a:prstGeom prst="roundRect">
            <a:avLst>
              <a:gd name="adj" fmla="val 8696"/>
            </a:avLst>
          </a:prstGeom>
          <a:solidFill>
            <a:srgbClr val="F4F6F9"/>
          </a:solidFill>
          <a:ln/>
        </p:spPr>
      </p:sp>
      <p:sp>
        <p:nvSpPr>
          <p:cNvPr id="14" name="Shape 12"/>
          <p:cNvSpPr/>
          <p:nvPr/>
        </p:nvSpPr>
        <p:spPr>
          <a:xfrm>
            <a:off x="8203997" y="1801368"/>
            <a:ext cx="347472" cy="347472"/>
          </a:xfrm>
          <a:prstGeom prst="ellipse">
            <a:avLst/>
          </a:prstGeom>
          <a:solidFill>
            <a:srgbClr val="FFFFFF"/>
          </a:solidFill>
          <a:ln w="15875">
            <a:solidFill>
              <a:schemeClr val="accent1"/>
            </a:solidFill>
            <a:prstDash val="solid"/>
          </a:ln>
        </p:spPr>
      </p:sp>
      <p:sp>
        <p:nvSpPr>
          <p:cNvPr id="15" name="Text 13"/>
          <p:cNvSpPr txBox="1"/>
          <p:nvPr/>
        </p:nvSpPr>
        <p:spPr>
          <a:xfrm>
            <a:off x="8203997" y="1801368"/>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16" name="Text 14"/>
          <p:cNvSpPr txBox="1"/>
          <p:nvPr/>
        </p:nvSpPr>
        <p:spPr>
          <a:xfrm>
            <a:off x="8661197" y="1755648"/>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Evitar distracciones</a:t>
            </a:r>
            <a:pPr indent="0" marL="0">
              <a:buNone/>
            </a:pPr>
            <a:r>
              <a:rPr lang="en-US" sz="1050" dirty="0">
                <a:solidFill>
                  <a:schemeClr val="tx1"/>
                </a:solidFill>
              </a:rPr>
              <a:t> como programas que no tengan nada que ver con el sistema, música u otros: reducirán tu capacidad de concentración en las llamadas.</a:t>
            </a:r>
            <a:endParaRPr lang="en-US" sz="1050" dirty="0"/>
          </a:p>
        </p:txBody>
      </p:sp>
      <p:sp>
        <p:nvSpPr>
          <p:cNvPr id="17" name="Shape 15"/>
          <p:cNvSpPr/>
          <p:nvPr/>
        </p:nvSpPr>
        <p:spPr>
          <a:xfrm>
            <a:off x="548640" y="2825496"/>
            <a:ext cx="3576218" cy="1051560"/>
          </a:xfrm>
          <a:prstGeom prst="roundRect">
            <a:avLst>
              <a:gd name="adj" fmla="val 8696"/>
            </a:avLst>
          </a:prstGeom>
          <a:solidFill>
            <a:srgbClr val="F4F6F9"/>
          </a:solidFill>
          <a:ln/>
        </p:spPr>
      </p:sp>
      <p:sp>
        <p:nvSpPr>
          <p:cNvPr id="18" name="Shape 16"/>
          <p:cNvSpPr/>
          <p:nvPr/>
        </p:nvSpPr>
        <p:spPr>
          <a:xfrm>
            <a:off x="685800" y="2962656"/>
            <a:ext cx="347472" cy="347472"/>
          </a:xfrm>
          <a:prstGeom prst="ellipse">
            <a:avLst/>
          </a:prstGeom>
          <a:solidFill>
            <a:srgbClr val="FFFFFF"/>
          </a:solidFill>
          <a:ln w="15875">
            <a:solidFill>
              <a:schemeClr val="accent1"/>
            </a:solidFill>
            <a:prstDash val="solid"/>
          </a:ln>
        </p:spPr>
      </p:sp>
      <p:sp>
        <p:nvSpPr>
          <p:cNvPr id="19" name="Text 17"/>
          <p:cNvSpPr txBox="1"/>
          <p:nvPr/>
        </p:nvSpPr>
        <p:spPr>
          <a:xfrm>
            <a:off x="685800" y="2962656"/>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4</a:t>
            </a:r>
            <a:endParaRPr lang="en-US" sz="1100" dirty="0"/>
          </a:p>
        </p:txBody>
      </p:sp>
      <p:sp>
        <p:nvSpPr>
          <p:cNvPr id="20" name="Text 18"/>
          <p:cNvSpPr txBox="1"/>
          <p:nvPr/>
        </p:nvSpPr>
        <p:spPr>
          <a:xfrm>
            <a:off x="1143000" y="2916936"/>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Hacer pausas cada dos horas</a:t>
            </a:r>
            <a:pPr indent="0" marL="0">
              <a:buNone/>
            </a:pPr>
            <a:r>
              <a:rPr lang="en-US" sz="1050" dirty="0">
                <a:solidFill>
                  <a:schemeClr val="tx1"/>
                </a:solidFill>
              </a:rPr>
              <a:t> de llamadas ayuda a que el cerebro descanse de 5 a 10 minutos, para que en el siguiente bloque seas más efectivo.</a:t>
            </a:r>
            <a:endParaRPr lang="en-US" sz="1050" dirty="0"/>
          </a:p>
        </p:txBody>
      </p:sp>
      <p:sp>
        <p:nvSpPr>
          <p:cNvPr id="21" name="Shape 19"/>
          <p:cNvSpPr/>
          <p:nvPr/>
        </p:nvSpPr>
        <p:spPr>
          <a:xfrm>
            <a:off x="4307738" y="2825496"/>
            <a:ext cx="3576218" cy="1051560"/>
          </a:xfrm>
          <a:prstGeom prst="roundRect">
            <a:avLst>
              <a:gd name="adj" fmla="val 8696"/>
            </a:avLst>
          </a:prstGeom>
          <a:solidFill>
            <a:srgbClr val="F4F6F9"/>
          </a:solidFill>
          <a:ln/>
        </p:spPr>
      </p:sp>
      <p:sp>
        <p:nvSpPr>
          <p:cNvPr id="22" name="Shape 20"/>
          <p:cNvSpPr/>
          <p:nvPr/>
        </p:nvSpPr>
        <p:spPr>
          <a:xfrm>
            <a:off x="4444898" y="2962656"/>
            <a:ext cx="347472" cy="347472"/>
          </a:xfrm>
          <a:prstGeom prst="ellipse">
            <a:avLst/>
          </a:prstGeom>
          <a:solidFill>
            <a:srgbClr val="FFFFFF"/>
          </a:solidFill>
          <a:ln w="15875">
            <a:solidFill>
              <a:schemeClr val="accent1"/>
            </a:solidFill>
            <a:prstDash val="solid"/>
          </a:ln>
        </p:spPr>
      </p:sp>
      <p:sp>
        <p:nvSpPr>
          <p:cNvPr id="23" name="Text 21"/>
          <p:cNvSpPr txBox="1"/>
          <p:nvPr/>
        </p:nvSpPr>
        <p:spPr>
          <a:xfrm>
            <a:off x="4444898" y="2962656"/>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5</a:t>
            </a:r>
            <a:endParaRPr lang="en-US" sz="1100" dirty="0"/>
          </a:p>
        </p:txBody>
      </p:sp>
      <p:sp>
        <p:nvSpPr>
          <p:cNvPr id="24" name="Text 22"/>
          <p:cNvSpPr txBox="1"/>
          <p:nvPr/>
        </p:nvSpPr>
        <p:spPr>
          <a:xfrm>
            <a:off x="4902098" y="2916936"/>
            <a:ext cx="2844698" cy="868680"/>
          </a:xfrm>
          <a:prstGeom prst="rect">
            <a:avLst/>
          </a:prstGeom>
          <a:noFill/>
          <a:ln/>
        </p:spPr>
        <p:txBody>
          <a:bodyPr wrap="square" lIns="0" tIns="0" rIns="0" bIns="0" rtlCol="0" anchor="ctr"/>
          <a:lstStyle/>
          <a:p>
            <a:pPr indent="0" marL="0">
              <a:buNone/>
            </a:pPr>
            <a:r>
              <a:rPr lang="en-US" sz="1050" dirty="0">
                <a:solidFill>
                  <a:schemeClr val="tx1"/>
                </a:solidFill>
              </a:rPr>
              <a:t>Es recomendable tener siempre </a:t>
            </a:r>
            <a:pPr indent="0" marL="0">
              <a:buNone/>
            </a:pPr>
            <a:r>
              <a:rPr lang="en-US" sz="1050" b="1" dirty="0">
                <a:solidFill>
                  <a:schemeClr val="tx1"/>
                </a:solidFill>
              </a:rPr>
              <a:t>agua cerca</a:t>
            </a:r>
            <a:pPr indent="0" marL="0">
              <a:buNone/>
            </a:pPr>
            <a:r>
              <a:rPr lang="en-US" sz="1050" dirty="0">
                <a:solidFill>
                  <a:schemeClr val="tx1"/>
                </a:solidFill>
              </a:rPr>
              <a:t> para ir afinando la garganta.</a:t>
            </a:r>
            <a:endParaRPr lang="en-US" sz="1050" dirty="0"/>
          </a:p>
        </p:txBody>
      </p:sp>
      <p:sp>
        <p:nvSpPr>
          <p:cNvPr id="25" name="Shape 23"/>
          <p:cNvSpPr/>
          <p:nvPr/>
        </p:nvSpPr>
        <p:spPr>
          <a:xfrm>
            <a:off x="8066837" y="2825496"/>
            <a:ext cx="3576218" cy="1051560"/>
          </a:xfrm>
          <a:prstGeom prst="roundRect">
            <a:avLst>
              <a:gd name="adj" fmla="val 8696"/>
            </a:avLst>
          </a:prstGeom>
          <a:solidFill>
            <a:srgbClr val="F4F6F9"/>
          </a:solidFill>
          <a:ln/>
        </p:spPr>
      </p:sp>
      <p:sp>
        <p:nvSpPr>
          <p:cNvPr id="26" name="Shape 24"/>
          <p:cNvSpPr/>
          <p:nvPr/>
        </p:nvSpPr>
        <p:spPr>
          <a:xfrm>
            <a:off x="8203997" y="2962656"/>
            <a:ext cx="347472" cy="347472"/>
          </a:xfrm>
          <a:prstGeom prst="ellipse">
            <a:avLst/>
          </a:prstGeom>
          <a:solidFill>
            <a:srgbClr val="FFFFFF"/>
          </a:solidFill>
          <a:ln w="15875">
            <a:solidFill>
              <a:schemeClr val="accent1"/>
            </a:solidFill>
            <a:prstDash val="solid"/>
          </a:ln>
        </p:spPr>
      </p:sp>
      <p:sp>
        <p:nvSpPr>
          <p:cNvPr id="27" name="Text 25"/>
          <p:cNvSpPr txBox="1"/>
          <p:nvPr/>
        </p:nvSpPr>
        <p:spPr>
          <a:xfrm>
            <a:off x="8203997" y="2962656"/>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6</a:t>
            </a:r>
            <a:endParaRPr lang="en-US" sz="1100" dirty="0"/>
          </a:p>
        </p:txBody>
      </p:sp>
      <p:sp>
        <p:nvSpPr>
          <p:cNvPr id="28" name="Text 26"/>
          <p:cNvSpPr txBox="1"/>
          <p:nvPr/>
        </p:nvSpPr>
        <p:spPr>
          <a:xfrm>
            <a:off x="8661197" y="2916936"/>
            <a:ext cx="2844698" cy="868680"/>
          </a:xfrm>
          <a:prstGeom prst="rect">
            <a:avLst/>
          </a:prstGeom>
          <a:noFill/>
          <a:ln/>
        </p:spPr>
        <p:txBody>
          <a:bodyPr wrap="square" lIns="0" tIns="0" rIns="0" bIns="0" rtlCol="0" anchor="ctr"/>
          <a:lstStyle/>
          <a:p>
            <a:pPr indent="0" marL="0">
              <a:buNone/>
            </a:pPr>
            <a:r>
              <a:rPr lang="en-US" sz="1050" dirty="0">
                <a:solidFill>
                  <a:schemeClr val="tx1"/>
                </a:solidFill>
              </a:rPr>
              <a:t>Para una buena gestión del tiempo, utiliza el </a:t>
            </a:r>
            <a:pPr indent="0" marL="0">
              <a:buNone/>
            </a:pPr>
            <a:r>
              <a:rPr lang="en-US" sz="1050" b="1" dirty="0">
                <a:solidFill>
                  <a:schemeClr val="tx1"/>
                </a:solidFill>
              </a:rPr>
              <a:t>método de trabajo correcto</a:t>
            </a:r>
            <a:pPr indent="0" marL="0">
              <a:buNone/>
            </a:pPr>
            <a:r>
              <a:rPr lang="en-US" sz="1050" dirty="0">
                <a:solidFill>
                  <a:schemeClr val="tx1"/>
                </a:solidFill>
              </a:rPr>
              <a:t> para llegar a todas tus llamadas, concertar las visitas y cerrar todas tus ventas.</a:t>
            </a:r>
            <a:endParaRPr lang="en-US" sz="1050" dirty="0"/>
          </a:p>
        </p:txBody>
      </p:sp>
      <p:sp>
        <p:nvSpPr>
          <p:cNvPr id="29" name="Shape 27"/>
          <p:cNvSpPr/>
          <p:nvPr/>
        </p:nvSpPr>
        <p:spPr>
          <a:xfrm>
            <a:off x="548640" y="3986784"/>
            <a:ext cx="3576218" cy="1051560"/>
          </a:xfrm>
          <a:prstGeom prst="roundRect">
            <a:avLst>
              <a:gd name="adj" fmla="val 8696"/>
            </a:avLst>
          </a:prstGeom>
          <a:solidFill>
            <a:srgbClr val="F4F6F9"/>
          </a:solidFill>
          <a:ln/>
        </p:spPr>
      </p:sp>
      <p:sp>
        <p:nvSpPr>
          <p:cNvPr id="30" name="Shape 28"/>
          <p:cNvSpPr/>
          <p:nvPr/>
        </p:nvSpPr>
        <p:spPr>
          <a:xfrm>
            <a:off x="685800" y="4123944"/>
            <a:ext cx="347472" cy="347472"/>
          </a:xfrm>
          <a:prstGeom prst="ellipse">
            <a:avLst/>
          </a:prstGeom>
          <a:solidFill>
            <a:srgbClr val="FFFFFF"/>
          </a:solidFill>
          <a:ln w="15875">
            <a:solidFill>
              <a:schemeClr val="accent1"/>
            </a:solidFill>
            <a:prstDash val="solid"/>
          </a:ln>
        </p:spPr>
      </p:sp>
      <p:sp>
        <p:nvSpPr>
          <p:cNvPr id="31" name="Text 29"/>
          <p:cNvSpPr txBox="1"/>
          <p:nvPr/>
        </p:nvSpPr>
        <p:spPr>
          <a:xfrm>
            <a:off x="685800" y="4123944"/>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7</a:t>
            </a:r>
            <a:endParaRPr lang="en-US" sz="1100" dirty="0"/>
          </a:p>
        </p:txBody>
      </p:sp>
      <p:sp>
        <p:nvSpPr>
          <p:cNvPr id="32" name="Text 30"/>
          <p:cNvSpPr txBox="1"/>
          <p:nvPr/>
        </p:nvSpPr>
        <p:spPr>
          <a:xfrm>
            <a:off x="1143000" y="4078224"/>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Levántate</a:t>
            </a:r>
            <a:pPr indent="0" marL="0">
              <a:buNone/>
            </a:pPr>
            <a:r>
              <a:rPr lang="en-US" sz="1050" dirty="0">
                <a:solidFill>
                  <a:schemeClr val="tx1"/>
                </a:solidFill>
              </a:rPr>
              <a:t> para hablar con tus clientes, </a:t>
            </a:r>
            <a:pPr indent="0" marL="0">
              <a:buNone/>
            </a:pPr>
            <a:r>
              <a:rPr lang="en-US" sz="1050" b="1" dirty="0">
                <a:solidFill>
                  <a:schemeClr val="tx1"/>
                </a:solidFill>
              </a:rPr>
              <a:t>sonríe</a:t>
            </a:r>
            <a:pPr indent="0" marL="0">
              <a:buNone/>
            </a:pPr>
            <a:r>
              <a:rPr lang="en-US" sz="1050" dirty="0">
                <a:solidFill>
                  <a:schemeClr val="tx1"/>
                </a:solidFill>
              </a:rPr>
              <a:t> mientras hablas, sé educado y profesional.</a:t>
            </a:r>
            <a:endParaRPr lang="en-US" sz="1050" dirty="0"/>
          </a:p>
        </p:txBody>
      </p:sp>
      <p:sp>
        <p:nvSpPr>
          <p:cNvPr id="33" name="Shape 31"/>
          <p:cNvSpPr/>
          <p:nvPr/>
        </p:nvSpPr>
        <p:spPr>
          <a:xfrm>
            <a:off x="4307738" y="3986784"/>
            <a:ext cx="3576218" cy="1051560"/>
          </a:xfrm>
          <a:prstGeom prst="roundRect">
            <a:avLst>
              <a:gd name="adj" fmla="val 8696"/>
            </a:avLst>
          </a:prstGeom>
          <a:solidFill>
            <a:srgbClr val="F4F6F9"/>
          </a:solidFill>
          <a:ln/>
        </p:spPr>
      </p:sp>
      <p:sp>
        <p:nvSpPr>
          <p:cNvPr id="34" name="Shape 32"/>
          <p:cNvSpPr/>
          <p:nvPr/>
        </p:nvSpPr>
        <p:spPr>
          <a:xfrm>
            <a:off x="4444898" y="4123944"/>
            <a:ext cx="347472" cy="347472"/>
          </a:xfrm>
          <a:prstGeom prst="ellipse">
            <a:avLst/>
          </a:prstGeom>
          <a:solidFill>
            <a:srgbClr val="FFFFFF"/>
          </a:solidFill>
          <a:ln w="15875">
            <a:solidFill>
              <a:schemeClr val="accent1"/>
            </a:solidFill>
            <a:prstDash val="solid"/>
          </a:ln>
        </p:spPr>
      </p:sp>
      <p:sp>
        <p:nvSpPr>
          <p:cNvPr id="35" name="Text 33"/>
          <p:cNvSpPr txBox="1"/>
          <p:nvPr/>
        </p:nvSpPr>
        <p:spPr>
          <a:xfrm>
            <a:off x="4444898" y="4123944"/>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8</a:t>
            </a:r>
            <a:endParaRPr lang="en-US" sz="1100" dirty="0"/>
          </a:p>
        </p:txBody>
      </p:sp>
      <p:sp>
        <p:nvSpPr>
          <p:cNvPr id="36" name="Text 34"/>
          <p:cNvSpPr txBox="1"/>
          <p:nvPr/>
        </p:nvSpPr>
        <p:spPr>
          <a:xfrm>
            <a:off x="4902098" y="4078224"/>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Evita conflictos</a:t>
            </a:r>
            <a:pPr indent="0" marL="0">
              <a:buNone/>
            </a:pPr>
            <a:r>
              <a:rPr lang="en-US" sz="1050" dirty="0">
                <a:solidFill>
                  <a:schemeClr val="tx1"/>
                </a:solidFill>
              </a:rPr>
              <a:t> con los clientes: si hay algo que no entiendes o necesitas apoyo, simplemente pide ayuda.</a:t>
            </a:r>
            <a:endParaRPr lang="en-US" sz="1050" dirty="0"/>
          </a:p>
        </p:txBody>
      </p:sp>
      <p:sp>
        <p:nvSpPr>
          <p:cNvPr id="37" name="Shape 35"/>
          <p:cNvSpPr/>
          <p:nvPr/>
        </p:nvSpPr>
        <p:spPr>
          <a:xfrm>
            <a:off x="8066837" y="3986784"/>
            <a:ext cx="3576218" cy="1051560"/>
          </a:xfrm>
          <a:prstGeom prst="roundRect">
            <a:avLst>
              <a:gd name="adj" fmla="val 8696"/>
            </a:avLst>
          </a:prstGeom>
          <a:solidFill>
            <a:srgbClr val="F4F6F9"/>
          </a:solidFill>
          <a:ln/>
        </p:spPr>
      </p:sp>
      <p:sp>
        <p:nvSpPr>
          <p:cNvPr id="38" name="Shape 36"/>
          <p:cNvSpPr/>
          <p:nvPr/>
        </p:nvSpPr>
        <p:spPr>
          <a:xfrm>
            <a:off x="8203997" y="4123944"/>
            <a:ext cx="347472" cy="347472"/>
          </a:xfrm>
          <a:prstGeom prst="ellipse">
            <a:avLst/>
          </a:prstGeom>
          <a:solidFill>
            <a:srgbClr val="FFFFFF"/>
          </a:solidFill>
          <a:ln w="15875">
            <a:solidFill>
              <a:schemeClr val="accent1"/>
            </a:solidFill>
            <a:prstDash val="solid"/>
          </a:ln>
        </p:spPr>
      </p:sp>
      <p:sp>
        <p:nvSpPr>
          <p:cNvPr id="39" name="Text 37"/>
          <p:cNvSpPr txBox="1"/>
          <p:nvPr/>
        </p:nvSpPr>
        <p:spPr>
          <a:xfrm>
            <a:off x="8203997" y="4123944"/>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9</a:t>
            </a:r>
            <a:endParaRPr lang="en-US" sz="1100" dirty="0"/>
          </a:p>
        </p:txBody>
      </p:sp>
      <p:sp>
        <p:nvSpPr>
          <p:cNvPr id="40" name="Text 38"/>
          <p:cNvSpPr txBox="1"/>
          <p:nvPr/>
        </p:nvSpPr>
        <p:spPr>
          <a:xfrm>
            <a:off x="8661197" y="4078224"/>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Sé exigente contigo mismo:</a:t>
            </a:r>
            <a:pPr indent="0" marL="0">
              <a:buNone/>
            </a:pPr>
            <a:r>
              <a:rPr lang="en-US" sz="1050" dirty="0">
                <a:solidFill>
                  <a:schemeClr val="tx1"/>
                </a:solidFill>
              </a:rPr>
              <a:t> márcate un objetivo diario, semanal y mensual.</a:t>
            </a:r>
            <a:endParaRPr lang="en-US" sz="1050" dirty="0"/>
          </a:p>
        </p:txBody>
      </p:sp>
      <p:sp>
        <p:nvSpPr>
          <p:cNvPr id="41" name="Shape 39"/>
          <p:cNvSpPr/>
          <p:nvPr/>
        </p:nvSpPr>
        <p:spPr>
          <a:xfrm>
            <a:off x="548640" y="5148072"/>
            <a:ext cx="3576218" cy="1051560"/>
          </a:xfrm>
          <a:prstGeom prst="roundRect">
            <a:avLst>
              <a:gd name="adj" fmla="val 8696"/>
            </a:avLst>
          </a:prstGeom>
          <a:solidFill>
            <a:srgbClr val="F4F6F9"/>
          </a:solidFill>
          <a:ln/>
        </p:spPr>
      </p:sp>
      <p:sp>
        <p:nvSpPr>
          <p:cNvPr id="42" name="Shape 40"/>
          <p:cNvSpPr/>
          <p:nvPr/>
        </p:nvSpPr>
        <p:spPr>
          <a:xfrm>
            <a:off x="685800" y="5285232"/>
            <a:ext cx="347472" cy="347472"/>
          </a:xfrm>
          <a:prstGeom prst="ellipse">
            <a:avLst/>
          </a:prstGeom>
          <a:solidFill>
            <a:srgbClr val="FFFFFF"/>
          </a:solidFill>
          <a:ln w="15875">
            <a:solidFill>
              <a:schemeClr val="accent1"/>
            </a:solidFill>
            <a:prstDash val="solid"/>
          </a:ln>
        </p:spPr>
      </p:sp>
      <p:sp>
        <p:nvSpPr>
          <p:cNvPr id="43" name="Text 41"/>
          <p:cNvSpPr txBox="1"/>
          <p:nvPr/>
        </p:nvSpPr>
        <p:spPr>
          <a:xfrm>
            <a:off x="685800" y="5285232"/>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10</a:t>
            </a:r>
            <a:endParaRPr lang="en-US" sz="1100" dirty="0"/>
          </a:p>
        </p:txBody>
      </p:sp>
      <p:sp>
        <p:nvSpPr>
          <p:cNvPr id="44" name="Text 42"/>
          <p:cNvSpPr txBox="1"/>
          <p:nvPr/>
        </p:nvSpPr>
        <p:spPr>
          <a:xfrm>
            <a:off x="1143000" y="5239512"/>
            <a:ext cx="2844698" cy="868680"/>
          </a:xfrm>
          <a:prstGeom prst="rect">
            <a:avLst/>
          </a:prstGeom>
          <a:noFill/>
          <a:ln/>
        </p:spPr>
        <p:txBody>
          <a:bodyPr wrap="square" lIns="0" tIns="0" rIns="0" bIns="0" rtlCol="0" anchor="ctr"/>
          <a:lstStyle/>
          <a:p>
            <a:pPr indent="0" marL="0">
              <a:buNone/>
            </a:pPr>
            <a:r>
              <a:rPr lang="en-US" sz="1050" b="1" dirty="0">
                <a:solidFill>
                  <a:schemeClr val="tx1"/>
                </a:solidFill>
              </a:rPr>
              <a:t>Prepárate el día siguiente antes de irte:</a:t>
            </a:r>
            <a:pPr indent="0" marL="0">
              <a:buNone/>
            </a:pPr>
            <a:r>
              <a:rPr lang="en-US" sz="1050" dirty="0">
                <a:solidFill>
                  <a:schemeClr val="tx1"/>
                </a:solidFill>
              </a:rPr>
              <a:t> hazte una lista de clientes con colores para detectar tus mejores presupuestos y potenciales.</a:t>
            </a:r>
            <a:endParaRPr lang="en-US" sz="1050" dirty="0"/>
          </a:p>
        </p:txBody>
      </p:sp>
      <p:sp>
        <p:nvSpPr>
          <p:cNvPr id="45" name="Shape 43"/>
          <p:cNvSpPr/>
          <p:nvPr/>
        </p:nvSpPr>
        <p:spPr>
          <a:xfrm>
            <a:off x="4307738" y="5148072"/>
            <a:ext cx="7335317" cy="1051560"/>
          </a:xfrm>
          <a:prstGeom prst="roundRect">
            <a:avLst>
              <a:gd name="adj" fmla="val 8696"/>
            </a:avLst>
          </a:prstGeom>
          <a:solidFill>
            <a:srgbClr val="1F3260"/>
          </a:solidFill>
          <a:ln/>
        </p:spPr>
      </p:sp>
      <p:sp>
        <p:nvSpPr>
          <p:cNvPr id="46" name="Shape 44"/>
          <p:cNvSpPr/>
          <p:nvPr/>
        </p:nvSpPr>
        <p:spPr>
          <a:xfrm>
            <a:off x="4444898" y="5500116"/>
            <a:ext cx="347472" cy="347472"/>
          </a:xfrm>
          <a:prstGeom prst="ellipse">
            <a:avLst/>
          </a:prstGeom>
          <a:solidFill>
            <a:schemeClr val="accent5"/>
          </a:solidFill>
          <a:ln/>
        </p:spPr>
      </p:sp>
      <p:sp>
        <p:nvSpPr>
          <p:cNvPr id="47" name="Text 45"/>
          <p:cNvSpPr txBox="1"/>
          <p:nvPr/>
        </p:nvSpPr>
        <p:spPr>
          <a:xfrm>
            <a:off x="4444898" y="550011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11</a:t>
            </a:r>
            <a:endParaRPr lang="en-US" sz="1100" dirty="0"/>
          </a:p>
        </p:txBody>
      </p:sp>
      <p:sp>
        <p:nvSpPr>
          <p:cNvPr id="48" name="Text 46"/>
          <p:cNvSpPr txBox="1"/>
          <p:nvPr/>
        </p:nvSpPr>
        <p:spPr>
          <a:xfrm>
            <a:off x="4947818" y="5148072"/>
            <a:ext cx="6512357" cy="1051560"/>
          </a:xfrm>
          <a:prstGeom prst="rect">
            <a:avLst/>
          </a:prstGeom>
          <a:noFill/>
          <a:ln/>
        </p:spPr>
        <p:txBody>
          <a:bodyPr wrap="square" lIns="0" tIns="0" rIns="0" bIns="0" rtlCol="0" anchor="ctr"/>
          <a:lstStyle/>
          <a:p>
            <a:pPr indent="0" marL="0">
              <a:buNone/>
            </a:pPr>
            <a:r>
              <a:rPr lang="en-US" sz="1700" b="1" dirty="0">
                <a:solidFill>
                  <a:schemeClr val="bg1"/>
                </a:solidFill>
              </a:rPr>
              <a:t>Sé feliz, disfruta, aprende y, sobre todo, </a:t>
            </a:r>
            <a:pPr indent="0" marL="0">
              <a:buNone/>
            </a:pPr>
            <a:r>
              <a:rPr lang="en-US" sz="1700" b="1" dirty="0">
                <a:solidFill>
                  <a:schemeClr val="accent5"/>
                </a:solidFill>
              </a:rPr>
              <a:t>¡vende mucho!</a:t>
            </a:r>
            <a:endParaRPr lang="en-US" sz="17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13</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Consejos antes de concertar una visita</a:t>
            </a:r>
            <a:endParaRPr lang="en-US" sz="2600" dirty="0"/>
          </a:p>
        </p:txBody>
      </p:sp>
      <p:pic>
        <p:nvPicPr>
          <p:cNvPr id="5" name="Image 0" descr="/tmp/claude-0/-home-user-mesenergiaes/5a011a92-143f-5232-b40a-c25f12780ce3/scratchpad/mu/ppt/media/image24.jpeg">    </p:cNvPr>
          <p:cNvPicPr>
            <a:picLocks noChangeAspect="1"/>
          </p:cNvPicPr>
          <p:nvPr/>
        </p:nvPicPr>
        <p:blipFill>
          <a:blip r:embed="rId1"/>
          <a:srcRect l="0" r="0" t="0" b="0"/>
          <a:stretch/>
        </p:blipFill>
        <p:spPr>
          <a:xfrm>
            <a:off x="9646920" y="1691640"/>
            <a:ext cx="1996135" cy="4526280"/>
          </a:xfrm>
          <a:prstGeom prst="rect">
            <a:avLst/>
          </a:prstGeom>
        </p:spPr>
      </p:pic>
      <p:sp>
        <p:nvSpPr>
          <p:cNvPr id="6" name="Shape 3"/>
          <p:cNvSpPr/>
          <p:nvPr/>
        </p:nvSpPr>
        <p:spPr>
          <a:xfrm>
            <a:off x="548640" y="1970532"/>
            <a:ext cx="347472" cy="347472"/>
          </a:xfrm>
          <a:prstGeom prst="ellipse">
            <a:avLst/>
          </a:prstGeom>
          <a:solidFill>
            <a:srgbClr val="FFFFFF"/>
          </a:solidFill>
          <a:ln w="15875">
            <a:solidFill>
              <a:schemeClr val="accent1"/>
            </a:solidFill>
            <a:prstDash val="solid"/>
          </a:ln>
        </p:spPr>
      </p:sp>
      <p:sp>
        <p:nvSpPr>
          <p:cNvPr id="7" name="Text 4"/>
          <p:cNvSpPr txBox="1"/>
          <p:nvPr/>
        </p:nvSpPr>
        <p:spPr>
          <a:xfrm>
            <a:off x="548640" y="1970532"/>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8" name="Text 5"/>
          <p:cNvSpPr txBox="1"/>
          <p:nvPr/>
        </p:nvSpPr>
        <p:spPr>
          <a:xfrm>
            <a:off x="1024128" y="1728216"/>
            <a:ext cx="3799332" cy="832104"/>
          </a:xfrm>
          <a:prstGeom prst="rect">
            <a:avLst/>
          </a:prstGeom>
          <a:noFill/>
          <a:ln/>
        </p:spPr>
        <p:txBody>
          <a:bodyPr wrap="square" lIns="0" tIns="0" rIns="0" bIns="0" rtlCol="0" anchor="ctr"/>
          <a:lstStyle/>
          <a:p>
            <a:pPr indent="0" marL="0">
              <a:buNone/>
            </a:pPr>
            <a:r>
              <a:rPr lang="en-US" sz="1150" dirty="0">
                <a:solidFill>
                  <a:schemeClr val="tx1"/>
                </a:solidFill>
              </a:rPr>
              <a:t>La llamada para concertar una buena visita tiene que ser una llamada </a:t>
            </a:r>
            <a:pPr indent="0" marL="0">
              <a:buNone/>
            </a:pPr>
            <a:r>
              <a:rPr lang="en-US" sz="1150" b="1" dirty="0">
                <a:solidFill>
                  <a:schemeClr val="tx1"/>
                </a:solidFill>
              </a:rPr>
              <a:t>muy segura, indiferente y sin titubear.</a:t>
            </a:r>
            <a:endParaRPr lang="en-US" sz="1150" dirty="0"/>
          </a:p>
        </p:txBody>
      </p:sp>
      <p:sp>
        <p:nvSpPr>
          <p:cNvPr id="9" name="Shape 6"/>
          <p:cNvSpPr/>
          <p:nvPr/>
        </p:nvSpPr>
        <p:spPr>
          <a:xfrm>
            <a:off x="548640" y="2596896"/>
            <a:ext cx="4274820" cy="0"/>
          </a:xfrm>
          <a:prstGeom prst="line">
            <a:avLst/>
          </a:prstGeom>
          <a:noFill/>
          <a:ln w="9525">
            <a:solidFill>
              <a:srgbClr val="DCE3EC"/>
            </a:solidFill>
            <a:prstDash val="solid"/>
          </a:ln>
        </p:spPr>
      </p:sp>
      <p:sp>
        <p:nvSpPr>
          <p:cNvPr id="10" name="Shape 7"/>
          <p:cNvSpPr/>
          <p:nvPr/>
        </p:nvSpPr>
        <p:spPr>
          <a:xfrm>
            <a:off x="548640" y="2875788"/>
            <a:ext cx="347472" cy="347472"/>
          </a:xfrm>
          <a:prstGeom prst="ellipse">
            <a:avLst/>
          </a:prstGeom>
          <a:solidFill>
            <a:srgbClr val="FFFFFF"/>
          </a:solidFill>
          <a:ln w="15875">
            <a:solidFill>
              <a:schemeClr val="accent1"/>
            </a:solidFill>
            <a:prstDash val="solid"/>
          </a:ln>
        </p:spPr>
      </p:sp>
      <p:sp>
        <p:nvSpPr>
          <p:cNvPr id="11" name="Text 8"/>
          <p:cNvSpPr txBox="1"/>
          <p:nvPr/>
        </p:nvSpPr>
        <p:spPr>
          <a:xfrm>
            <a:off x="548640" y="2875788"/>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12" name="Text 9"/>
          <p:cNvSpPr txBox="1"/>
          <p:nvPr/>
        </p:nvSpPr>
        <p:spPr>
          <a:xfrm>
            <a:off x="1024128" y="2633472"/>
            <a:ext cx="3799332" cy="832104"/>
          </a:xfrm>
          <a:prstGeom prst="rect">
            <a:avLst/>
          </a:prstGeom>
          <a:noFill/>
          <a:ln/>
        </p:spPr>
        <p:txBody>
          <a:bodyPr wrap="square" lIns="0" tIns="0" rIns="0" bIns="0" rtlCol="0" anchor="ctr"/>
          <a:lstStyle/>
          <a:p>
            <a:pPr indent="0" marL="0">
              <a:buNone/>
            </a:pPr>
            <a:r>
              <a:rPr lang="en-US" sz="1150" dirty="0">
                <a:solidFill>
                  <a:schemeClr val="tx1"/>
                </a:solidFill>
              </a:rPr>
              <a:t>Se debe ejecutar </a:t>
            </a:r>
            <a:pPr indent="0" marL="0">
              <a:buNone/>
            </a:pPr>
            <a:r>
              <a:rPr lang="en-US" sz="1150" b="1" dirty="0">
                <a:solidFill>
                  <a:schemeClr val="tx1"/>
                </a:solidFill>
              </a:rPr>
              <a:t>clara y concisa</a:t>
            </a:r>
            <a:pPr indent="0" marL="0">
              <a:buNone/>
            </a:pPr>
            <a:r>
              <a:rPr lang="en-US" sz="1150" dirty="0">
                <a:solidFill>
                  <a:schemeClr val="tx1"/>
                </a:solidFill>
              </a:rPr>
              <a:t>, con un tono suave y tranquilo.</a:t>
            </a:r>
            <a:endParaRPr lang="en-US" sz="1150" dirty="0"/>
          </a:p>
        </p:txBody>
      </p:sp>
      <p:sp>
        <p:nvSpPr>
          <p:cNvPr id="13" name="Shape 10"/>
          <p:cNvSpPr/>
          <p:nvPr/>
        </p:nvSpPr>
        <p:spPr>
          <a:xfrm>
            <a:off x="548640" y="3502152"/>
            <a:ext cx="4274820" cy="0"/>
          </a:xfrm>
          <a:prstGeom prst="line">
            <a:avLst/>
          </a:prstGeom>
          <a:noFill/>
          <a:ln w="9525">
            <a:solidFill>
              <a:srgbClr val="DCE3EC"/>
            </a:solidFill>
            <a:prstDash val="solid"/>
          </a:ln>
        </p:spPr>
      </p:sp>
      <p:sp>
        <p:nvSpPr>
          <p:cNvPr id="14" name="Shape 11"/>
          <p:cNvSpPr/>
          <p:nvPr/>
        </p:nvSpPr>
        <p:spPr>
          <a:xfrm>
            <a:off x="548640" y="3781044"/>
            <a:ext cx="347472" cy="347472"/>
          </a:xfrm>
          <a:prstGeom prst="ellipse">
            <a:avLst/>
          </a:prstGeom>
          <a:solidFill>
            <a:srgbClr val="FFFFFF"/>
          </a:solidFill>
          <a:ln w="15875">
            <a:solidFill>
              <a:schemeClr val="accent1"/>
            </a:solidFill>
            <a:prstDash val="solid"/>
          </a:ln>
        </p:spPr>
      </p:sp>
      <p:sp>
        <p:nvSpPr>
          <p:cNvPr id="15" name="Text 12"/>
          <p:cNvSpPr txBox="1"/>
          <p:nvPr/>
        </p:nvSpPr>
        <p:spPr>
          <a:xfrm>
            <a:off x="548640" y="3781044"/>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16" name="Text 13"/>
          <p:cNvSpPr txBox="1"/>
          <p:nvPr/>
        </p:nvSpPr>
        <p:spPr>
          <a:xfrm>
            <a:off x="1024128" y="3538728"/>
            <a:ext cx="3799332" cy="832104"/>
          </a:xfrm>
          <a:prstGeom prst="rect">
            <a:avLst/>
          </a:prstGeom>
          <a:noFill/>
          <a:ln/>
        </p:spPr>
        <p:txBody>
          <a:bodyPr wrap="square" lIns="0" tIns="0" rIns="0" bIns="0" rtlCol="0" anchor="ctr"/>
          <a:lstStyle/>
          <a:p>
            <a:pPr indent="0" marL="0">
              <a:buNone/>
            </a:pPr>
            <a:r>
              <a:rPr lang="en-US" sz="1150" dirty="0">
                <a:solidFill>
                  <a:schemeClr val="tx1"/>
                </a:solidFill>
              </a:rPr>
              <a:t>El cliente debe tener la sensación de que tú conciertas miles de clientes al día y de que la oportunidad es para él, y no para ti. No eres un vendedor al uso: </a:t>
            </a:r>
            <a:pPr indent="0" marL="0">
              <a:buNone/>
            </a:pPr>
            <a:r>
              <a:rPr lang="en-US" sz="1150" b="1" dirty="0">
                <a:solidFill>
                  <a:schemeClr val="tx1"/>
                </a:solidFill>
              </a:rPr>
              <a:t>eres un ASESOR ENERGÉTICO.</a:t>
            </a:r>
            <a:endParaRPr lang="en-US" sz="1150" dirty="0"/>
          </a:p>
        </p:txBody>
      </p:sp>
      <p:sp>
        <p:nvSpPr>
          <p:cNvPr id="17" name="Shape 14"/>
          <p:cNvSpPr/>
          <p:nvPr/>
        </p:nvSpPr>
        <p:spPr>
          <a:xfrm>
            <a:off x="548640" y="4407408"/>
            <a:ext cx="4274820" cy="0"/>
          </a:xfrm>
          <a:prstGeom prst="line">
            <a:avLst/>
          </a:prstGeom>
          <a:noFill/>
          <a:ln w="9525">
            <a:solidFill>
              <a:srgbClr val="DCE3EC"/>
            </a:solidFill>
            <a:prstDash val="solid"/>
          </a:ln>
        </p:spPr>
      </p:sp>
      <p:sp>
        <p:nvSpPr>
          <p:cNvPr id="18" name="Shape 15"/>
          <p:cNvSpPr/>
          <p:nvPr/>
        </p:nvSpPr>
        <p:spPr>
          <a:xfrm>
            <a:off x="548640" y="4686300"/>
            <a:ext cx="347472" cy="347472"/>
          </a:xfrm>
          <a:prstGeom prst="ellipse">
            <a:avLst/>
          </a:prstGeom>
          <a:solidFill>
            <a:srgbClr val="FFFFFF"/>
          </a:solidFill>
          <a:ln w="15875">
            <a:solidFill>
              <a:schemeClr val="accent1"/>
            </a:solidFill>
            <a:prstDash val="solid"/>
          </a:ln>
        </p:spPr>
      </p:sp>
      <p:sp>
        <p:nvSpPr>
          <p:cNvPr id="19" name="Text 16"/>
          <p:cNvSpPr txBox="1"/>
          <p:nvPr/>
        </p:nvSpPr>
        <p:spPr>
          <a:xfrm>
            <a:off x="548640" y="4686300"/>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4</a:t>
            </a:r>
            <a:endParaRPr lang="en-US" sz="1100" dirty="0"/>
          </a:p>
        </p:txBody>
      </p:sp>
      <p:sp>
        <p:nvSpPr>
          <p:cNvPr id="20" name="Text 17"/>
          <p:cNvSpPr txBox="1"/>
          <p:nvPr/>
        </p:nvSpPr>
        <p:spPr>
          <a:xfrm>
            <a:off x="1024128" y="4443984"/>
            <a:ext cx="3799332" cy="832104"/>
          </a:xfrm>
          <a:prstGeom prst="rect">
            <a:avLst/>
          </a:prstGeom>
          <a:noFill/>
          <a:ln/>
        </p:spPr>
        <p:txBody>
          <a:bodyPr wrap="square" lIns="0" tIns="0" rIns="0" bIns="0" rtlCol="0" anchor="ctr"/>
          <a:lstStyle/>
          <a:p>
            <a:pPr indent="0" marL="0">
              <a:buNone/>
            </a:pPr>
            <a:r>
              <a:rPr lang="en-US" sz="1150" dirty="0">
                <a:solidFill>
                  <a:schemeClr val="tx1"/>
                </a:solidFill>
              </a:rPr>
              <a:t>Se debe ser muy profesional y escuchar con mucha atención. </a:t>
            </a:r>
            <a:pPr indent="0" marL="0">
              <a:buNone/>
            </a:pPr>
            <a:r>
              <a:rPr lang="en-US" sz="1150" b="1" dirty="0">
                <a:solidFill>
                  <a:schemeClr val="tx1"/>
                </a:solidFill>
              </a:rPr>
              <a:t>Menos es más.</a:t>
            </a:r>
            <a:endParaRPr lang="en-US" sz="1150" dirty="0"/>
          </a:p>
        </p:txBody>
      </p:sp>
      <p:sp>
        <p:nvSpPr>
          <p:cNvPr id="21" name="Shape 18"/>
          <p:cNvSpPr/>
          <p:nvPr/>
        </p:nvSpPr>
        <p:spPr>
          <a:xfrm>
            <a:off x="548640" y="5312664"/>
            <a:ext cx="4274820" cy="0"/>
          </a:xfrm>
          <a:prstGeom prst="line">
            <a:avLst/>
          </a:prstGeom>
          <a:noFill/>
          <a:ln w="9525">
            <a:solidFill>
              <a:srgbClr val="DCE3EC"/>
            </a:solidFill>
            <a:prstDash val="solid"/>
          </a:ln>
        </p:spPr>
      </p:sp>
      <p:sp>
        <p:nvSpPr>
          <p:cNvPr id="22" name="Shape 19"/>
          <p:cNvSpPr/>
          <p:nvPr/>
        </p:nvSpPr>
        <p:spPr>
          <a:xfrm>
            <a:off x="548640" y="5591556"/>
            <a:ext cx="347472" cy="347472"/>
          </a:xfrm>
          <a:prstGeom prst="ellipse">
            <a:avLst/>
          </a:prstGeom>
          <a:solidFill>
            <a:srgbClr val="FFFFFF"/>
          </a:solidFill>
          <a:ln w="15875">
            <a:solidFill>
              <a:schemeClr val="accent1"/>
            </a:solidFill>
            <a:prstDash val="solid"/>
          </a:ln>
        </p:spPr>
      </p:sp>
      <p:sp>
        <p:nvSpPr>
          <p:cNvPr id="23" name="Text 20"/>
          <p:cNvSpPr txBox="1"/>
          <p:nvPr/>
        </p:nvSpPr>
        <p:spPr>
          <a:xfrm>
            <a:off x="548640" y="5591556"/>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5</a:t>
            </a:r>
            <a:endParaRPr lang="en-US" sz="1100" dirty="0"/>
          </a:p>
        </p:txBody>
      </p:sp>
      <p:sp>
        <p:nvSpPr>
          <p:cNvPr id="24" name="Text 21"/>
          <p:cNvSpPr txBox="1"/>
          <p:nvPr/>
        </p:nvSpPr>
        <p:spPr>
          <a:xfrm>
            <a:off x="1024128" y="5349240"/>
            <a:ext cx="3799332" cy="832104"/>
          </a:xfrm>
          <a:prstGeom prst="rect">
            <a:avLst/>
          </a:prstGeom>
          <a:noFill/>
          <a:ln/>
        </p:spPr>
        <p:txBody>
          <a:bodyPr wrap="square" lIns="0" tIns="0" rIns="0" bIns="0" rtlCol="0" anchor="ctr"/>
          <a:lstStyle/>
          <a:p>
            <a:pPr indent="0" marL="0">
              <a:buNone/>
            </a:pPr>
            <a:r>
              <a:rPr lang="en-US" sz="1150" b="1" dirty="0">
                <a:solidFill>
                  <a:schemeClr val="tx1"/>
                </a:solidFill>
              </a:rPr>
              <a:t>No pienses en vender:</a:t>
            </a:r>
            <a:pPr indent="0" marL="0">
              <a:buNone/>
            </a:pPr>
            <a:r>
              <a:rPr lang="en-US" sz="1150" dirty="0">
                <a:solidFill>
                  <a:schemeClr val="tx1"/>
                </a:solidFill>
              </a:rPr>
              <a:t> solo informar y asesorar.</a:t>
            </a:r>
            <a:endParaRPr lang="en-US" sz="1150" dirty="0"/>
          </a:p>
        </p:txBody>
      </p:sp>
      <p:sp>
        <p:nvSpPr>
          <p:cNvPr id="25" name="Shape 22"/>
          <p:cNvSpPr/>
          <p:nvPr/>
        </p:nvSpPr>
        <p:spPr>
          <a:xfrm>
            <a:off x="5097780" y="1970532"/>
            <a:ext cx="347472" cy="347472"/>
          </a:xfrm>
          <a:prstGeom prst="ellipse">
            <a:avLst/>
          </a:prstGeom>
          <a:solidFill>
            <a:srgbClr val="FFFFFF"/>
          </a:solidFill>
          <a:ln w="15875">
            <a:solidFill>
              <a:schemeClr val="accent1"/>
            </a:solidFill>
            <a:prstDash val="solid"/>
          </a:ln>
        </p:spPr>
      </p:sp>
      <p:sp>
        <p:nvSpPr>
          <p:cNvPr id="26" name="Text 23"/>
          <p:cNvSpPr txBox="1"/>
          <p:nvPr/>
        </p:nvSpPr>
        <p:spPr>
          <a:xfrm>
            <a:off x="5097780" y="1970532"/>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6</a:t>
            </a:r>
            <a:endParaRPr lang="en-US" sz="1100" dirty="0"/>
          </a:p>
        </p:txBody>
      </p:sp>
      <p:sp>
        <p:nvSpPr>
          <p:cNvPr id="27" name="Text 24"/>
          <p:cNvSpPr txBox="1"/>
          <p:nvPr/>
        </p:nvSpPr>
        <p:spPr>
          <a:xfrm>
            <a:off x="5573268" y="1728216"/>
            <a:ext cx="3799332" cy="832104"/>
          </a:xfrm>
          <a:prstGeom prst="rect">
            <a:avLst/>
          </a:prstGeom>
          <a:noFill/>
          <a:ln/>
        </p:spPr>
        <p:txBody>
          <a:bodyPr wrap="square" lIns="0" tIns="0" rIns="0" bIns="0" rtlCol="0" anchor="ctr"/>
          <a:lstStyle/>
          <a:p>
            <a:pPr indent="0" marL="0">
              <a:buNone/>
            </a:pPr>
            <a:r>
              <a:rPr lang="en-US" sz="1150" dirty="0">
                <a:solidFill>
                  <a:schemeClr val="tx1"/>
                </a:solidFill>
              </a:rPr>
              <a:t>Si el cliente tiene alguna duda, </a:t>
            </a:r>
            <a:pPr indent="0" marL="0">
              <a:buNone/>
            </a:pPr>
            <a:r>
              <a:rPr lang="en-US" sz="1150" b="1" dirty="0">
                <a:solidFill>
                  <a:schemeClr val="tx1"/>
                </a:solidFill>
              </a:rPr>
              <a:t>resuélvesela al momento.</a:t>
            </a:r>
            <a:endParaRPr lang="en-US" sz="1150" dirty="0"/>
          </a:p>
        </p:txBody>
      </p:sp>
      <p:sp>
        <p:nvSpPr>
          <p:cNvPr id="28" name="Shape 25"/>
          <p:cNvSpPr/>
          <p:nvPr/>
        </p:nvSpPr>
        <p:spPr>
          <a:xfrm>
            <a:off x="5097780" y="2596896"/>
            <a:ext cx="4274820" cy="0"/>
          </a:xfrm>
          <a:prstGeom prst="line">
            <a:avLst/>
          </a:prstGeom>
          <a:noFill/>
          <a:ln w="9525">
            <a:solidFill>
              <a:srgbClr val="DCE3EC"/>
            </a:solidFill>
            <a:prstDash val="solid"/>
          </a:ln>
        </p:spPr>
      </p:sp>
      <p:sp>
        <p:nvSpPr>
          <p:cNvPr id="29" name="Shape 26"/>
          <p:cNvSpPr/>
          <p:nvPr/>
        </p:nvSpPr>
        <p:spPr>
          <a:xfrm>
            <a:off x="5097780" y="2875788"/>
            <a:ext cx="347472" cy="347472"/>
          </a:xfrm>
          <a:prstGeom prst="ellipse">
            <a:avLst/>
          </a:prstGeom>
          <a:solidFill>
            <a:srgbClr val="FFFFFF"/>
          </a:solidFill>
          <a:ln w="15875">
            <a:solidFill>
              <a:schemeClr val="accent1"/>
            </a:solidFill>
            <a:prstDash val="solid"/>
          </a:ln>
        </p:spPr>
      </p:sp>
      <p:sp>
        <p:nvSpPr>
          <p:cNvPr id="30" name="Text 27"/>
          <p:cNvSpPr txBox="1"/>
          <p:nvPr/>
        </p:nvSpPr>
        <p:spPr>
          <a:xfrm>
            <a:off x="5097780" y="2875788"/>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7</a:t>
            </a:r>
            <a:endParaRPr lang="en-US" sz="1100" dirty="0"/>
          </a:p>
        </p:txBody>
      </p:sp>
      <p:sp>
        <p:nvSpPr>
          <p:cNvPr id="31" name="Text 28"/>
          <p:cNvSpPr txBox="1"/>
          <p:nvPr/>
        </p:nvSpPr>
        <p:spPr>
          <a:xfrm>
            <a:off x="5573268" y="2633472"/>
            <a:ext cx="3799332" cy="832104"/>
          </a:xfrm>
          <a:prstGeom prst="rect">
            <a:avLst/>
          </a:prstGeom>
          <a:noFill/>
          <a:ln/>
        </p:spPr>
        <p:txBody>
          <a:bodyPr wrap="square" lIns="0" tIns="0" rIns="0" bIns="0" rtlCol="0" anchor="ctr"/>
          <a:lstStyle/>
          <a:p>
            <a:pPr indent="0" marL="0">
              <a:buNone/>
            </a:pPr>
            <a:r>
              <a:rPr lang="en-US" sz="1150" b="1" dirty="0">
                <a:solidFill>
                  <a:schemeClr val="tx1"/>
                </a:solidFill>
              </a:rPr>
              <a:t>Escuchar – comprender – responder.</a:t>
            </a:r>
            <a:endParaRPr lang="en-US" sz="1150" dirty="0"/>
          </a:p>
        </p:txBody>
      </p:sp>
      <p:sp>
        <p:nvSpPr>
          <p:cNvPr id="32" name="Shape 29"/>
          <p:cNvSpPr/>
          <p:nvPr/>
        </p:nvSpPr>
        <p:spPr>
          <a:xfrm>
            <a:off x="5097780" y="3502152"/>
            <a:ext cx="4274820" cy="0"/>
          </a:xfrm>
          <a:prstGeom prst="line">
            <a:avLst/>
          </a:prstGeom>
          <a:noFill/>
          <a:ln w="9525">
            <a:solidFill>
              <a:srgbClr val="DCE3EC"/>
            </a:solidFill>
            <a:prstDash val="solid"/>
          </a:ln>
        </p:spPr>
      </p:sp>
      <p:sp>
        <p:nvSpPr>
          <p:cNvPr id="33" name="Shape 30"/>
          <p:cNvSpPr/>
          <p:nvPr/>
        </p:nvSpPr>
        <p:spPr>
          <a:xfrm>
            <a:off x="5097780" y="3781044"/>
            <a:ext cx="347472" cy="347472"/>
          </a:xfrm>
          <a:prstGeom prst="ellipse">
            <a:avLst/>
          </a:prstGeom>
          <a:solidFill>
            <a:srgbClr val="FFFFFF"/>
          </a:solidFill>
          <a:ln w="15875">
            <a:solidFill>
              <a:schemeClr val="accent1"/>
            </a:solidFill>
            <a:prstDash val="solid"/>
          </a:ln>
        </p:spPr>
      </p:sp>
      <p:sp>
        <p:nvSpPr>
          <p:cNvPr id="34" name="Text 31"/>
          <p:cNvSpPr txBox="1"/>
          <p:nvPr/>
        </p:nvSpPr>
        <p:spPr>
          <a:xfrm>
            <a:off x="5097780" y="3781044"/>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8</a:t>
            </a:r>
            <a:endParaRPr lang="en-US" sz="1100" dirty="0"/>
          </a:p>
        </p:txBody>
      </p:sp>
      <p:sp>
        <p:nvSpPr>
          <p:cNvPr id="35" name="Text 32"/>
          <p:cNvSpPr txBox="1"/>
          <p:nvPr/>
        </p:nvSpPr>
        <p:spPr>
          <a:xfrm>
            <a:off x="5573268" y="3538728"/>
            <a:ext cx="3799332" cy="832104"/>
          </a:xfrm>
          <a:prstGeom prst="rect">
            <a:avLst/>
          </a:prstGeom>
          <a:noFill/>
          <a:ln/>
        </p:spPr>
        <p:txBody>
          <a:bodyPr wrap="square" lIns="0" tIns="0" rIns="0" bIns="0" rtlCol="0" anchor="ctr"/>
          <a:lstStyle/>
          <a:p>
            <a:pPr indent="0" marL="0">
              <a:buNone/>
            </a:pPr>
            <a:r>
              <a:rPr lang="en-US" sz="1150" b="1" dirty="0">
                <a:solidFill>
                  <a:schemeClr val="tx1"/>
                </a:solidFill>
              </a:rPr>
              <a:t>Técnica de las preguntas:</a:t>
            </a:r>
            <a:pPr indent="0" marL="0">
              <a:buNone/>
            </a:pPr>
            <a:r>
              <a:rPr lang="en-US" sz="1150" dirty="0">
                <a:solidFill>
                  <a:schemeClr val="tx1"/>
                </a:solidFill>
              </a:rPr>
              <a:t> «¿Cómo le puedo ayudar?», «Tengo una información muy valiosa que le va a hacer ahorrar mucho dinero», «Le entiendo perfectamente, no se preocupe», «¿Qué le parece?».</a:t>
            </a:r>
            <a:endParaRPr lang="en-US" sz="1150" dirty="0"/>
          </a:p>
        </p:txBody>
      </p:sp>
      <p:sp>
        <p:nvSpPr>
          <p:cNvPr id="36" name="Shape 33"/>
          <p:cNvSpPr/>
          <p:nvPr/>
        </p:nvSpPr>
        <p:spPr>
          <a:xfrm>
            <a:off x="5097780" y="4407408"/>
            <a:ext cx="4274820" cy="0"/>
          </a:xfrm>
          <a:prstGeom prst="line">
            <a:avLst/>
          </a:prstGeom>
          <a:noFill/>
          <a:ln w="9525">
            <a:solidFill>
              <a:srgbClr val="DCE3EC"/>
            </a:solidFill>
            <a:prstDash val="solid"/>
          </a:ln>
        </p:spPr>
      </p:sp>
      <p:sp>
        <p:nvSpPr>
          <p:cNvPr id="37" name="Shape 34"/>
          <p:cNvSpPr/>
          <p:nvPr/>
        </p:nvSpPr>
        <p:spPr>
          <a:xfrm>
            <a:off x="5097780" y="4686300"/>
            <a:ext cx="347472" cy="347472"/>
          </a:xfrm>
          <a:prstGeom prst="ellipse">
            <a:avLst/>
          </a:prstGeom>
          <a:solidFill>
            <a:srgbClr val="FFFFFF"/>
          </a:solidFill>
          <a:ln w="15875">
            <a:solidFill>
              <a:schemeClr val="accent1"/>
            </a:solidFill>
            <a:prstDash val="solid"/>
          </a:ln>
        </p:spPr>
      </p:sp>
      <p:sp>
        <p:nvSpPr>
          <p:cNvPr id="38" name="Text 35"/>
          <p:cNvSpPr txBox="1"/>
          <p:nvPr/>
        </p:nvSpPr>
        <p:spPr>
          <a:xfrm>
            <a:off x="5097780" y="4686300"/>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9</a:t>
            </a:r>
            <a:endParaRPr lang="en-US" sz="1100" dirty="0"/>
          </a:p>
        </p:txBody>
      </p:sp>
      <p:sp>
        <p:nvSpPr>
          <p:cNvPr id="39" name="Text 36"/>
          <p:cNvSpPr txBox="1"/>
          <p:nvPr/>
        </p:nvSpPr>
        <p:spPr>
          <a:xfrm>
            <a:off x="5573268" y="4443984"/>
            <a:ext cx="3799332" cy="832104"/>
          </a:xfrm>
          <a:prstGeom prst="rect">
            <a:avLst/>
          </a:prstGeom>
          <a:noFill/>
          <a:ln/>
        </p:spPr>
        <p:txBody>
          <a:bodyPr wrap="square" lIns="0" tIns="0" rIns="0" bIns="0" rtlCol="0" anchor="ctr"/>
          <a:lstStyle/>
          <a:p>
            <a:pPr indent="0" marL="0">
              <a:buNone/>
            </a:pPr>
            <a:r>
              <a:rPr lang="en-US" sz="1150" dirty="0">
                <a:solidFill>
                  <a:schemeClr val="tx1"/>
                </a:solidFill>
              </a:rPr>
              <a:t>Capta la atención del cliente usando su mismo vocabulario: </a:t>
            </a:r>
            <a:pPr indent="0" marL="0">
              <a:buNone/>
            </a:pPr>
            <a:r>
              <a:rPr lang="en-US" sz="1150" b="1" dirty="0">
                <a:solidFill>
                  <a:schemeClr val="tx1"/>
                </a:solidFill>
              </a:rPr>
              <a:t>aprovechar las mismas palabras de un cliente vale el doble.</a:t>
            </a:r>
            <a:endParaRPr lang="en-US" sz="1150" dirty="0"/>
          </a:p>
        </p:txBody>
      </p:sp>
      <p:sp>
        <p:nvSpPr>
          <p:cNvPr id="40" name="Shape 37"/>
          <p:cNvSpPr/>
          <p:nvPr/>
        </p:nvSpPr>
        <p:spPr>
          <a:xfrm>
            <a:off x="5097780" y="5312664"/>
            <a:ext cx="4274820" cy="0"/>
          </a:xfrm>
          <a:prstGeom prst="line">
            <a:avLst/>
          </a:prstGeom>
          <a:noFill/>
          <a:ln w="9525">
            <a:solidFill>
              <a:srgbClr val="DCE3EC"/>
            </a:solidFill>
            <a:prstDash val="solid"/>
          </a:ln>
        </p:spPr>
      </p:sp>
      <p:sp>
        <p:nvSpPr>
          <p:cNvPr id="41" name="Shape 38"/>
          <p:cNvSpPr/>
          <p:nvPr/>
        </p:nvSpPr>
        <p:spPr>
          <a:xfrm>
            <a:off x="5097780" y="5591556"/>
            <a:ext cx="347472" cy="347472"/>
          </a:xfrm>
          <a:prstGeom prst="ellipse">
            <a:avLst/>
          </a:prstGeom>
          <a:solidFill>
            <a:srgbClr val="FFFFFF"/>
          </a:solidFill>
          <a:ln w="15875">
            <a:solidFill>
              <a:schemeClr val="accent1"/>
            </a:solidFill>
            <a:prstDash val="solid"/>
          </a:ln>
        </p:spPr>
      </p:sp>
      <p:sp>
        <p:nvSpPr>
          <p:cNvPr id="42" name="Text 39"/>
          <p:cNvSpPr txBox="1"/>
          <p:nvPr/>
        </p:nvSpPr>
        <p:spPr>
          <a:xfrm>
            <a:off x="5097780" y="5591556"/>
            <a:ext cx="347472" cy="347472"/>
          </a:xfrm>
          <a:prstGeom prst="rect">
            <a:avLst/>
          </a:prstGeom>
          <a:noFill/>
          <a:ln/>
        </p:spPr>
        <p:txBody>
          <a:bodyPr wrap="square" lIns="0" tIns="0" rIns="0" bIns="0" rtlCol="0" anchor="ctr"/>
          <a:lstStyle/>
          <a:p>
            <a:pPr algn="ctr" indent="0" marL="0">
              <a:buNone/>
            </a:pPr>
            <a:r>
              <a:rPr lang="en-US" sz="1100" b="1" dirty="0">
                <a:solidFill>
                  <a:schemeClr val="accent1"/>
                </a:solidFill>
              </a:rPr>
              <a:t>10</a:t>
            </a:r>
            <a:endParaRPr lang="en-US" sz="1100" dirty="0"/>
          </a:p>
        </p:txBody>
      </p:sp>
      <p:sp>
        <p:nvSpPr>
          <p:cNvPr id="43" name="Text 40"/>
          <p:cNvSpPr txBox="1"/>
          <p:nvPr/>
        </p:nvSpPr>
        <p:spPr>
          <a:xfrm>
            <a:off x="5573268" y="5349240"/>
            <a:ext cx="3799332" cy="832104"/>
          </a:xfrm>
          <a:prstGeom prst="rect">
            <a:avLst/>
          </a:prstGeom>
          <a:noFill/>
          <a:ln/>
        </p:spPr>
        <p:txBody>
          <a:bodyPr wrap="square" lIns="0" tIns="0" rIns="0" bIns="0" rtlCol="0" anchor="ctr"/>
          <a:lstStyle/>
          <a:p>
            <a:pPr indent="0" marL="0">
              <a:buNone/>
            </a:pPr>
            <a:r>
              <a:rPr lang="en-US" sz="1150" dirty="0">
                <a:solidFill>
                  <a:schemeClr val="tx1"/>
                </a:solidFill>
              </a:rPr>
              <a:t>Cierra la llamada con una </a:t>
            </a:r>
            <a:pPr indent="0" marL="0">
              <a:buNone/>
            </a:pPr>
            <a:r>
              <a:rPr lang="en-US" sz="1150" b="1" dirty="0">
                <a:solidFill>
                  <a:schemeClr val="tx1"/>
                </a:solidFill>
              </a:rPr>
              <a:t>despedida amable</a:t>
            </a:r>
            <a:pPr indent="0" marL="0">
              <a:buNone/>
            </a:pPr>
            <a:r>
              <a:rPr lang="en-US" sz="1150" dirty="0">
                <a:solidFill>
                  <a:schemeClr val="tx1"/>
                </a:solidFill>
              </a:rPr>
              <a:t>, recuérdale tu nombre y que esté atento, porque le vas a enviar a su correo una información muy importante.</a:t>
            </a:r>
            <a:endParaRPr lang="en-US" sz="115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14</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Speech comercial</a:t>
            </a:r>
            <a:endParaRPr lang="en-US" sz="2600" dirty="0"/>
          </a:p>
        </p:txBody>
      </p:sp>
      <p:sp>
        <p:nvSpPr>
          <p:cNvPr id="5" name="Text 3"/>
          <p:cNvSpPr txBox="1"/>
          <p:nvPr/>
        </p:nvSpPr>
        <p:spPr>
          <a:xfrm>
            <a:off x="548640" y="1517904"/>
            <a:ext cx="1920240" cy="274320"/>
          </a:xfrm>
          <a:prstGeom prst="rect">
            <a:avLst/>
          </a:prstGeom>
          <a:noFill/>
          <a:ln/>
        </p:spPr>
        <p:txBody>
          <a:bodyPr wrap="square" lIns="0" tIns="0" rIns="0" bIns="0" rtlCol="0" anchor="ctr"/>
          <a:lstStyle/>
          <a:p>
            <a:pPr indent="0" marL="0">
              <a:buNone/>
            </a:pPr>
            <a:r>
              <a:rPr lang="en-US" sz="1100" dirty="0">
                <a:solidFill>
                  <a:schemeClr val="accent6"/>
                </a:solidFill>
              </a:rPr>
              <a:t>Fases de la llamada:</a:t>
            </a:r>
            <a:endParaRPr lang="en-US" sz="1100" dirty="0"/>
          </a:p>
        </p:txBody>
      </p:sp>
      <p:sp>
        <p:nvSpPr>
          <p:cNvPr id="6" name="Shape 4"/>
          <p:cNvSpPr/>
          <p:nvPr/>
        </p:nvSpPr>
        <p:spPr>
          <a:xfrm>
            <a:off x="2514600" y="1600200"/>
            <a:ext cx="118872" cy="118872"/>
          </a:xfrm>
          <a:prstGeom prst="ellipse">
            <a:avLst/>
          </a:prstGeom>
          <a:solidFill>
            <a:schemeClr val="accent1"/>
          </a:solidFill>
          <a:ln/>
        </p:spPr>
      </p:sp>
      <p:sp>
        <p:nvSpPr>
          <p:cNvPr id="7" name="Text 5"/>
          <p:cNvSpPr txBox="1"/>
          <p:nvPr/>
        </p:nvSpPr>
        <p:spPr>
          <a:xfrm>
            <a:off x="2697480" y="1517904"/>
            <a:ext cx="1188720" cy="274320"/>
          </a:xfrm>
          <a:prstGeom prst="rect">
            <a:avLst/>
          </a:prstGeom>
          <a:noFill/>
          <a:ln/>
        </p:spPr>
        <p:txBody>
          <a:bodyPr wrap="square" lIns="0" tIns="0" rIns="0" bIns="0" rtlCol="0" anchor="ctr"/>
          <a:lstStyle/>
          <a:p>
            <a:pPr indent="0" marL="0">
              <a:buNone/>
            </a:pPr>
            <a:r>
              <a:rPr lang="en-US" sz="1100" b="1" dirty="0">
                <a:solidFill>
                  <a:schemeClr val="accent1"/>
                </a:solidFill>
              </a:rPr>
              <a:t>Captación</a:t>
            </a:r>
            <a:endParaRPr lang="en-US" sz="1100" dirty="0"/>
          </a:p>
        </p:txBody>
      </p:sp>
      <p:sp>
        <p:nvSpPr>
          <p:cNvPr id="8" name="Shape 6"/>
          <p:cNvSpPr/>
          <p:nvPr/>
        </p:nvSpPr>
        <p:spPr>
          <a:xfrm>
            <a:off x="3931920" y="1600200"/>
            <a:ext cx="118872" cy="118872"/>
          </a:xfrm>
          <a:prstGeom prst="ellipse">
            <a:avLst/>
          </a:prstGeom>
          <a:solidFill>
            <a:schemeClr val="accent2"/>
          </a:solidFill>
          <a:ln/>
        </p:spPr>
      </p:sp>
      <p:sp>
        <p:nvSpPr>
          <p:cNvPr id="9" name="Text 7"/>
          <p:cNvSpPr txBox="1"/>
          <p:nvPr/>
        </p:nvSpPr>
        <p:spPr>
          <a:xfrm>
            <a:off x="4114800" y="1517904"/>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Interés</a:t>
            </a:r>
            <a:endParaRPr lang="en-US" sz="1100" dirty="0"/>
          </a:p>
        </p:txBody>
      </p:sp>
      <p:sp>
        <p:nvSpPr>
          <p:cNvPr id="10" name="Shape 8"/>
          <p:cNvSpPr/>
          <p:nvPr/>
        </p:nvSpPr>
        <p:spPr>
          <a:xfrm>
            <a:off x="5349240" y="1600200"/>
            <a:ext cx="118872" cy="118872"/>
          </a:xfrm>
          <a:prstGeom prst="ellipse">
            <a:avLst/>
          </a:prstGeom>
          <a:solidFill>
            <a:schemeClr val="accent3"/>
          </a:solidFill>
          <a:ln/>
        </p:spPr>
      </p:sp>
      <p:sp>
        <p:nvSpPr>
          <p:cNvPr id="11" name="Text 9"/>
          <p:cNvSpPr txBox="1"/>
          <p:nvPr/>
        </p:nvSpPr>
        <p:spPr>
          <a:xfrm>
            <a:off x="5532120" y="1517904"/>
            <a:ext cx="1188720" cy="274320"/>
          </a:xfrm>
          <a:prstGeom prst="rect">
            <a:avLst/>
          </a:prstGeom>
          <a:noFill/>
          <a:ln/>
        </p:spPr>
        <p:txBody>
          <a:bodyPr wrap="square" lIns="0" tIns="0" rIns="0" bIns="0" rtlCol="0" anchor="ctr"/>
          <a:lstStyle/>
          <a:p>
            <a:pPr indent="0" marL="0">
              <a:buNone/>
            </a:pPr>
            <a:r>
              <a:rPr lang="en-US" sz="1100" b="1" dirty="0">
                <a:solidFill>
                  <a:schemeClr val="accent3"/>
                </a:solidFill>
              </a:rPr>
              <a:t>Anhelo</a:t>
            </a:r>
            <a:endParaRPr lang="en-US" sz="1100" dirty="0"/>
          </a:p>
        </p:txBody>
      </p:sp>
      <p:sp>
        <p:nvSpPr>
          <p:cNvPr id="12" name="Shape 10"/>
          <p:cNvSpPr/>
          <p:nvPr/>
        </p:nvSpPr>
        <p:spPr>
          <a:xfrm>
            <a:off x="6766560" y="1600200"/>
            <a:ext cx="118872" cy="118872"/>
          </a:xfrm>
          <a:prstGeom prst="ellipse">
            <a:avLst/>
          </a:prstGeom>
          <a:solidFill>
            <a:schemeClr val="accent4"/>
          </a:solidFill>
          <a:ln/>
        </p:spPr>
      </p:sp>
      <p:sp>
        <p:nvSpPr>
          <p:cNvPr id="13" name="Text 11"/>
          <p:cNvSpPr txBox="1"/>
          <p:nvPr/>
        </p:nvSpPr>
        <p:spPr>
          <a:xfrm>
            <a:off x="6949440" y="1517904"/>
            <a:ext cx="1188720" cy="274320"/>
          </a:xfrm>
          <a:prstGeom prst="rect">
            <a:avLst/>
          </a:prstGeom>
          <a:noFill/>
          <a:ln/>
        </p:spPr>
        <p:txBody>
          <a:bodyPr wrap="square" lIns="0" tIns="0" rIns="0" bIns="0" rtlCol="0" anchor="ctr"/>
          <a:lstStyle/>
          <a:p>
            <a:pPr indent="0" marL="0">
              <a:buNone/>
            </a:pPr>
            <a:r>
              <a:rPr lang="en-US" sz="1100" b="1" dirty="0">
                <a:solidFill>
                  <a:schemeClr val="accent4"/>
                </a:solidFill>
              </a:rPr>
              <a:t>Cierre</a:t>
            </a:r>
            <a:endParaRPr lang="en-US" sz="1100" dirty="0"/>
          </a:p>
        </p:txBody>
      </p:sp>
      <p:sp>
        <p:nvSpPr>
          <p:cNvPr id="14" name="Shape 12"/>
          <p:cNvSpPr/>
          <p:nvPr/>
        </p:nvSpPr>
        <p:spPr>
          <a:xfrm>
            <a:off x="548640" y="1965960"/>
            <a:ext cx="5410048" cy="466344"/>
          </a:xfrm>
          <a:prstGeom prst="rect">
            <a:avLst/>
          </a:prstGeom>
          <a:solidFill>
            <a:srgbClr val="F4F6F9"/>
          </a:solidFill>
          <a:ln/>
        </p:spPr>
      </p:sp>
      <p:sp>
        <p:nvSpPr>
          <p:cNvPr id="15" name="Shape 13"/>
          <p:cNvSpPr/>
          <p:nvPr/>
        </p:nvSpPr>
        <p:spPr>
          <a:xfrm>
            <a:off x="548640" y="1965960"/>
            <a:ext cx="41148" cy="466344"/>
          </a:xfrm>
          <a:prstGeom prst="rect">
            <a:avLst/>
          </a:prstGeom>
          <a:solidFill>
            <a:schemeClr val="accent1"/>
          </a:solidFill>
          <a:ln/>
        </p:spPr>
      </p:sp>
      <p:pic>
        <p:nvPicPr>
          <p:cNvPr id="16" name="Image 0" descr="/tmp/claude-0/-home-user-mesenergiaes/5a011a92-143f-5232-b40a-c25f12780ce3/scratchpad/build/assets/chat-green.png">    </p:cNvPr>
          <p:cNvPicPr>
            <a:picLocks noChangeAspect="1"/>
          </p:cNvPicPr>
          <p:nvPr/>
        </p:nvPicPr>
        <p:blipFill>
          <a:blip r:embed="rId1"/>
          <a:stretch>
            <a:fillRect/>
          </a:stretch>
        </p:blipFill>
        <p:spPr>
          <a:xfrm>
            <a:off x="731520" y="2112264"/>
            <a:ext cx="182880" cy="182880"/>
          </a:xfrm>
          <a:prstGeom prst="rect">
            <a:avLst/>
          </a:prstGeom>
        </p:spPr>
      </p:pic>
      <p:sp>
        <p:nvSpPr>
          <p:cNvPr id="17" name="Text 14"/>
          <p:cNvSpPr txBox="1"/>
          <p:nvPr/>
        </p:nvSpPr>
        <p:spPr>
          <a:xfrm>
            <a:off x="1051560" y="2057400"/>
            <a:ext cx="4724248" cy="283464"/>
          </a:xfrm>
          <a:prstGeom prst="rect">
            <a:avLst/>
          </a:prstGeom>
          <a:noFill/>
          <a:ln/>
        </p:spPr>
        <p:txBody>
          <a:bodyPr wrap="square" lIns="0" tIns="0" rIns="0" bIns="0" rtlCol="0" anchor="ctr"/>
          <a:lstStyle/>
          <a:p>
            <a:pPr indent="0" marL="0">
              <a:buNone/>
            </a:pPr>
            <a:r>
              <a:rPr lang="en-US" sz="1200" dirty="0">
                <a:solidFill>
                  <a:schemeClr val="tx1"/>
                </a:solidFill>
              </a:rPr>
              <a:t>Buenos días, ¿hablo con la empresa </a:t>
            </a:r>
            <a:pPr indent="0" marL="0">
              <a:buNone/>
            </a:pPr>
            <a:r>
              <a:rPr lang="en-US" sz="1200" b="1" dirty="0">
                <a:solidFill>
                  <a:schemeClr val="accent2"/>
                </a:solidFill>
              </a:rPr>
              <a:t>[……]</a:t>
            </a:r>
            <a:pPr indent="0" marL="0">
              <a:buNone/>
            </a:pPr>
            <a:r>
              <a:rPr lang="en-US" sz="1200" dirty="0">
                <a:solidFill>
                  <a:schemeClr val="tx1"/>
                </a:solidFill>
              </a:rPr>
              <a:t>?</a:t>
            </a:r>
            <a:endParaRPr lang="en-US" sz="1200" dirty="0"/>
          </a:p>
        </p:txBody>
      </p:sp>
      <p:sp>
        <p:nvSpPr>
          <p:cNvPr id="18" name="Shape 15"/>
          <p:cNvSpPr/>
          <p:nvPr/>
        </p:nvSpPr>
        <p:spPr>
          <a:xfrm>
            <a:off x="548640" y="2706624"/>
            <a:ext cx="5410048" cy="850392"/>
          </a:xfrm>
          <a:prstGeom prst="rect">
            <a:avLst/>
          </a:prstGeom>
          <a:solidFill>
            <a:srgbClr val="F4F6F9"/>
          </a:solidFill>
          <a:ln/>
        </p:spPr>
      </p:sp>
      <p:sp>
        <p:nvSpPr>
          <p:cNvPr id="19" name="Shape 16"/>
          <p:cNvSpPr/>
          <p:nvPr/>
        </p:nvSpPr>
        <p:spPr>
          <a:xfrm>
            <a:off x="548640" y="2706624"/>
            <a:ext cx="41148" cy="850392"/>
          </a:xfrm>
          <a:prstGeom prst="rect">
            <a:avLst/>
          </a:prstGeom>
          <a:solidFill>
            <a:schemeClr val="accent1"/>
          </a:solidFill>
          <a:ln/>
        </p:spPr>
      </p:sp>
      <p:pic>
        <p:nvPicPr>
          <p:cNvPr id="20" name="Image 1" descr="/tmp/claude-0/-home-user-mesenergiaes/5a011a92-143f-5232-b40a-c25f12780ce3/scratchpad/build/assets/chat-green.png">    </p:cNvPr>
          <p:cNvPicPr>
            <a:picLocks noChangeAspect="1"/>
          </p:cNvPicPr>
          <p:nvPr/>
        </p:nvPicPr>
        <p:blipFill>
          <a:blip r:embed="rId2"/>
          <a:stretch>
            <a:fillRect/>
          </a:stretch>
        </p:blipFill>
        <p:spPr>
          <a:xfrm>
            <a:off x="731520" y="2852928"/>
            <a:ext cx="182880" cy="182880"/>
          </a:xfrm>
          <a:prstGeom prst="rect">
            <a:avLst/>
          </a:prstGeom>
        </p:spPr>
      </p:pic>
      <p:sp>
        <p:nvSpPr>
          <p:cNvPr id="21" name="Text 17"/>
          <p:cNvSpPr txBox="1"/>
          <p:nvPr/>
        </p:nvSpPr>
        <p:spPr>
          <a:xfrm>
            <a:off x="1051560" y="2798064"/>
            <a:ext cx="4724248" cy="667512"/>
          </a:xfrm>
          <a:prstGeom prst="rect">
            <a:avLst/>
          </a:prstGeom>
          <a:noFill/>
          <a:ln/>
        </p:spPr>
        <p:txBody>
          <a:bodyPr wrap="square" lIns="0" tIns="0" rIns="0" bIns="0" rtlCol="0" anchor="ctr"/>
          <a:lstStyle/>
          <a:p>
            <a:pPr indent="0" marL="0">
              <a:buNone/>
            </a:pPr>
            <a:r>
              <a:rPr lang="en-US" sz="1200" dirty="0">
                <a:solidFill>
                  <a:schemeClr val="tx1"/>
                </a:solidFill>
              </a:rPr>
              <a:t>Te comento: mi nombre es </a:t>
            </a:r>
            <a:pPr indent="0" marL="0">
              <a:buNone/>
            </a:pPr>
            <a:r>
              <a:rPr lang="en-US" sz="1200" b="1" dirty="0">
                <a:solidFill>
                  <a:schemeClr val="accent2"/>
                </a:solidFill>
              </a:rPr>
              <a:t>[Hugo Méndez]</a:t>
            </a:r>
            <a:pPr indent="0" marL="0">
              <a:buNone/>
            </a:pPr>
            <a:r>
              <a:rPr lang="en-US" sz="1200" dirty="0">
                <a:solidFill>
                  <a:schemeClr val="tx1"/>
                </a:solidFill>
              </a:rPr>
              <a:t> y te llamo de la asesoría energética </a:t>
            </a:r>
            <a:pPr indent="0" marL="0">
              <a:buNone/>
            </a:pPr>
            <a:r>
              <a:rPr lang="en-US" sz="1200" b="1" dirty="0">
                <a:solidFill>
                  <a:schemeClr val="tx1"/>
                </a:solidFill>
              </a:rPr>
              <a:t>+Energía</a:t>
            </a:r>
            <a:pPr indent="0" marL="0">
              <a:buNone/>
            </a:pPr>
            <a:r>
              <a:rPr lang="en-US" sz="1200" dirty="0">
                <a:solidFill>
                  <a:schemeClr val="tx1"/>
                </a:solidFill>
              </a:rPr>
              <a:t>, para hablar con la persona encargada de los suministros. ¿Eres tú mismo/a?</a:t>
            </a:r>
            <a:endParaRPr lang="en-US" sz="1200" dirty="0"/>
          </a:p>
        </p:txBody>
      </p:sp>
      <p:sp>
        <p:nvSpPr>
          <p:cNvPr id="22" name="Shape 18"/>
          <p:cNvSpPr/>
          <p:nvPr/>
        </p:nvSpPr>
        <p:spPr>
          <a:xfrm>
            <a:off x="548640" y="3831336"/>
            <a:ext cx="5410048" cy="850392"/>
          </a:xfrm>
          <a:prstGeom prst="rect">
            <a:avLst/>
          </a:prstGeom>
          <a:solidFill>
            <a:srgbClr val="F4F6F9"/>
          </a:solidFill>
          <a:ln/>
        </p:spPr>
      </p:sp>
      <p:sp>
        <p:nvSpPr>
          <p:cNvPr id="23" name="Shape 19"/>
          <p:cNvSpPr/>
          <p:nvPr/>
        </p:nvSpPr>
        <p:spPr>
          <a:xfrm>
            <a:off x="548640" y="3831336"/>
            <a:ext cx="41148" cy="850392"/>
          </a:xfrm>
          <a:prstGeom prst="rect">
            <a:avLst/>
          </a:prstGeom>
          <a:solidFill>
            <a:schemeClr val="accent2"/>
          </a:solidFill>
          <a:ln/>
        </p:spPr>
      </p:sp>
      <p:pic>
        <p:nvPicPr>
          <p:cNvPr id="24" name="Image 2" descr="/tmp/claude-0/-home-user-mesenergiaes/5a011a92-143f-5232-b40a-c25f12780ce3/scratchpad/build/assets/chat-blue.png">    </p:cNvPr>
          <p:cNvPicPr>
            <a:picLocks noChangeAspect="1"/>
          </p:cNvPicPr>
          <p:nvPr/>
        </p:nvPicPr>
        <p:blipFill>
          <a:blip r:embed="rId3"/>
          <a:stretch>
            <a:fillRect/>
          </a:stretch>
        </p:blipFill>
        <p:spPr>
          <a:xfrm>
            <a:off x="731520" y="3977640"/>
            <a:ext cx="182880" cy="182880"/>
          </a:xfrm>
          <a:prstGeom prst="rect">
            <a:avLst/>
          </a:prstGeom>
        </p:spPr>
      </p:pic>
      <p:sp>
        <p:nvSpPr>
          <p:cNvPr id="25" name="Text 20"/>
          <p:cNvSpPr txBox="1"/>
          <p:nvPr/>
        </p:nvSpPr>
        <p:spPr>
          <a:xfrm>
            <a:off x="1051560" y="3922776"/>
            <a:ext cx="4724248" cy="667512"/>
          </a:xfrm>
          <a:prstGeom prst="rect">
            <a:avLst/>
          </a:prstGeom>
          <a:noFill/>
          <a:ln/>
        </p:spPr>
        <p:txBody>
          <a:bodyPr wrap="square" lIns="0" tIns="0" rIns="0" bIns="0" rtlCol="0" anchor="ctr"/>
          <a:lstStyle/>
          <a:p>
            <a:pPr indent="0" marL="0">
              <a:buNone/>
            </a:pPr>
            <a:r>
              <a:rPr lang="en-US" sz="1200" dirty="0">
                <a:solidFill>
                  <a:schemeClr val="tx1"/>
                </a:solidFill>
              </a:rPr>
              <a:t>Te contactamos porque hemos detectado que tienes un consumo de </a:t>
            </a:r>
            <a:pPr indent="0" marL="0">
              <a:buNone/>
            </a:pPr>
            <a:r>
              <a:rPr lang="en-US" sz="1200" b="1" dirty="0">
                <a:solidFill>
                  <a:schemeClr val="accent2"/>
                </a:solidFill>
              </a:rPr>
              <a:t>[xxx]</a:t>
            </a:r>
            <a:pPr indent="0" marL="0">
              <a:buNone/>
            </a:pPr>
            <a:r>
              <a:rPr lang="en-US" sz="1200" dirty="0">
                <a:solidFill>
                  <a:schemeClr val="tx1"/>
                </a:solidFill>
              </a:rPr>
              <a:t> kW y nos consta que tienes una </a:t>
            </a:r>
            <a:pPr indent="0" marL="0">
              <a:buNone/>
            </a:pPr>
            <a:r>
              <a:rPr lang="en-US" sz="1200" b="1" dirty="0">
                <a:solidFill>
                  <a:schemeClr val="tx1"/>
                </a:solidFill>
              </a:rPr>
              <a:t>tarifa estándar</a:t>
            </a:r>
            <a:pPr indent="0" marL="0">
              <a:buNone/>
            </a:pPr>
            <a:r>
              <a:rPr lang="en-US" sz="1200" dirty="0">
                <a:solidFill>
                  <a:schemeClr val="tx1"/>
                </a:solidFill>
              </a:rPr>
              <a:t> cuando deberías tener una </a:t>
            </a:r>
            <a:pPr indent="0" marL="0">
              <a:buNone/>
            </a:pPr>
            <a:r>
              <a:rPr lang="en-US" sz="1200" b="1" dirty="0">
                <a:solidFill>
                  <a:schemeClr val="tx1"/>
                </a:solidFill>
              </a:rPr>
              <a:t>tarifa de gran consumo</a:t>
            </a:r>
            <a:pPr indent="0" marL="0">
              <a:buNone/>
            </a:pPr>
            <a:r>
              <a:rPr lang="en-US" sz="1200" dirty="0">
                <a:solidFill>
                  <a:schemeClr val="tx1"/>
                </a:solidFill>
              </a:rPr>
              <a:t>…</a:t>
            </a:r>
            <a:endParaRPr lang="en-US" sz="1200" dirty="0"/>
          </a:p>
        </p:txBody>
      </p:sp>
      <p:sp>
        <p:nvSpPr>
          <p:cNvPr id="26" name="Shape 21"/>
          <p:cNvSpPr/>
          <p:nvPr/>
        </p:nvSpPr>
        <p:spPr>
          <a:xfrm>
            <a:off x="548640" y="4956048"/>
            <a:ext cx="5410048" cy="1234440"/>
          </a:xfrm>
          <a:prstGeom prst="rect">
            <a:avLst/>
          </a:prstGeom>
          <a:solidFill>
            <a:srgbClr val="F4F6F9"/>
          </a:solidFill>
          <a:ln/>
        </p:spPr>
      </p:sp>
      <p:sp>
        <p:nvSpPr>
          <p:cNvPr id="27" name="Shape 22"/>
          <p:cNvSpPr/>
          <p:nvPr/>
        </p:nvSpPr>
        <p:spPr>
          <a:xfrm>
            <a:off x="548640" y="4956048"/>
            <a:ext cx="41148" cy="1234440"/>
          </a:xfrm>
          <a:prstGeom prst="rect">
            <a:avLst/>
          </a:prstGeom>
          <a:solidFill>
            <a:schemeClr val="accent3"/>
          </a:solidFill>
          <a:ln/>
        </p:spPr>
      </p:sp>
      <p:pic>
        <p:nvPicPr>
          <p:cNvPr id="28" name="Image 3" descr="/tmp/claude-0/-home-user-mesenergiaes/5a011a92-143f-5232-b40a-c25f12780ce3/scratchpad/build/assets/chat-orange.png">    </p:cNvPr>
          <p:cNvPicPr>
            <a:picLocks noChangeAspect="1"/>
          </p:cNvPicPr>
          <p:nvPr/>
        </p:nvPicPr>
        <p:blipFill>
          <a:blip r:embed="rId4"/>
          <a:stretch>
            <a:fillRect/>
          </a:stretch>
        </p:blipFill>
        <p:spPr>
          <a:xfrm>
            <a:off x="731520" y="5102352"/>
            <a:ext cx="182880" cy="182880"/>
          </a:xfrm>
          <a:prstGeom prst="rect">
            <a:avLst/>
          </a:prstGeom>
        </p:spPr>
      </p:pic>
      <p:sp>
        <p:nvSpPr>
          <p:cNvPr id="29" name="Text 23"/>
          <p:cNvSpPr txBox="1"/>
          <p:nvPr/>
        </p:nvSpPr>
        <p:spPr>
          <a:xfrm>
            <a:off x="1051560" y="5047488"/>
            <a:ext cx="4724248" cy="1051560"/>
          </a:xfrm>
          <a:prstGeom prst="rect">
            <a:avLst/>
          </a:prstGeom>
          <a:noFill/>
          <a:ln/>
        </p:spPr>
        <p:txBody>
          <a:bodyPr wrap="square" lIns="0" tIns="0" rIns="0" bIns="0" rtlCol="0" anchor="ctr"/>
          <a:lstStyle/>
          <a:p>
            <a:pPr indent="0" marL="0">
              <a:buNone/>
            </a:pPr>
            <a:r>
              <a:rPr lang="en-US" sz="1200" dirty="0">
                <a:solidFill>
                  <a:schemeClr val="tx1"/>
                </a:solidFill>
              </a:rPr>
              <a:t>Nosotros somos una asesoría energética que trabaja con tu compañía; de hecho, trabajamos con todas: Endesa, Iberdrola, Naturgy… y nuestra misión es poder hacerte un </a:t>
            </a:r>
            <a:pPr indent="0" marL="0">
              <a:buNone/>
            </a:pPr>
            <a:r>
              <a:rPr lang="en-US" sz="1200" b="1" dirty="0">
                <a:solidFill>
                  <a:schemeClr val="tx1"/>
                </a:solidFill>
              </a:rPr>
              <a:t>estudio totalmente gratuito</a:t>
            </a:r>
            <a:pPr indent="0" marL="0">
              <a:buNone/>
            </a:pPr>
            <a:r>
              <a:rPr lang="en-US" sz="1200" dirty="0">
                <a:solidFill>
                  <a:schemeClr val="tx1"/>
                </a:solidFill>
              </a:rPr>
              <a:t>, para que sepas cuáles son las mejores condiciones del mercado actual.</a:t>
            </a:r>
            <a:endParaRPr lang="en-US" sz="1200" dirty="0"/>
          </a:p>
        </p:txBody>
      </p:sp>
      <p:sp>
        <p:nvSpPr>
          <p:cNvPr id="30" name="Shape 24"/>
          <p:cNvSpPr/>
          <p:nvPr/>
        </p:nvSpPr>
        <p:spPr>
          <a:xfrm>
            <a:off x="6233008" y="1965960"/>
            <a:ext cx="5410048" cy="658368"/>
          </a:xfrm>
          <a:prstGeom prst="rect">
            <a:avLst/>
          </a:prstGeom>
          <a:solidFill>
            <a:srgbClr val="F4F6F9"/>
          </a:solidFill>
          <a:ln/>
        </p:spPr>
      </p:sp>
      <p:sp>
        <p:nvSpPr>
          <p:cNvPr id="31" name="Shape 25"/>
          <p:cNvSpPr/>
          <p:nvPr/>
        </p:nvSpPr>
        <p:spPr>
          <a:xfrm>
            <a:off x="6233008" y="1965960"/>
            <a:ext cx="41148" cy="658368"/>
          </a:xfrm>
          <a:prstGeom prst="rect">
            <a:avLst/>
          </a:prstGeom>
          <a:solidFill>
            <a:schemeClr val="accent3"/>
          </a:solidFill>
          <a:ln/>
        </p:spPr>
      </p:sp>
      <p:pic>
        <p:nvPicPr>
          <p:cNvPr id="32" name="Image 4" descr="/tmp/claude-0/-home-user-mesenergiaes/5a011a92-143f-5232-b40a-c25f12780ce3/scratchpad/build/assets/chat-orange.png">    </p:cNvPr>
          <p:cNvPicPr>
            <a:picLocks noChangeAspect="1"/>
          </p:cNvPicPr>
          <p:nvPr/>
        </p:nvPicPr>
        <p:blipFill>
          <a:blip r:embed="rId5"/>
          <a:stretch>
            <a:fillRect/>
          </a:stretch>
        </p:blipFill>
        <p:spPr>
          <a:xfrm>
            <a:off x="6415888" y="2112264"/>
            <a:ext cx="182880" cy="182880"/>
          </a:xfrm>
          <a:prstGeom prst="rect">
            <a:avLst/>
          </a:prstGeom>
        </p:spPr>
      </p:pic>
      <p:sp>
        <p:nvSpPr>
          <p:cNvPr id="33" name="Text 26"/>
          <p:cNvSpPr txBox="1"/>
          <p:nvPr/>
        </p:nvSpPr>
        <p:spPr>
          <a:xfrm>
            <a:off x="6735928" y="2057400"/>
            <a:ext cx="4724248" cy="475488"/>
          </a:xfrm>
          <a:prstGeom prst="rect">
            <a:avLst/>
          </a:prstGeom>
          <a:noFill/>
          <a:ln/>
        </p:spPr>
        <p:txBody>
          <a:bodyPr wrap="square" lIns="0" tIns="0" rIns="0" bIns="0" rtlCol="0" anchor="ctr"/>
          <a:lstStyle/>
          <a:p>
            <a:pPr indent="0" marL="0">
              <a:buNone/>
            </a:pPr>
            <a:r>
              <a:rPr lang="en-US" sz="1200" dirty="0">
                <a:solidFill>
                  <a:schemeClr val="tx1"/>
                </a:solidFill>
              </a:rPr>
              <a:t>También hacemos un estudio de la </a:t>
            </a:r>
            <a:pPr indent="0" marL="0">
              <a:buNone/>
            </a:pPr>
            <a:r>
              <a:rPr lang="en-US" sz="1200" b="1" dirty="0">
                <a:solidFill>
                  <a:schemeClr val="tx1"/>
                </a:solidFill>
              </a:rPr>
              <a:t>optimización de potencia</a:t>
            </a:r>
            <a:pPr indent="0" marL="0">
              <a:buNone/>
            </a:pPr>
            <a:r>
              <a:rPr lang="en-US" sz="1200" dirty="0">
                <a:solidFill>
                  <a:schemeClr val="tx1"/>
                </a:solidFill>
              </a:rPr>
              <a:t> para poder ajustar al máximo los costes de tu empresa.</a:t>
            </a:r>
            <a:endParaRPr lang="en-US" sz="1200" dirty="0"/>
          </a:p>
        </p:txBody>
      </p:sp>
      <p:sp>
        <p:nvSpPr>
          <p:cNvPr id="34" name="Shape 27"/>
          <p:cNvSpPr/>
          <p:nvPr/>
        </p:nvSpPr>
        <p:spPr>
          <a:xfrm>
            <a:off x="6233008" y="2822448"/>
            <a:ext cx="5410048" cy="914400"/>
          </a:xfrm>
          <a:prstGeom prst="rect">
            <a:avLst/>
          </a:prstGeom>
          <a:solidFill>
            <a:srgbClr val="FDF1E3"/>
          </a:solidFill>
          <a:ln/>
        </p:spPr>
      </p:sp>
      <p:sp>
        <p:nvSpPr>
          <p:cNvPr id="35" name="Shape 28"/>
          <p:cNvSpPr/>
          <p:nvPr/>
        </p:nvSpPr>
        <p:spPr>
          <a:xfrm>
            <a:off x="6233008" y="2822448"/>
            <a:ext cx="41148" cy="914400"/>
          </a:xfrm>
          <a:prstGeom prst="rect">
            <a:avLst/>
          </a:prstGeom>
          <a:solidFill>
            <a:schemeClr val="accent3"/>
          </a:solidFill>
          <a:ln/>
        </p:spPr>
      </p:sp>
      <p:sp>
        <p:nvSpPr>
          <p:cNvPr id="36" name="Text 29"/>
          <p:cNvSpPr txBox="1"/>
          <p:nvPr/>
        </p:nvSpPr>
        <p:spPr>
          <a:xfrm>
            <a:off x="6461608" y="2822448"/>
            <a:ext cx="2103120" cy="914400"/>
          </a:xfrm>
          <a:prstGeom prst="rect">
            <a:avLst/>
          </a:prstGeom>
          <a:noFill/>
          <a:ln/>
        </p:spPr>
        <p:txBody>
          <a:bodyPr wrap="square" lIns="0" tIns="0" rIns="0" bIns="0" rtlCol="0" anchor="ctr"/>
          <a:lstStyle/>
          <a:p>
            <a:pPr indent="0" marL="0">
              <a:buNone/>
            </a:pPr>
            <a:r>
              <a:rPr lang="en-US" sz="3000" b="1" dirty="0">
                <a:solidFill>
                  <a:schemeClr val="accent3"/>
                </a:solidFill>
              </a:rPr>
              <a:t>20–40 %</a:t>
            </a:r>
            <a:endParaRPr lang="en-US" sz="3000" dirty="0"/>
          </a:p>
        </p:txBody>
      </p:sp>
      <p:sp>
        <p:nvSpPr>
          <p:cNvPr id="37" name="Text 30"/>
          <p:cNvSpPr txBox="1"/>
          <p:nvPr/>
        </p:nvSpPr>
        <p:spPr>
          <a:xfrm>
            <a:off x="8610448" y="2822448"/>
            <a:ext cx="2849728" cy="914400"/>
          </a:xfrm>
          <a:prstGeom prst="rect">
            <a:avLst/>
          </a:prstGeom>
          <a:noFill/>
          <a:ln/>
        </p:spPr>
        <p:txBody>
          <a:bodyPr wrap="square" lIns="0" tIns="0" rIns="0" bIns="0" rtlCol="0" anchor="ctr"/>
          <a:lstStyle/>
          <a:p>
            <a:pPr indent="0" marL="0">
              <a:buNone/>
            </a:pPr>
            <a:r>
              <a:rPr lang="en-US" sz="1200" dirty="0">
                <a:solidFill>
                  <a:schemeClr val="tx1"/>
                </a:solidFill>
              </a:rPr>
              <a:t>Actualmente conseguimos entre un 20 % y un 40 % de ahorro en tus facturas…</a:t>
            </a:r>
            <a:endParaRPr lang="en-US" sz="1200" dirty="0"/>
          </a:p>
        </p:txBody>
      </p:sp>
      <p:sp>
        <p:nvSpPr>
          <p:cNvPr id="38" name="Shape 31"/>
          <p:cNvSpPr/>
          <p:nvPr/>
        </p:nvSpPr>
        <p:spPr>
          <a:xfrm>
            <a:off x="6233008" y="3934968"/>
            <a:ext cx="5410048" cy="1234440"/>
          </a:xfrm>
          <a:prstGeom prst="rect">
            <a:avLst/>
          </a:prstGeom>
          <a:solidFill>
            <a:srgbClr val="F4F6F9"/>
          </a:solidFill>
          <a:ln/>
        </p:spPr>
      </p:sp>
      <p:sp>
        <p:nvSpPr>
          <p:cNvPr id="39" name="Shape 32"/>
          <p:cNvSpPr/>
          <p:nvPr/>
        </p:nvSpPr>
        <p:spPr>
          <a:xfrm>
            <a:off x="6233008" y="3934968"/>
            <a:ext cx="41148" cy="1234440"/>
          </a:xfrm>
          <a:prstGeom prst="rect">
            <a:avLst/>
          </a:prstGeom>
          <a:solidFill>
            <a:schemeClr val="accent4"/>
          </a:solidFill>
          <a:ln/>
        </p:spPr>
      </p:sp>
      <p:pic>
        <p:nvPicPr>
          <p:cNvPr id="40" name="Image 5" descr="/tmp/claude-0/-home-user-mesenergiaes/5a011a92-143f-5232-b40a-c25f12780ce3/scratchpad/build/assets/chat-navy.png">    </p:cNvPr>
          <p:cNvPicPr>
            <a:picLocks noChangeAspect="1"/>
          </p:cNvPicPr>
          <p:nvPr/>
        </p:nvPicPr>
        <p:blipFill>
          <a:blip r:embed="rId6"/>
          <a:stretch>
            <a:fillRect/>
          </a:stretch>
        </p:blipFill>
        <p:spPr>
          <a:xfrm>
            <a:off x="6415888" y="4081272"/>
            <a:ext cx="182880" cy="182880"/>
          </a:xfrm>
          <a:prstGeom prst="rect">
            <a:avLst/>
          </a:prstGeom>
        </p:spPr>
      </p:pic>
      <p:sp>
        <p:nvSpPr>
          <p:cNvPr id="41" name="Text 33"/>
          <p:cNvSpPr txBox="1"/>
          <p:nvPr/>
        </p:nvSpPr>
        <p:spPr>
          <a:xfrm>
            <a:off x="6735928" y="4026408"/>
            <a:ext cx="4724248" cy="1051560"/>
          </a:xfrm>
          <a:prstGeom prst="rect">
            <a:avLst/>
          </a:prstGeom>
          <a:noFill/>
          <a:ln/>
        </p:spPr>
        <p:txBody>
          <a:bodyPr wrap="square" lIns="0" tIns="0" rIns="0" bIns="0" rtlCol="0" anchor="ctr"/>
          <a:lstStyle/>
          <a:p>
            <a:pPr indent="0" marL="0">
              <a:buNone/>
            </a:pPr>
            <a:r>
              <a:rPr lang="en-US" sz="1200" dirty="0">
                <a:solidFill>
                  <a:schemeClr val="tx1"/>
                </a:solidFill>
              </a:rPr>
              <a:t>El procedimiento es muy sencillo: me confirmas una dirección de </a:t>
            </a:r>
            <a:pPr indent="0" marL="0">
              <a:buNone/>
            </a:pPr>
            <a:r>
              <a:rPr lang="en-US" sz="1200" b="1" dirty="0">
                <a:solidFill>
                  <a:schemeClr val="tx1"/>
                </a:solidFill>
              </a:rPr>
              <a:t>correo electrónico</a:t>
            </a:r>
            <a:pPr indent="0" marL="0">
              <a:buNone/>
            </a:pPr>
            <a:r>
              <a:rPr lang="en-US" sz="1200" dirty="0">
                <a:solidFill>
                  <a:schemeClr val="tx1"/>
                </a:solidFill>
              </a:rPr>
              <a:t> y te envío la presentación de nuestra empresa para que puedas verla, y en ese mismo mail te solicitamos que nos envíes las </a:t>
            </a:r>
            <a:pPr indent="0" marL="0">
              <a:buNone/>
            </a:pPr>
            <a:r>
              <a:rPr lang="en-US" sz="1200" b="1" dirty="0">
                <a:solidFill>
                  <a:schemeClr val="tx1"/>
                </a:solidFill>
              </a:rPr>
              <a:t>dos últimas facturas</a:t>
            </a:r>
            <a:pPr indent="0" marL="0">
              <a:buNone/>
            </a:pPr>
            <a:r>
              <a:rPr lang="en-US" sz="1200" dirty="0">
                <a:solidFill>
                  <a:schemeClr val="tx1"/>
                </a:solidFill>
              </a:rPr>
              <a:t> para que te podamos hacer el estudio…</a:t>
            </a:r>
            <a:endParaRPr lang="en-US" sz="1200" dirty="0"/>
          </a:p>
        </p:txBody>
      </p:sp>
      <p:sp>
        <p:nvSpPr>
          <p:cNvPr id="42" name="Shape 34"/>
          <p:cNvSpPr/>
          <p:nvPr/>
        </p:nvSpPr>
        <p:spPr>
          <a:xfrm>
            <a:off x="6233008" y="5367528"/>
            <a:ext cx="5410048" cy="850392"/>
          </a:xfrm>
          <a:prstGeom prst="rect">
            <a:avLst/>
          </a:prstGeom>
          <a:solidFill>
            <a:srgbClr val="F4F6F9"/>
          </a:solidFill>
          <a:ln/>
        </p:spPr>
      </p:sp>
      <p:sp>
        <p:nvSpPr>
          <p:cNvPr id="43" name="Shape 35"/>
          <p:cNvSpPr/>
          <p:nvPr/>
        </p:nvSpPr>
        <p:spPr>
          <a:xfrm>
            <a:off x="6233008" y="5367528"/>
            <a:ext cx="41148" cy="850392"/>
          </a:xfrm>
          <a:prstGeom prst="rect">
            <a:avLst/>
          </a:prstGeom>
          <a:solidFill>
            <a:schemeClr val="accent4"/>
          </a:solidFill>
          <a:ln/>
        </p:spPr>
      </p:sp>
      <p:pic>
        <p:nvPicPr>
          <p:cNvPr id="44" name="Image 6" descr="/tmp/claude-0/-home-user-mesenergiaes/5a011a92-143f-5232-b40a-c25f12780ce3/scratchpad/build/assets/chat-navy.png">    </p:cNvPr>
          <p:cNvPicPr>
            <a:picLocks noChangeAspect="1"/>
          </p:cNvPicPr>
          <p:nvPr/>
        </p:nvPicPr>
        <p:blipFill>
          <a:blip r:embed="rId7"/>
          <a:stretch>
            <a:fillRect/>
          </a:stretch>
        </p:blipFill>
        <p:spPr>
          <a:xfrm>
            <a:off x="6415888" y="5513832"/>
            <a:ext cx="182880" cy="182880"/>
          </a:xfrm>
          <a:prstGeom prst="rect">
            <a:avLst/>
          </a:prstGeom>
        </p:spPr>
      </p:pic>
      <p:sp>
        <p:nvSpPr>
          <p:cNvPr id="45" name="Text 36"/>
          <p:cNvSpPr txBox="1"/>
          <p:nvPr/>
        </p:nvSpPr>
        <p:spPr>
          <a:xfrm>
            <a:off x="6735928" y="5458968"/>
            <a:ext cx="4724248" cy="667512"/>
          </a:xfrm>
          <a:prstGeom prst="rect">
            <a:avLst/>
          </a:prstGeom>
          <a:noFill/>
          <a:ln/>
        </p:spPr>
        <p:txBody>
          <a:bodyPr wrap="square" lIns="0" tIns="0" rIns="0" bIns="0" rtlCol="0" anchor="ctr"/>
          <a:lstStyle/>
          <a:p>
            <a:pPr indent="0" marL="0">
              <a:buNone/>
            </a:pPr>
            <a:r>
              <a:rPr lang="en-US" sz="1200" dirty="0">
                <a:solidFill>
                  <a:schemeClr val="tx1"/>
                </a:solidFill>
              </a:rPr>
              <a:t>Si prefieres, puedo </a:t>
            </a:r>
            <a:pPr indent="0" marL="0">
              <a:buNone/>
            </a:pPr>
            <a:r>
              <a:rPr lang="en-US" sz="1200" b="1" dirty="0">
                <a:solidFill>
                  <a:schemeClr val="tx1"/>
                </a:solidFill>
              </a:rPr>
              <a:t>pasar por tu local</a:t>
            </a:r>
            <a:pPr indent="0" marL="0">
              <a:buNone/>
            </a:pPr>
            <a:r>
              <a:rPr lang="en-US" sz="1200" dirty="0">
                <a:solidFill>
                  <a:schemeClr val="tx1"/>
                </a:solidFill>
              </a:rPr>
              <a:t> y lo vemos in situ: cojo las facturas y en un par de días te presentamos el estudio energético realizado.</a:t>
            </a:r>
            <a:endParaRPr lang="en-US" sz="120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941832"/>
            <a:ext cx="457200" cy="457200"/>
          </a:xfrm>
          <a:prstGeom prst="ellipse">
            <a:avLst/>
          </a:prstGeom>
          <a:solidFill>
            <a:schemeClr val="accent1"/>
          </a:solidFill>
          <a:ln/>
        </p:spPr>
      </p:sp>
      <p:sp>
        <p:nvSpPr>
          <p:cNvPr id="3" name="Text 1"/>
          <p:cNvSpPr txBox="1"/>
          <p:nvPr/>
        </p:nvSpPr>
        <p:spPr>
          <a:xfrm>
            <a:off x="548640" y="941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4" name="Text 3"/>
          <p:cNvSpPr/>
          <p:nvPr>
            <p:ph idx="105" type="title" hasCustomPrompt="1"/>
          </p:nvPr>
        </p:nvSpPr>
        <p:spPr>
          <a:xfrm>
            <a:off x="1143000" y="896112"/>
            <a:ext cx="10469880" cy="548640"/>
          </a:xfrm>
          <a:prstGeom prst="rect">
            <a:avLst/>
          </a:prstGeom>
          <a:noFill/>
          <a:ln/>
        </p:spPr>
        <p:txBody>
          <a:bodyPr wrap="square" lIns="0" tIns="0" rIns="0" bIns="0" rtlCol="0" anchor="ctr"/>
          <a:lstStyle/>
          <a:p>
            <a:pPr algn="l" indent="0" marL="0">
              <a:buNone/>
            </a:pPr>
            <a:r>
              <a:rPr lang="en-US" sz="2600" b="1" dirty="0">
                <a:solidFill>
                  <a:schemeClr val="tx2"/>
                </a:solidFill>
              </a:rPr>
              <a:t>Programación y gestión del tiempo</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350" dirty="0">
                <a:solidFill>
                  <a:schemeClr val="tx1"/>
                </a:solidFill>
              </a:rPr>
              <a:t>El horario y el método de trabajo son esenciales para poder llegar a tus objetivos: </a:t>
            </a:r>
            <a:pPr indent="0" marL="0">
              <a:buNone/>
            </a:pPr>
            <a:r>
              <a:rPr lang="en-US" sz="1350" b="1" dirty="0">
                <a:solidFill>
                  <a:schemeClr val="tx1"/>
                </a:solidFill>
              </a:rPr>
              <a:t>un buen uso de tu tiempo te hará más efectivo y más rentable.</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1417320"/>
                <a:gridCol w="1935419"/>
                <a:gridCol w="1935419"/>
                <a:gridCol w="1935419"/>
                <a:gridCol w="1935419"/>
                <a:gridCol w="1935419"/>
              </a:tblGrid>
              <a:tr h="310896">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HORA</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LUNES</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MARTES</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MIÉRCOLES</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JUEVES</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c>
                  <a:txBody>
                    <a:bodyPr/>
                    <a:lstStyle/>
                    <a:p>
                      <a:pPr algn="ctr" indent="0" marL="0">
                        <a:buNone/>
                      </a:pPr>
                      <a:r>
                        <a:rPr lang="en-US" sz="900" b="1" spc="150" kern="0" dirty="0">
                          <a:solidFill>
                            <a:srgbClr val="FFFFFF"/>
                          </a:solidFill>
                          <a:latin typeface="Montserrat" pitchFamily="34" charset="0"/>
                          <a:ea typeface="Montserrat" pitchFamily="34" charset="-122"/>
                          <a:cs typeface="Montserrat" pitchFamily="34" charset="-120"/>
                        </a:rPr>
                        <a:t>VIERNES</a:t>
                      </a:r>
                      <a:endParaRPr lang="en-US" sz="9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260"/>
                    </a:solidFill>
                  </a:tcPr>
                </a:tc>
              </a:tr>
              <a:tr h="402336">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8:45</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a:txBody>
                    <a:bodyPr/>
                    <a:lstStyle/>
                    <a:p>
                      <a:pPr algn="ctr" indent="0" marL="0">
                        <a:buNone/>
                      </a:pPr>
                      <a:r>
                        <a:rPr lang="en-US" sz="1100" b="1" dirty="0">
                          <a:solidFill>
                            <a:srgbClr val="C46E17"/>
                          </a:solidFill>
                          <a:latin typeface="Montserrat" pitchFamily="34" charset="0"/>
                          <a:ea typeface="Montserrat" pitchFamily="34" charset="-122"/>
                          <a:cs typeface="Montserrat" pitchFamily="34" charset="-120"/>
                        </a:rPr>
                        <a:t>Registro + preparar Nodo + programar el día + listado de clientes + abrir mail y herramientas</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1E3"/>
                    </a:solidFill>
                  </a:tcPr>
                </a:tc>
                <a:tc hMerge="1">
                  <a:tcPr/>
                </a:tc>
                <a:tc hMerge="1">
                  <a:tcPr/>
                </a:tc>
                <a:tc hMerge="1">
                  <a:tcPr/>
                </a:tc>
                <a:tc hMerge="1">
                  <a:tcPr/>
                </a:tc>
              </a:tr>
              <a:tr h="402336">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9:00 – 11:00</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a:txBody>
                    <a:bodyPr/>
                    <a:lstStyle/>
                    <a:p>
                      <a:pPr algn="ctr" indent="0" marL="0">
                        <a:buNone/>
                      </a:pPr>
                      <a:r>
                        <a:rPr lang="en-US" sz="1100" b="1" dirty="0">
                          <a:solidFill>
                            <a:srgbClr val="4E8A2B"/>
                          </a:solidFill>
                          <a:latin typeface="Montserrat" pitchFamily="34" charset="0"/>
                          <a:ea typeface="Montserrat" pitchFamily="34" charset="-122"/>
                          <a:cs typeface="Montserrat" pitchFamily="34" charset="-120"/>
                        </a:rPr>
                        <a:t>Bloque de dos horas de llamadas sin parar · 20 llamadas</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6"/>
                    </a:solidFill>
                  </a:tcPr>
                </a:tc>
                <a:tc hMerge="1">
                  <a:tcPr/>
                </a:tc>
                <a:tc hMerge="1">
                  <a:tcPr/>
                </a:tc>
                <a:tc hMerge="1">
                  <a:tcPr/>
                </a:tc>
                <a:tc hMerge="1">
                  <a:tcPr/>
                </a:tc>
              </a:tr>
              <a:tr h="347472">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11:00 – 11:10</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a:txBody>
                    <a:bodyPr/>
                    <a:lstStyle/>
                    <a:p>
                      <a:pPr algn="ctr" indent="0" marL="0">
                        <a:buNone/>
                      </a:pPr>
                      <a:r>
                        <a:rPr lang="en-US" sz="1100" dirty="0">
                          <a:solidFill>
                            <a:srgbClr val="5D6472"/>
                          </a:solidFill>
                          <a:latin typeface="Montserrat" pitchFamily="34" charset="0"/>
                          <a:ea typeface="Montserrat" pitchFamily="34" charset="-122"/>
                          <a:cs typeface="Montserrat" pitchFamily="34" charset="-120"/>
                        </a:rPr>
                        <a:t>Descanso + desayuno</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hMerge="1">
                  <a:tcPr/>
                </a:tc>
                <a:tc hMerge="1">
                  <a:tcPr/>
                </a:tc>
                <a:tc hMerge="1">
                  <a:tcPr/>
                </a:tc>
                <a:tc hMerge="1">
                  <a:tcPr/>
                </a:tc>
              </a:tr>
              <a:tr h="402336">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11:15 – 14:15</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a:txBody>
                    <a:bodyPr/>
                    <a:lstStyle/>
                    <a:p>
                      <a:pPr algn="ctr" indent="0" marL="0">
                        <a:buNone/>
                      </a:pPr>
                      <a:r>
                        <a:rPr lang="en-US" sz="1100" b="1" dirty="0">
                          <a:solidFill>
                            <a:srgbClr val="4E8A2B"/>
                          </a:solidFill>
                          <a:latin typeface="Montserrat" pitchFamily="34" charset="0"/>
                          <a:ea typeface="Montserrat" pitchFamily="34" charset="-122"/>
                          <a:cs typeface="Montserrat" pitchFamily="34" charset="-120"/>
                        </a:rPr>
                        <a:t>Bloque de dos horas de llamadas + concertar visitas + enviar mails</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6"/>
                    </a:solidFill>
                  </a:tcPr>
                </a:tc>
                <a:tc hMerge="1">
                  <a:tcPr/>
                </a:tc>
                <a:tc hMerge="1">
                  <a:tcPr/>
                </a:tc>
                <a:tc hMerge="1">
                  <a:tcPr/>
                </a:tc>
                <a:tc hMerge="1">
                  <a:tcPr/>
                </a:tc>
              </a:tr>
              <a:tr h="347472">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14:15 – 15:00</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a:txBody>
                    <a:bodyPr/>
                    <a:lstStyle/>
                    <a:p>
                      <a:pPr algn="ctr" indent="0" marL="0">
                        <a:buNone/>
                      </a:pPr>
                      <a:r>
                        <a:rPr lang="en-US" sz="1100" dirty="0">
                          <a:solidFill>
                            <a:srgbClr val="5D6472"/>
                          </a:solidFill>
                          <a:latin typeface="Montserrat" pitchFamily="34" charset="0"/>
                          <a:ea typeface="Montserrat" pitchFamily="34" charset="-122"/>
                          <a:cs typeface="Montserrat" pitchFamily="34" charset="-120"/>
                        </a:rPr>
                        <a:t>Descanso + comer</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6F9"/>
                    </a:solidFill>
                  </a:tcPr>
                </a:tc>
                <a:tc hMerge="1">
                  <a:tcPr/>
                </a:tc>
                <a:tc hMerge="1">
                  <a:tcPr/>
                </a:tc>
                <a:tc hMerge="1">
                  <a:tcPr/>
                </a:tc>
                <a:tc hMerge="1">
                  <a:tcPr/>
                </a:tc>
              </a:tr>
              <a:tr h="548640">
                <a:tc>
                  <a:txBody>
                    <a:bodyPr/>
                    <a:lstStyle/>
                    <a:p>
                      <a:pPr indent="0" marL="0">
                        <a:buNone/>
                      </a:pPr>
                      <a:r>
                        <a:rPr lang="en-US" sz="1050" b="1" dirty="0">
                          <a:solidFill>
                            <a:srgbClr val="1F3260"/>
                          </a:solidFill>
                          <a:latin typeface="Montserrat" pitchFamily="34" charset="0"/>
                          <a:ea typeface="Montserrat" pitchFamily="34" charset="-122"/>
                          <a:cs typeface="Montserrat" pitchFamily="34" charset="-120"/>
                        </a:rPr>
                        <a:t>15:00 – 17:00</a:t>
                      </a:r>
                      <a:endParaRPr lang="en-US" sz="105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46E17"/>
                          </a:solidFill>
                          <a:latin typeface="Montserrat" pitchFamily="34" charset="0"/>
                          <a:ea typeface="Montserrat" pitchFamily="34" charset="-122"/>
                          <a:cs typeface="Montserrat" pitchFamily="34" charset="-120"/>
                        </a:rPr>
                        <a:t>Concertar visitas para toda la semana y planificar</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1E3"/>
                    </a:solidFill>
                  </a:tcPr>
                </a:tc>
                <a:tc gridSpan="3">
                  <a:txBody>
                    <a:bodyPr/>
                    <a:lstStyle/>
                    <a:p>
                      <a:pPr algn="ctr" indent="0" marL="0">
                        <a:buNone/>
                      </a:pPr>
                      <a:r>
                        <a:rPr lang="en-US" sz="1100" b="1" dirty="0">
                          <a:solidFill>
                            <a:srgbClr val="2F5F9B"/>
                          </a:solidFill>
                          <a:latin typeface="Montserrat" pitchFamily="34" charset="0"/>
                          <a:ea typeface="Montserrat" pitchFamily="34" charset="-122"/>
                          <a:cs typeface="Montserrat" pitchFamily="34" charset="-120"/>
                        </a:rPr>
                        <a:t>Visitas</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2F9"/>
                    </a:solidFill>
                  </a:tcPr>
                </a:tc>
                <a:tc hMerge="1">
                  <a:tcPr/>
                </a:tc>
                <a:tc hMerge="1">
                  <a:tcPr/>
                </a:tc>
                <a:tc>
                  <a:txBody>
                    <a:bodyPr/>
                    <a:lstStyle/>
                    <a:p>
                      <a:pPr algn="ctr" indent="0" marL="0">
                        <a:buNone/>
                      </a:pPr>
                      <a:r>
                        <a:rPr lang="en-US" sz="1100" b="1" dirty="0">
                          <a:solidFill>
                            <a:srgbClr val="C46E17"/>
                          </a:solidFill>
                          <a:latin typeface="Montserrat" pitchFamily="34" charset="0"/>
                          <a:ea typeface="Montserrat" pitchFamily="34" charset="-122"/>
                          <a:cs typeface="Montserrat" pitchFamily="34" charset="-120"/>
                        </a:rPr>
                        <a:t>Subir ventas a Nodo y revisión de clientes</a:t>
                      </a:r>
                      <a:endParaRPr lang="en-US" sz="1100" dirty="0">
                        <a:latin typeface="Montserrat" charset="0"/>
                        <a:ea typeface="Montserrat" charset="0"/>
                        <a:cs typeface="Montserrat"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1E3"/>
                    </a:solidFill>
                  </a:tcPr>
                </a:tc>
              </a:tr>
            </a:tbl>
          </a:graphicData>
        </a:graphic>
      </p:graphicFrame>
      <p:sp>
        <p:nvSpPr>
          <p:cNvPr id="7" name="Shape 4"/>
          <p:cNvSpPr/>
          <p:nvPr/>
        </p:nvSpPr>
        <p:spPr>
          <a:xfrm>
            <a:off x="548640" y="5257800"/>
            <a:ext cx="3576218" cy="960120"/>
          </a:xfrm>
          <a:prstGeom prst="roundRect">
            <a:avLst>
              <a:gd name="adj" fmla="val 9524"/>
            </a:avLst>
          </a:prstGeom>
          <a:solidFill>
            <a:srgbClr val="F4F6F9"/>
          </a:solidFill>
          <a:ln/>
        </p:spPr>
      </p:sp>
      <p:sp>
        <p:nvSpPr>
          <p:cNvPr id="8" name="Shape 5"/>
          <p:cNvSpPr/>
          <p:nvPr/>
        </p:nvSpPr>
        <p:spPr>
          <a:xfrm>
            <a:off x="713232" y="5422392"/>
            <a:ext cx="347472" cy="347472"/>
          </a:xfrm>
          <a:prstGeom prst="ellipse">
            <a:avLst/>
          </a:prstGeom>
          <a:solidFill>
            <a:schemeClr val="accent4"/>
          </a:solidFill>
          <a:ln/>
        </p:spPr>
      </p:sp>
      <p:sp>
        <p:nvSpPr>
          <p:cNvPr id="9" name="Text 6"/>
          <p:cNvSpPr txBox="1"/>
          <p:nvPr/>
        </p:nvSpPr>
        <p:spPr>
          <a:xfrm>
            <a:off x="713232" y="5422392"/>
            <a:ext cx="347472" cy="347472"/>
          </a:xfrm>
          <a:prstGeom prst="rect">
            <a:avLst/>
          </a:prstGeom>
          <a:noFill/>
          <a:ln/>
        </p:spPr>
        <p:txBody>
          <a:bodyPr wrap="square" lIns="0" tIns="0" rIns="0" bIns="0" rtlCol="0" anchor="ctr"/>
          <a:lstStyle/>
          <a:p>
            <a:pPr algn="ctr" indent="0" marL="0">
              <a:buNone/>
            </a:pPr>
            <a:endParaRPr lang="en-US" sz="1000" dirty="0"/>
          </a:p>
        </p:txBody>
      </p:sp>
      <p:pic>
        <p:nvPicPr>
          <p:cNvPr id="10" name="Image 0" descr="/tmp/claude-0/-home-user-mesenergiaes/5a011a92-143f-5232-b40a-c25f12780ce3/scratchpad/build/assets/clock-white.png">    </p:cNvPr>
          <p:cNvPicPr>
            <a:picLocks noChangeAspect="1"/>
          </p:cNvPicPr>
          <p:nvPr/>
        </p:nvPicPr>
        <p:blipFill>
          <a:blip r:embed="rId1"/>
          <a:stretch>
            <a:fillRect/>
          </a:stretch>
        </p:blipFill>
        <p:spPr>
          <a:xfrm>
            <a:off x="795528" y="5504688"/>
            <a:ext cx="182880" cy="182880"/>
          </a:xfrm>
          <a:prstGeom prst="rect">
            <a:avLst/>
          </a:prstGeom>
        </p:spPr>
      </p:pic>
      <p:sp>
        <p:nvSpPr>
          <p:cNvPr id="11" name="Text 7"/>
          <p:cNvSpPr txBox="1"/>
          <p:nvPr/>
        </p:nvSpPr>
        <p:spPr>
          <a:xfrm>
            <a:off x="1188720" y="5330952"/>
            <a:ext cx="2798978" cy="813816"/>
          </a:xfrm>
          <a:prstGeom prst="rect">
            <a:avLst/>
          </a:prstGeom>
          <a:noFill/>
          <a:ln/>
        </p:spPr>
        <p:txBody>
          <a:bodyPr wrap="square" lIns="0" tIns="0" rIns="0" bIns="0" rtlCol="0" anchor="ctr"/>
          <a:lstStyle/>
          <a:p>
            <a:pPr indent="0" marL="0">
              <a:buNone/>
            </a:pPr>
            <a:r>
              <a:rPr lang="en-US" sz="1050" b="1" dirty="0">
                <a:solidFill>
                  <a:schemeClr val="tx2"/>
                </a:solidFill>
              </a:rPr>
              <a:t>El tiempo es oro,</a:t>
            </a:r>
            <a:pPr indent="0" marL="0">
              <a:buNone/>
            </a:pPr>
            <a:r>
              <a:rPr lang="en-US" sz="1050" dirty="0">
                <a:solidFill>
                  <a:schemeClr val="tx1"/>
                </a:solidFill>
              </a:rPr>
              <a:t> así que tienes que ser muy estricto y manejar bien los tiempos. Prioriza lo urgente-importante para que tus tareas diarias se finalicen en tiempo y forma.</a:t>
            </a:r>
            <a:endParaRPr lang="en-US" sz="1050" dirty="0"/>
          </a:p>
        </p:txBody>
      </p:sp>
      <p:sp>
        <p:nvSpPr>
          <p:cNvPr id="12" name="Shape 8"/>
          <p:cNvSpPr/>
          <p:nvPr/>
        </p:nvSpPr>
        <p:spPr>
          <a:xfrm>
            <a:off x="4307738" y="5257800"/>
            <a:ext cx="3576218" cy="960120"/>
          </a:xfrm>
          <a:prstGeom prst="roundRect">
            <a:avLst>
              <a:gd name="adj" fmla="val 9524"/>
            </a:avLst>
          </a:prstGeom>
          <a:solidFill>
            <a:srgbClr val="F4F6F9"/>
          </a:solidFill>
          <a:ln/>
        </p:spPr>
      </p:sp>
      <p:sp>
        <p:nvSpPr>
          <p:cNvPr id="13" name="Shape 9"/>
          <p:cNvSpPr/>
          <p:nvPr/>
        </p:nvSpPr>
        <p:spPr>
          <a:xfrm>
            <a:off x="4472330" y="5422392"/>
            <a:ext cx="347472" cy="347472"/>
          </a:xfrm>
          <a:prstGeom prst="ellipse">
            <a:avLst/>
          </a:prstGeom>
          <a:solidFill>
            <a:schemeClr val="accent4"/>
          </a:solidFill>
          <a:ln/>
        </p:spPr>
      </p:sp>
      <p:sp>
        <p:nvSpPr>
          <p:cNvPr id="14" name="Text 10"/>
          <p:cNvSpPr txBox="1"/>
          <p:nvPr/>
        </p:nvSpPr>
        <p:spPr>
          <a:xfrm>
            <a:off x="4472330" y="5422392"/>
            <a:ext cx="347472" cy="347472"/>
          </a:xfrm>
          <a:prstGeom prst="rect">
            <a:avLst/>
          </a:prstGeom>
          <a:noFill/>
          <a:ln/>
        </p:spPr>
        <p:txBody>
          <a:bodyPr wrap="square" lIns="0" tIns="0" rIns="0" bIns="0" rtlCol="0" anchor="ctr"/>
          <a:lstStyle/>
          <a:p>
            <a:pPr algn="ctr" indent="0" marL="0">
              <a:buNone/>
            </a:pPr>
            <a:endParaRPr lang="en-US" sz="1000" dirty="0"/>
          </a:p>
        </p:txBody>
      </p:sp>
      <p:pic>
        <p:nvPicPr>
          <p:cNvPr id="15" name="Image 1" descr="/tmp/claude-0/-home-user-mesenergiaes/5a011a92-143f-5232-b40a-c25f12780ce3/scratchpad/build/assets/clock-white.png">    </p:cNvPr>
          <p:cNvPicPr>
            <a:picLocks noChangeAspect="1"/>
          </p:cNvPicPr>
          <p:nvPr/>
        </p:nvPicPr>
        <p:blipFill>
          <a:blip r:embed="rId2"/>
          <a:stretch>
            <a:fillRect/>
          </a:stretch>
        </p:blipFill>
        <p:spPr>
          <a:xfrm>
            <a:off x="4554626" y="5504688"/>
            <a:ext cx="182880" cy="182880"/>
          </a:xfrm>
          <a:prstGeom prst="rect">
            <a:avLst/>
          </a:prstGeom>
        </p:spPr>
      </p:pic>
      <p:sp>
        <p:nvSpPr>
          <p:cNvPr id="16" name="Text 11"/>
          <p:cNvSpPr txBox="1"/>
          <p:nvPr/>
        </p:nvSpPr>
        <p:spPr>
          <a:xfrm>
            <a:off x="4947818" y="5330952"/>
            <a:ext cx="2798978" cy="813816"/>
          </a:xfrm>
          <a:prstGeom prst="rect">
            <a:avLst/>
          </a:prstGeom>
          <a:noFill/>
          <a:ln/>
        </p:spPr>
        <p:txBody>
          <a:bodyPr wrap="square" lIns="0" tIns="0" rIns="0" bIns="0" rtlCol="0" anchor="ctr"/>
          <a:lstStyle/>
          <a:p>
            <a:pPr indent="0" marL="0">
              <a:buNone/>
            </a:pPr>
            <a:r>
              <a:rPr lang="en-US" sz="1050" b="1" dirty="0">
                <a:solidFill>
                  <a:schemeClr val="tx2"/>
                </a:solidFill>
              </a:rPr>
              <a:t>El método es sencillo:</a:t>
            </a:r>
            <a:pPr indent="0" marL="0">
              <a:buNone/>
            </a:pPr>
            <a:r>
              <a:rPr lang="en-US" sz="1050" dirty="0">
                <a:solidFill>
                  <a:schemeClr val="tx1"/>
                </a:solidFill>
              </a:rPr>
              <a:t> solo se trata de que no baje tu nivel de intensidad en llamadas y gestión al instante.</a:t>
            </a:r>
            <a:endParaRPr lang="en-US" sz="1050" dirty="0"/>
          </a:p>
        </p:txBody>
      </p:sp>
      <p:sp>
        <p:nvSpPr>
          <p:cNvPr id="17" name="Shape 12"/>
          <p:cNvSpPr/>
          <p:nvPr/>
        </p:nvSpPr>
        <p:spPr>
          <a:xfrm>
            <a:off x="8066837" y="5257800"/>
            <a:ext cx="3576218" cy="960120"/>
          </a:xfrm>
          <a:prstGeom prst="roundRect">
            <a:avLst>
              <a:gd name="adj" fmla="val 9524"/>
            </a:avLst>
          </a:prstGeom>
          <a:solidFill>
            <a:srgbClr val="EFF6E6"/>
          </a:solidFill>
          <a:ln/>
        </p:spPr>
      </p:sp>
      <p:sp>
        <p:nvSpPr>
          <p:cNvPr id="18" name="Shape 13"/>
          <p:cNvSpPr/>
          <p:nvPr/>
        </p:nvSpPr>
        <p:spPr>
          <a:xfrm>
            <a:off x="8231429" y="5422392"/>
            <a:ext cx="347472" cy="347472"/>
          </a:xfrm>
          <a:prstGeom prst="ellipse">
            <a:avLst/>
          </a:prstGeom>
          <a:solidFill>
            <a:schemeClr val="accent1"/>
          </a:solidFill>
          <a:ln/>
        </p:spPr>
      </p:sp>
      <p:sp>
        <p:nvSpPr>
          <p:cNvPr id="19" name="Text 14"/>
          <p:cNvSpPr txBox="1"/>
          <p:nvPr/>
        </p:nvSpPr>
        <p:spPr>
          <a:xfrm>
            <a:off x="8231429" y="5422392"/>
            <a:ext cx="347472" cy="347472"/>
          </a:xfrm>
          <a:prstGeom prst="rect">
            <a:avLst/>
          </a:prstGeom>
          <a:noFill/>
          <a:ln/>
        </p:spPr>
        <p:txBody>
          <a:bodyPr wrap="square" lIns="0" tIns="0" rIns="0" bIns="0" rtlCol="0" anchor="ctr"/>
          <a:lstStyle/>
          <a:p>
            <a:pPr algn="ctr" indent="0" marL="0">
              <a:buNone/>
            </a:pPr>
            <a:endParaRPr lang="en-US" sz="1000" dirty="0"/>
          </a:p>
        </p:txBody>
      </p:sp>
      <p:pic>
        <p:nvPicPr>
          <p:cNvPr id="20" name="Image 2" descr="/tmp/claude-0/-home-user-mesenergiaes/5a011a92-143f-5232-b40a-c25f12780ce3/scratchpad/build/assets/check-white.png">    </p:cNvPr>
          <p:cNvPicPr>
            <a:picLocks noChangeAspect="1"/>
          </p:cNvPicPr>
          <p:nvPr/>
        </p:nvPicPr>
        <p:blipFill>
          <a:blip r:embed="rId3"/>
          <a:stretch>
            <a:fillRect/>
          </a:stretch>
        </p:blipFill>
        <p:spPr>
          <a:xfrm>
            <a:off x="8313725" y="5504688"/>
            <a:ext cx="182880" cy="182880"/>
          </a:xfrm>
          <a:prstGeom prst="rect">
            <a:avLst/>
          </a:prstGeom>
        </p:spPr>
      </p:pic>
      <p:sp>
        <p:nvSpPr>
          <p:cNvPr id="21" name="Text 15"/>
          <p:cNvSpPr txBox="1"/>
          <p:nvPr/>
        </p:nvSpPr>
        <p:spPr>
          <a:xfrm>
            <a:off x="8706917" y="5330952"/>
            <a:ext cx="2798978" cy="813816"/>
          </a:xfrm>
          <a:prstGeom prst="rect">
            <a:avLst/>
          </a:prstGeom>
          <a:noFill/>
          <a:ln/>
        </p:spPr>
        <p:txBody>
          <a:bodyPr wrap="square" lIns="0" tIns="0" rIns="0" bIns="0" rtlCol="0" anchor="ctr"/>
          <a:lstStyle/>
          <a:p>
            <a:pPr indent="0" marL="0">
              <a:buNone/>
            </a:pPr>
            <a:r>
              <a:rPr lang="en-US" sz="1050" b="1" dirty="0">
                <a:solidFill>
                  <a:schemeClr val="tx2"/>
                </a:solidFill>
              </a:rPr>
              <a:t>Si cumples este tablado en un 90 %,</a:t>
            </a:r>
            <a:pPr indent="0" marL="0">
              <a:buNone/>
            </a:pPr>
            <a:r>
              <a:rPr lang="en-US" sz="1050" dirty="0">
                <a:solidFill>
                  <a:schemeClr val="tx1"/>
                </a:solidFill>
              </a:rPr>
              <a:t> ¡el éxito en tus ventas y en tu organización está asegurado!</a:t>
            </a:r>
            <a:endParaRPr lang="en-US" sz="1050" dirty="0"/>
          </a:p>
        </p:txBody>
      </p:sp>
      <p:sp>
        <p:nvSpPr>
          <p:cNvPr id="25" name="Slide Number Placeholder 0"/>
          <p:cNvSpPr>
            <a:spLocks noGrp="1"/>
          </p:cNvSpPr>
          <p:nvPr>
            <p:ph type="sldNum" sz="quarter" idx="4294967295"/>
          </p:nvPr>
        </p:nvSpPr>
        <p:spPr>
          <a:xfrm>
            <a:off x="11094415" y="6419088"/>
            <a:ext cx="54864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claude-0/-home-user-mesenergiaes/5a011a92-143f-5232-b40a-c25f12780ce3/scratchpad/build/assets/logo-full.png">    </p:cNvPr>
          <p:cNvPicPr>
            <a:picLocks noChangeAspect="1"/>
          </p:cNvPicPr>
          <p:nvPr/>
        </p:nvPicPr>
        <p:blipFill>
          <a:blip r:embed="rId1"/>
          <a:stretch>
            <a:fillRect/>
          </a:stretch>
        </p:blipFill>
        <p:spPr>
          <a:xfrm>
            <a:off x="685800" y="502920"/>
            <a:ext cx="3639312" cy="1463040"/>
          </a:xfrm>
          <a:prstGeom prst="rect">
            <a:avLst/>
          </a:prstGeom>
        </p:spPr>
      </p:pic>
      <p:sp>
        <p:nvSpPr>
          <p:cNvPr id="3" name="Text 0"/>
          <p:cNvSpPr txBox="1"/>
          <p:nvPr/>
        </p:nvSpPr>
        <p:spPr>
          <a:xfrm>
            <a:off x="731520" y="4041648"/>
            <a:ext cx="7315200" cy="228600"/>
          </a:xfrm>
          <a:prstGeom prst="rect">
            <a:avLst/>
          </a:prstGeom>
          <a:noFill/>
          <a:ln/>
        </p:spPr>
        <p:txBody>
          <a:bodyPr wrap="square" lIns="0" tIns="0" rIns="0" bIns="0" rtlCol="0" anchor="ctr"/>
          <a:lstStyle/>
          <a:p>
            <a:pPr indent="0" marL="0">
              <a:buNone/>
            </a:pPr>
            <a:r>
              <a:rPr lang="en-US" sz="900" b="1" spc="200" kern="0" dirty="0">
                <a:solidFill>
                  <a:schemeClr val="accent5"/>
                </a:solidFill>
              </a:rPr>
              <a:t>NUEVO PROYECTO · +ENERGÍA</a:t>
            </a:r>
            <a:endParaRPr lang="en-US" sz="900" dirty="0"/>
          </a:p>
        </p:txBody>
      </p:sp>
      <p:sp>
        <p:nvSpPr>
          <p:cNvPr id="4" name="Text 1"/>
          <p:cNvSpPr txBox="1"/>
          <p:nvPr/>
        </p:nvSpPr>
        <p:spPr>
          <a:xfrm>
            <a:off x="731520" y="4315968"/>
            <a:ext cx="8229600" cy="777240"/>
          </a:xfrm>
          <a:prstGeom prst="rect">
            <a:avLst/>
          </a:prstGeom>
          <a:noFill/>
          <a:ln/>
        </p:spPr>
        <p:txBody>
          <a:bodyPr wrap="square" lIns="0" tIns="0" rIns="0" bIns="0" rtlCol="0" anchor="t"/>
          <a:lstStyle/>
          <a:p>
            <a:pPr indent="0" marL="0">
              <a:buNone/>
            </a:pPr>
            <a:r>
              <a:rPr lang="en-US" sz="4800" b="1" dirty="0">
                <a:solidFill>
                  <a:schemeClr val="bg1"/>
                </a:solidFill>
              </a:rPr>
              <a:t>¡Bienvenid@!</a:t>
            </a:r>
            <a:endParaRPr lang="en-US" sz="4800" dirty="0"/>
          </a:p>
        </p:txBody>
      </p:sp>
      <p:sp>
        <p:nvSpPr>
          <p:cNvPr id="5" name="Text 2"/>
          <p:cNvSpPr txBox="1"/>
          <p:nvPr/>
        </p:nvSpPr>
        <p:spPr>
          <a:xfrm>
            <a:off x="731520" y="5257800"/>
            <a:ext cx="8229600" cy="457200"/>
          </a:xfrm>
          <a:prstGeom prst="rect">
            <a:avLst/>
          </a:prstGeom>
          <a:noFill/>
          <a:ln/>
        </p:spPr>
        <p:txBody>
          <a:bodyPr wrap="square" lIns="0" tIns="0" rIns="0" bIns="0" rtlCol="0" anchor="t"/>
          <a:lstStyle/>
          <a:p>
            <a:pPr indent="0" marL="0">
              <a:buNone/>
            </a:pPr>
            <a:r>
              <a:rPr lang="en-US" sz="1600" dirty="0">
                <a:solidFill>
                  <a:srgbClr val="DCE4F2"/>
                </a:solidFill>
              </a:rPr>
              <a:t>Si has llegado hasta aquí, significa que estás dentro de este nuevo proyecto.</a:t>
            </a:r>
            <a:endParaRPr lang="en-US" sz="1600" dirty="0"/>
          </a:p>
        </p:txBody>
      </p:sp>
      <p:sp>
        <p:nvSpPr>
          <p:cNvPr id="6" name="Shape 3"/>
          <p:cNvSpPr/>
          <p:nvPr/>
        </p:nvSpPr>
        <p:spPr>
          <a:xfrm>
            <a:off x="731520" y="6144768"/>
            <a:ext cx="10744200" cy="0"/>
          </a:xfrm>
          <a:prstGeom prst="line">
            <a:avLst/>
          </a:prstGeom>
          <a:noFill/>
          <a:ln w="6350">
            <a:solidFill>
              <a:srgbClr val="FFFFFF">
                <a:alpha val="25000"/>
              </a:srgbClr>
            </a:solidFill>
            <a:prstDash val="solid"/>
          </a:ln>
        </p:spPr>
      </p:sp>
      <p:sp>
        <p:nvSpPr>
          <p:cNvPr id="7" name="Shape 4"/>
          <p:cNvSpPr/>
          <p:nvPr/>
        </p:nvSpPr>
        <p:spPr>
          <a:xfrm>
            <a:off x="731520" y="6309360"/>
            <a:ext cx="91440" cy="91440"/>
          </a:xfrm>
          <a:prstGeom prst="ellipse">
            <a:avLst/>
          </a:prstGeom>
          <a:solidFill>
            <a:schemeClr val="accent5"/>
          </a:solidFill>
          <a:ln/>
        </p:spPr>
      </p:sp>
      <p:sp>
        <p:nvSpPr>
          <p:cNvPr id="8" name="Text 5"/>
          <p:cNvSpPr txBox="1"/>
          <p:nvPr/>
        </p:nvSpPr>
        <p:spPr>
          <a:xfrm>
            <a:off x="896112" y="6245352"/>
            <a:ext cx="5486400" cy="219456"/>
          </a:xfrm>
          <a:prstGeom prst="rect">
            <a:avLst/>
          </a:prstGeom>
          <a:noFill/>
          <a:ln/>
        </p:spPr>
        <p:txBody>
          <a:bodyPr wrap="square" lIns="0" tIns="0" rIns="0" bIns="0" rtlCol="0" anchor="ctr"/>
          <a:lstStyle/>
          <a:p>
            <a:pPr indent="0" marL="0">
              <a:buNone/>
            </a:pPr>
            <a:r>
              <a:rPr lang="en-US" sz="900" dirty="0">
                <a:solidFill>
                  <a:srgbClr val="DCE4F2"/>
                </a:solidFill>
              </a:rPr>
              <a:t>MESENERGIA · +Energía · Nos importa tu ahorro</a:t>
            </a:r>
            <a:endParaRPr lang="en-US" sz="900" dirty="0"/>
          </a:p>
        </p:txBody>
      </p:sp>
    </p:spTree>
  </p:cSld>
  <p:clrMapOvr>
    <a:masterClrMapping/>
  </p:clrMapOvr>
</p:sld>
</file>

<file path=ppt/theme/theme1.xml><?xml version="1.0" encoding="utf-8"?>
<a:theme xmlns:a="http://schemas.openxmlformats.org/drawingml/2006/main" name="+Energía MESENERGIA">
  <a:themeElements>
    <a:clrScheme name="+Energía MESENERGIA">
      <a:dk1>
        <a:srgbClr val="1D2433"/>
      </a:dk1>
      <a:lt1>
        <a:srgbClr val="FFFFFF"/>
      </a:lt1>
      <a:dk2>
        <a:srgbClr val="1F3260"/>
      </a:dk2>
      <a:lt2>
        <a:srgbClr val="F4F6F9"/>
      </a:lt2>
      <a:accent1>
        <a:srgbClr val="5C9A33"/>
      </a:accent1>
      <a:accent2>
        <a:srgbClr val="2F5F9B"/>
      </a:accent2>
      <a:accent3>
        <a:srgbClr val="DA8222"/>
      </a:accent3>
      <a:accent4>
        <a:srgbClr val="1F3260"/>
      </a:accent4>
      <a:accent5>
        <a:srgbClr val="EDC345"/>
      </a:accent5>
      <a:accent6>
        <a:srgbClr val="5D6472"/>
      </a:accent6>
      <a:hlink>
        <a:srgbClr val="2F5F9B"/>
      </a:hlink>
      <a:folHlink>
        <a:srgbClr val="1F3260"/>
      </a:folHlink>
    </a:clrScheme>
    <a:fontScheme name="+Energía MESENERGIA">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MESENERGIA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del usuario para asesores</dc:title>
  <dc:subject>Manual de formación · Uso interno</dc:subject>
  <dc:creator>MESENERGIA</dc:creator>
  <cp:lastModifiedBy>MESENERGIA</cp:lastModifiedBy>
  <cp:revision>1</cp:revision>
  <dcterms:created xsi:type="dcterms:W3CDTF">2026-10-13T08:46:16Z</dcterms:created>
  <dcterms:modified xsi:type="dcterms:W3CDTF">2026-10-13T08:46:16Z</dcterms:modified>
</cp:coreProperties>
</file>