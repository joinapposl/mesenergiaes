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755e44f-df72-b5bf-1a4d-2cc9d34a6b63}">
          <p14:sldIdLst>
            <p14:sldId id="256"/>
          </p14:sldIdLst>
        </p14:section>
        <p14:section name="Nuestras bases" id="{2e33d63f-9f24-4274-f07a-914ffd19fdd1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Por qué MESENERGIA" id="{91aa3e7e-cbe3-babd-e2cc-38ee04a55a5c}">
          <p14:sldIdLst>
            <p14:sldId id="263"/>
          </p14:sldIdLst>
        </p14:section>
        <p14:section name="Contacto" id="{a5794862-e700-c239-c407-a9044c94f92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OSCURA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1430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2"/>
                </a:solidFill>
              </a:rPr>
              <a:t>MESENERGIA · +Energía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291840" cy="1325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CB5A"/>
                </a:solidFill>
              </a:rPr>
              <a:t>ASESORÍA ENERGÉTICA Y EN TELECOMUNICACIONES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Ahorro real para tu empresa y tu hogar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EC"/>
                </a:solidFill>
              </a:rPr>
              <a:t>Presentación para clientes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¿Quiénes somos?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Asesoría energética con más de 10 años de experiencia y más de 10.000 clientes satisfechos. </a:t>
            </a:r>
            <a:pPr indent="0" marL="0">
              <a:buNone/>
            </a:pPr>
            <a:r>
              <a:rPr lang="en-US" sz="1500" b="1" dirty="0">
                <a:solidFill>
                  <a:srgbClr val="1F3260"/>
                </a:solidFill>
              </a:rPr>
              <a:t>Acuerdos master con las principales comercializadoras del país</a:t>
            </a:r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 para conseguir las mejores condiciones para nuestros clientes.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5" name="Image 0" descr="logos/l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743200"/>
            <a:ext cx="278892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2606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7" name="Image 1" descr="logos/l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2743200"/>
            <a:ext cx="2788920" cy="777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46720" y="2606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9" name="Image 2" descr="logos/l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2743200"/>
            <a:ext cx="2788920" cy="777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384048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11" name="Image 3" descr="logos/l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3977640"/>
            <a:ext cx="2788920" cy="7772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251960" y="384048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13" name="Image 4" descr="logos/l13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7720" y="3977640"/>
            <a:ext cx="2788920" cy="77724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046720" y="384048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15" name="Image 5" descr="logos/l7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12480" y="3977640"/>
            <a:ext cx="2788920" cy="77724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57200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17" name="Image 6" descr="logos/l10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2960" y="5212080"/>
            <a:ext cx="2788920" cy="7772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251960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19" name="Image 7" descr="logos/l12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17720" y="5212080"/>
            <a:ext cx="2788920" cy="77724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046720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260">
                <a:alpha val="8000"/>
              </a:srgbClr>
            </a:outerShdw>
          </a:effectLst>
        </p:spPr>
      </p:sp>
      <p:pic>
        <p:nvPicPr>
          <p:cNvPr id="21" name="Image 8" descr="logos/l14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12480" y="5212080"/>
            <a:ext cx="2788920" cy="777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 3 bases de nuestro negocio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240280"/>
            <a:ext cx="914400" cy="914400"/>
          </a:xfrm>
          <a:prstGeom prst="ellipse">
            <a:avLst/>
          </a:prstGeom>
          <a:solidFill>
            <a:srgbClr val="4E8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CE3EC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E8A2B"/>
                </a:solidFill>
              </a:rPr>
              <a:t>Si no hay ahorro, no hay gestión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472"/>
                </a:solidFill>
              </a:rPr>
              <a:t>Solo cambiamos tu contrato si te ahorra dinero. Si no hay ahorro, te lo decimos.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240280"/>
            <a:ext cx="914400" cy="914400"/>
          </a:xfrm>
          <a:prstGeom prst="ellipse">
            <a:avLst/>
          </a:prstGeom>
          <a:solidFill>
            <a:srgbClr val="C46E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4652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CE3EC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46E17"/>
                </a:solidFill>
              </a:rPr>
              <a:t>Asesoramiento energético y en telecomunicaciones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472"/>
                </a:solidFill>
              </a:rPr>
              <a:t>Luz, gas, fotovoltaica, baterías, fibra y móvil: un único asesor para todo.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240280"/>
            <a:ext cx="914400" cy="914400"/>
          </a:xfrm>
          <a:prstGeom prst="ellipse">
            <a:avLst/>
          </a:prstGeom>
          <a:solidFill>
            <a:srgbClr val="1F326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468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2412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CE3EC"/>
                </a:solidFill>
              </a:rPr>
              <a:t>03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260"/>
                </a:solidFill>
              </a:rPr>
              <a:t>Contacto directo con distribución y canales principales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472"/>
                </a:solidFill>
              </a:rPr>
              <a:t>Trato directo con distribuidoras, comercializadoras y operadoras: gestiones más rápidas.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C230"/>
                </a:solidFill>
              </a:rPr>
              <a:t>BASE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7373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Si no hay </a:t>
            </a:r>
            <a:pPr indent="0" marL="0">
              <a:buNone/>
            </a:pPr>
            <a:r>
              <a:rPr lang="en-US" sz="5400" b="1" dirty="0">
                <a:solidFill>
                  <a:srgbClr val="F2C230"/>
                </a:solidFill>
              </a:rPr>
              <a:t>ahorro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no hay gestión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B5A"/>
                </a:solidFill>
              </a:rPr>
              <a:t>Estudio gratuito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343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EC"/>
                </a:solidFill>
              </a:rPr>
              <a:t>Analizamos tus facturas y tu potencia contratada.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B5A"/>
                </a:solidFill>
              </a:rPr>
              <a:t>Comparativa real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4343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EC"/>
                </a:solidFill>
              </a:rPr>
              <a:t>Te mostramos el ahorro antes de firmar nada.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B5A"/>
                </a:solidFill>
              </a:rPr>
              <a:t>Sin coste para ti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4343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EC"/>
                </a:solidFill>
              </a:rPr>
              <a:t>Nuestro servicio no te cuesta nada, nunca.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ofrecemos?</a:t>
            </a:r>
            <a:endParaRPr lang="en-US" sz="3000" dirty="0"/>
          </a:p>
        </p:txBody>
      </p:sp>
      <p:pic>
        <p:nvPicPr>
          <p:cNvPr id="3" name="Image 0" descr="logos/r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4480560" cy="45079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260"/>
                </a:solidFill>
              </a:rPr>
              <a:t>Cubrimos todo lo que tu empresa necesita en energía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898648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44768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Estudios de ahorro y consumo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89864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62288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Negociación del contrato de suministro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65576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144768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Optimización de potencia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65576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162288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Control de energía reactiva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032504"/>
            <a:ext cx="256032" cy="256032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14476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Gestión de cambios y reclamaciones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032504"/>
            <a:ext cx="256032" cy="256032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916228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Gestión de compensación</a:t>
            </a:r>
            <a:endParaRPr lang="en-US" sz="13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599432"/>
            <a:ext cx="256032" cy="256032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144768" y="453542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Altas de nuevo suministro</a:t>
            </a:r>
            <a:endParaRPr lang="en-US" sz="13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4599432"/>
            <a:ext cx="256032" cy="256032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9162288" y="453542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260"/>
                </a:solidFill>
              </a:rPr>
              <a:t>Revisión técnica</a:t>
            </a:r>
            <a:endParaRPr lang="en-US" sz="1300" dirty="0"/>
          </a:p>
        </p:txBody>
      </p:sp>
      <p:sp>
        <p:nvSpPr>
          <p:cNvPr id="21" name="Shape 10"/>
          <p:cNvSpPr/>
          <p:nvPr/>
        </p:nvSpPr>
        <p:spPr>
          <a:xfrm>
            <a:off x="5760720" y="52578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EFF6E6"/>
          </a:solidFill>
          <a:ln/>
        </p:spPr>
      </p:sp>
      <p:sp>
        <p:nvSpPr>
          <p:cNvPr id="22" name="Text 11"/>
          <p:cNvSpPr txBox="1"/>
          <p:nvPr/>
        </p:nvSpPr>
        <p:spPr>
          <a:xfrm>
            <a:off x="6035040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260"/>
                </a:solidFill>
              </a:rPr>
              <a:t>Todo ello </a:t>
            </a:r>
            <a:pPr indent="0" marL="0">
              <a:buNone/>
            </a:pPr>
            <a:r>
              <a:rPr lang="en-US" sz="1600" b="1" dirty="0">
                <a:solidFill>
                  <a:srgbClr val="4E8A2B"/>
                </a:solidFill>
              </a:rPr>
              <a:t>sin ningún coste y para siempre.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Asesoramiento energético y en telecomunicaciones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Un único interlocutor para todos los suministros de tu empresa o tu hogar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4E8A2B"/>
                </a:solidFill>
              </a:rPr>
              <a:t>ENERGÍA</a:t>
            </a:r>
            <a:endParaRPr lang="en-US" sz="1600" dirty="0"/>
          </a:p>
        </p:txBody>
      </p:sp>
      <p:pic>
        <p:nvPicPr>
          <p:cNvPr id="6" name="Image 0" descr="logos/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788920"/>
            <a:ext cx="4754880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572000"/>
            <a:ext cx="594360" cy="594360"/>
          </a:xfrm>
          <a:prstGeom prst="ellipse">
            <a:avLst/>
          </a:prstGeom>
          <a:solidFill>
            <a:srgbClr val="4E8A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718304"/>
            <a:ext cx="301752" cy="3017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4544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Electricidad y gas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48737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472"/>
                </a:solidFill>
              </a:rPr>
              <a:t>Tarifa fija o indexada, ofertas personalizadas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5349240"/>
            <a:ext cx="594360" cy="594360"/>
          </a:xfrm>
          <a:prstGeom prst="ellipse">
            <a:avLst/>
          </a:prstGeom>
          <a:solidFill>
            <a:srgbClr val="4E8A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49554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5321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Fotovoltaica y baterías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56509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472"/>
                </a:solidFill>
              </a:rPr>
              <a:t>Red de colaboradores en todo el territorio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214884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6E17"/>
                </a:solidFill>
              </a:rPr>
              <a:t>TELECOMUNICACIONES</a:t>
            </a:r>
            <a:endParaRPr lang="en-US" sz="1600" dirty="0"/>
          </a:p>
        </p:txBody>
      </p:sp>
      <p:pic>
        <p:nvPicPr>
          <p:cNvPr id="17" name="Image 3" descr="logos/operadora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7960" y="2788920"/>
            <a:ext cx="4754880" cy="1600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37960" y="4572000"/>
            <a:ext cx="594360" cy="594360"/>
          </a:xfrm>
          <a:prstGeom prst="ellipse">
            <a:avLst/>
          </a:prstGeom>
          <a:solidFill>
            <a:srgbClr val="C46E1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71830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315200" y="4544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Fibra, móvil y TV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7315200" y="48737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472"/>
                </a:solidFill>
              </a:rPr>
              <a:t>Paquetes adaptados a tu negocio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537960" y="5349240"/>
            <a:ext cx="594360" cy="594360"/>
          </a:xfrm>
          <a:prstGeom prst="ellipse">
            <a:avLst/>
          </a:prstGeom>
          <a:solidFill>
            <a:srgbClr val="C46E1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5495544"/>
            <a:ext cx="301752" cy="30175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315200" y="5321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Todas las operadoras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7315200" y="56509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472"/>
                </a:solidFill>
              </a:rPr>
              <a:t>Trabajamos con todo el mercado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Contacto directo con distribución y canales principales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Sin intermediarios innecesarios: tus gestiones llegan directas a quien las resuelve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804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Tú, cliente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260"/>
                </a:solidFill>
              </a:rPr>
              <a:t>Una sola llamada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310896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1F326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6804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6636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MESENERGIA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16636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Tu asesor de referencia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321040" y="2148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EFF6E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468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228600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4E8A2B"/>
                </a:solidFill>
              </a:rPr>
              <a:t>Distribuidoras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9281160" y="276606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8A2B"/>
                </a:solidFill>
              </a:rPr>
              <a:t>Altas, potencias, averías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 flipV="1">
            <a:off x="7498080" y="2720340"/>
            <a:ext cx="822960" cy="1211580"/>
          </a:xfrm>
          <a:prstGeom prst="line">
            <a:avLst/>
          </a:prstGeom>
          <a:noFill/>
          <a:ln w="25400">
            <a:solidFill>
              <a:srgbClr val="B8C2D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321040" y="34747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7947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361188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46E17"/>
                </a:solidFill>
              </a:rPr>
              <a:t>Comercializadoras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9281160" y="409194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6E17"/>
                </a:solidFill>
              </a:rPr>
              <a:t>Acuerdos y mejores condiciones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498080" y="3931920"/>
            <a:ext cx="822960" cy="114300"/>
          </a:xfrm>
          <a:prstGeom prst="line">
            <a:avLst/>
          </a:prstGeom>
          <a:noFill/>
          <a:ln w="25400">
            <a:solidFill>
              <a:srgbClr val="B8C2D3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8321040" y="480060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12064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81160" y="493776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F3260"/>
                </a:solidFill>
              </a:rPr>
              <a:t>Operadoras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281160" y="541782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260"/>
                </a:solidFill>
              </a:rPr>
              <a:t>Fibra y móvil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498080" y="3931920"/>
            <a:ext cx="822960" cy="1440180"/>
          </a:xfrm>
          <a:prstGeom prst="line">
            <a:avLst/>
          </a:prstGeom>
          <a:noFill/>
          <a:ln w="25400">
            <a:solidFill>
              <a:srgbClr val="B8C2D3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3383280" y="3931920"/>
            <a:ext cx="822960" cy="0"/>
          </a:xfrm>
          <a:prstGeom prst="line">
            <a:avLst/>
          </a:prstGeom>
          <a:noFill/>
          <a:ln w="25400">
            <a:solidFill>
              <a:srgbClr val="B8C2D3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8A2B"/>
                </a:solidFill>
              </a:rPr>
              <a:t>Resultado: incidencias resueltas antes y seguimiento durante toda la vida del contrato.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¿Por qué elegir MESENERGIA?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E8A2B"/>
                </a:solidFill>
              </a:rPr>
              <a:t>+10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años de experiencia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6E17"/>
                </a:solidFill>
              </a:rPr>
              <a:t>+10.000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clientes entre empresas y autónomos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260"/>
                </a:solidFill>
              </a:rPr>
              <a:t>&lt;4%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472"/>
                </a:solidFill>
              </a:rPr>
              <a:t>índice de bajas gracias a la postventa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05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Innovación permanente de ofertas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9319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1605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74920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Ofertas personalizadas de luz y gas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39319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160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Atención durante toda la vigencia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49834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1208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983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Análisis de medidas de ahorro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51960" y="49834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52120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74920" y="4983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Oficina virtual para tus facturas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46720" y="49834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52120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869680" y="4983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260"/>
                </a:solidFill>
              </a:rPr>
              <a:t>Información continua del sector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914400"/>
            <a:ext cx="2377440" cy="960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Pide tu estudio de ahorro gratuito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C230"/>
                </a:solidFill>
              </a:rPr>
              <a:t>Si no hay ahorro, no hay gestión.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CB5A"/>
                </a:solidFill>
              </a:rPr>
              <a:t>SEDE CENTRAL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C/ Bruc 168, entresuelo 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08037 Barcelona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647 936 557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CB5A"/>
                </a:solidFill>
              </a:rPr>
              <a:t>DELEGACIÓN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C/ Mercaders, 14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17300 Blanes, Girona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SENERGIA">
  <a:themeElements>
    <a:clrScheme name="MESENERGIA">
      <a:dk1>
        <a:srgbClr val="1A1F2B"/>
      </a:dk1>
      <a:lt1>
        <a:srgbClr val="FFFFFF"/>
      </a:lt1>
      <a:dk2>
        <a:srgbClr val="1F3260"/>
      </a:dk2>
      <a:lt2>
        <a:srgbClr val="F4F6F9"/>
      </a:lt2>
      <a:accent1>
        <a:srgbClr val="4E8A2B"/>
      </a:accent1>
      <a:accent2>
        <a:srgbClr val="C46E17"/>
      </a:accent2>
      <a:accent3>
        <a:srgbClr val="F2C230"/>
      </a:accent3>
      <a:accent4>
        <a:srgbClr val="7FB241"/>
      </a:accent4>
      <a:accent5>
        <a:srgbClr val="3D5A99"/>
      </a:accent5>
      <a:accent6>
        <a:srgbClr val="5D6472"/>
      </a:accent6>
      <a:hlink>
        <a:srgbClr val="4E8A2B"/>
      </a:hlink>
      <a:folHlink>
        <a:srgbClr val="5D6472"/>
      </a:folHlink>
    </a:clrScheme>
    <a:fontScheme name="MESENERGI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MESENERGIA · Presentación clientes</dc:title>
  <dc:subject>PptxGenJS Presentation</dc:subject>
  <dc:creator>PptxGenJS</dc:creator>
  <cp:lastModifiedBy>PptxGenJS</cp:lastModifiedBy>
  <cp:revision>1</cp:revision>
  <dcterms:created xsi:type="dcterms:W3CDTF">2026-10-13T17:59:45Z</dcterms:created>
  <dcterms:modified xsi:type="dcterms:W3CDTF">2026-10-13T17:59:45Z</dcterms:modified>
</cp:coreProperties>
</file>