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6227495a-6417-ef05-3b32-89de043c5430}">
          <p14:sldIdLst>
            <p14:sldId id="256"/>
          </p14:sldIdLst>
        </p14:section>
        <p14:section name="Nuestras bases" id="{4ac7999f-2549-7ef4-cb46-7343c1957dde}">
          <p14:sldIdLst>
            <p14:sldId id="257"/>
            <p14:sldId id="258"/>
            <p14:sldId id="259"/>
            <p14:sldId id="260"/>
          </p14:sldIdLst>
        </p14:section>
        <p14:section name="Por qué MESENERGIA" id="{fed80802-4c4e-5089-edc0-abfb06dcd982}">
          <p14:sldIdLst>
            <p14:sldId id="261"/>
          </p14:sldIdLst>
        </p14:section>
        <p14:section name="Contacto" id="{893d599c-c92e-8245-2cef-08b6f8d7ae40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PORTADA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OSCURA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74320"/>
            <a:ext cx="11430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tx2"/>
                </a:solidFill>
              </a:rPr>
              <a:t>MESENERGIA · +Energía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457200" y="868680"/>
            <a:ext cx="112471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3291840" cy="13258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3931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CB5A"/>
                </a:solidFill>
              </a:rPr>
              <a:t>ASESORÍA ENERGÉTICA Y EN TELECOMUNICACIONES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42976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Ahorro real para tu empresa y tu hogar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52578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3EC"/>
                </a:solidFill>
              </a:rPr>
              <a:t>Presentación para clientes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86868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Las 3 bases de nuestro negocio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920240"/>
            <a:ext cx="3520440" cy="4114800"/>
          </a:xfrm>
          <a:prstGeom prst="roundRect">
            <a:avLst>
              <a:gd name="adj" fmla="val 3896"/>
            </a:avLst>
          </a:prstGeom>
          <a:solidFill>
            <a:srgbClr val="F4F6F9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2240280"/>
            <a:ext cx="914400" cy="914400"/>
          </a:xfrm>
          <a:prstGeom prst="ellipse">
            <a:avLst/>
          </a:prstGeom>
          <a:solidFill>
            <a:srgbClr val="4E8A2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46888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651760" y="224028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DCE3EC"/>
                </a:solidFill>
              </a:rPr>
              <a:t>01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42900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E8A2B"/>
                </a:solidFill>
              </a:rPr>
              <a:t>Si no hay ahorro, no hay gestión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526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D6472"/>
                </a:solidFill>
              </a:rPr>
              <a:t>Solo cambiamos tu contrato si te ahorra dinero. Si no hay ahorro, te lo decimos.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251960" y="1920240"/>
            <a:ext cx="3520440" cy="4114800"/>
          </a:xfrm>
          <a:prstGeom prst="roundRect">
            <a:avLst>
              <a:gd name="adj" fmla="val 3896"/>
            </a:avLst>
          </a:prstGeom>
          <a:solidFill>
            <a:srgbClr val="F4F6F9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0" y="2240280"/>
            <a:ext cx="914400" cy="914400"/>
          </a:xfrm>
          <a:prstGeom prst="ellipse">
            <a:avLst/>
          </a:prstGeom>
          <a:solidFill>
            <a:srgbClr val="C46E17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246888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446520" y="224028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DCE3EC"/>
                </a:solidFill>
              </a:rPr>
              <a:t>02</a:t>
            </a:r>
            <a:endParaRPr lang="en-US" sz="36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342900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46E17"/>
                </a:solidFill>
              </a:rPr>
              <a:t>Asesoramiento energético y en telecomunicaciones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0" y="4526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D6472"/>
                </a:solidFill>
              </a:rPr>
              <a:t>Luz, gas, fotovoltaica, baterías, fibra y móvil: un único asesor para todo.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8046720" y="1920240"/>
            <a:ext cx="3520440" cy="4114800"/>
          </a:xfrm>
          <a:prstGeom prst="roundRect">
            <a:avLst>
              <a:gd name="adj" fmla="val 3896"/>
            </a:avLst>
          </a:prstGeom>
          <a:solidFill>
            <a:srgbClr val="F4F6F9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66760" y="2240280"/>
            <a:ext cx="914400" cy="914400"/>
          </a:xfrm>
          <a:prstGeom prst="ellipse">
            <a:avLst/>
          </a:prstGeom>
          <a:solidFill>
            <a:srgbClr val="1F326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2468880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0241280" y="224028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DCE3EC"/>
                </a:solidFill>
              </a:rPr>
              <a:t>03</a:t>
            </a:r>
            <a:endParaRPr lang="en-US" sz="3600" dirty="0"/>
          </a:p>
        </p:txBody>
      </p:sp>
      <p:sp>
        <p:nvSpPr>
          <p:cNvPr id="19" name="Text 14"/>
          <p:cNvSpPr txBox="1"/>
          <p:nvPr/>
        </p:nvSpPr>
        <p:spPr>
          <a:xfrm>
            <a:off x="8366760" y="342900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3260"/>
                </a:solidFill>
              </a:rPr>
              <a:t>Contacto directo con distribución y canales principales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8366760" y="4526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D6472"/>
                </a:solidFill>
              </a:rPr>
              <a:t>Trato directo con distribuidoras, comercializadoras y operadoras: gestiones más rápidas.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7280" y="1280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2C230"/>
                </a:solidFill>
              </a:rPr>
              <a:t>BASE 01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1097280" y="173736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Si no hay </a:t>
            </a:r>
            <a:pPr indent="0" marL="0">
              <a:buNone/>
            </a:pPr>
            <a:r>
              <a:rPr lang="en-US" sz="5400" b="1" dirty="0">
                <a:solidFill>
                  <a:srgbClr val="F2C230"/>
                </a:solidFill>
              </a:rPr>
              <a:t>ahorro</a:t>
            </a:r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,</a:t>
            </a:r>
            <a:endParaRPr lang="en-US" sz="5400" dirty="0"/>
          </a:p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no hay gestión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9319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CCB5A"/>
                </a:solidFill>
              </a:rPr>
              <a:t>Estudio gratuito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43434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CE3EC"/>
                </a:solidFill>
              </a:rPr>
              <a:t>Analizamos tus facturas y tu potencia contratada.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39319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CCB5A"/>
                </a:solidFill>
              </a:rPr>
              <a:t>Comparativa real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389120" y="43434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CE3EC"/>
                </a:solidFill>
              </a:rPr>
              <a:t>Te mostramos el ahorro antes de firmar nada.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680960" y="39319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CCB5A"/>
                </a:solidFill>
              </a:rPr>
              <a:t>Sin coste para ti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680960" y="43434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CE3EC"/>
                </a:solidFill>
              </a:rPr>
              <a:t>Nuestro servicio no te cuesta nada, nunca.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86868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Asesoramiento energético y en telecomunicaciones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600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472"/>
                </a:solidFill>
              </a:rPr>
              <a:t>Un único interlocutor para todos los suministros de tu empresa o tu hogar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5486400" cy="3931920"/>
          </a:xfrm>
          <a:prstGeom prst="roundRect">
            <a:avLst>
              <a:gd name="adj" fmla="val 3488"/>
            </a:avLst>
          </a:prstGeom>
          <a:solidFill>
            <a:srgbClr val="F4F6F9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23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4E8A2B"/>
                </a:solidFill>
              </a:rPr>
              <a:t>ENERGÍA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3017520"/>
            <a:ext cx="685800" cy="685800"/>
          </a:xfrm>
          <a:prstGeom prst="ellipse">
            <a:avLst/>
          </a:prstGeom>
          <a:solidFill>
            <a:srgbClr val="4E8A2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3186684"/>
            <a:ext cx="347472" cy="34747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737360" y="299923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260"/>
                </a:solidFill>
              </a:rPr>
              <a:t>Electricidad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737360" y="335584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472"/>
                </a:solidFill>
              </a:rPr>
              <a:t>Tarifa fija o indexada, ajuste de potencia y maxímetro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22960" y="4023360"/>
            <a:ext cx="685800" cy="685800"/>
          </a:xfrm>
          <a:prstGeom prst="ellipse">
            <a:avLst/>
          </a:prstGeom>
          <a:solidFill>
            <a:srgbClr val="4E8A2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" y="4192524"/>
            <a:ext cx="347472" cy="34747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737360" y="400507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260"/>
                </a:solidFill>
              </a:rPr>
              <a:t>Gas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1737360" y="436168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472"/>
                </a:solidFill>
              </a:rPr>
              <a:t>Ofertas personalizadas según tu consumo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22960" y="5029200"/>
            <a:ext cx="685800" cy="685800"/>
          </a:xfrm>
          <a:prstGeom prst="ellipse">
            <a:avLst/>
          </a:prstGeom>
          <a:solidFill>
            <a:srgbClr val="4E8A2B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5198364"/>
            <a:ext cx="347472" cy="34747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737360" y="501091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260"/>
                </a:solidFill>
              </a:rPr>
              <a:t>Fotovoltaica y baterías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1737360" y="536752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472"/>
                </a:solidFill>
              </a:rPr>
              <a:t>Red de instaladores en todo el territorio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172200" y="2194560"/>
            <a:ext cx="5486400" cy="3931920"/>
          </a:xfrm>
          <a:prstGeom prst="roundRect">
            <a:avLst>
              <a:gd name="adj" fmla="val 3488"/>
            </a:avLst>
          </a:prstGeom>
          <a:solidFill>
            <a:srgbClr val="F4F6F9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537960" y="2423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46E17"/>
                </a:solidFill>
              </a:rPr>
              <a:t>TELECOMUNICACIONES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6537960" y="3017520"/>
            <a:ext cx="685800" cy="685800"/>
          </a:xfrm>
          <a:prstGeom prst="ellipse">
            <a:avLst/>
          </a:prstGeom>
          <a:solidFill>
            <a:srgbClr val="C46E17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7124" y="3186684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52360" y="299923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260"/>
                </a:solidFill>
              </a:rPr>
              <a:t>Fibra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452360" y="335584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472"/>
                </a:solidFill>
              </a:rPr>
              <a:t>Conexión adaptada a tu negocio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6537960" y="4023360"/>
            <a:ext cx="685800" cy="685800"/>
          </a:xfrm>
          <a:prstGeom prst="ellipse">
            <a:avLst/>
          </a:prstGeom>
          <a:solidFill>
            <a:srgbClr val="C46E17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7124" y="4192524"/>
            <a:ext cx="347472" cy="34747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452360" y="400507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260"/>
                </a:solidFill>
              </a:rPr>
              <a:t>Móvil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7452360" y="436168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472"/>
                </a:solidFill>
              </a:rPr>
              <a:t>Líneas y tarifas optimizadas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537960" y="5029200"/>
            <a:ext cx="685800" cy="685800"/>
          </a:xfrm>
          <a:prstGeom prst="ellipse">
            <a:avLst/>
          </a:prstGeom>
          <a:solidFill>
            <a:srgbClr val="C46E17"/>
          </a:solidFill>
          <a:ln/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07124" y="5198364"/>
            <a:ext cx="347472" cy="34747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452360" y="501091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260"/>
                </a:solidFill>
              </a:rPr>
              <a:t>Todas las operadoras</a:t>
            </a:r>
            <a:endParaRPr lang="en-US" sz="1600" dirty="0"/>
          </a:p>
        </p:txBody>
      </p:sp>
      <p:sp>
        <p:nvSpPr>
          <p:cNvPr id="31" name="Text 23"/>
          <p:cNvSpPr txBox="1"/>
          <p:nvPr/>
        </p:nvSpPr>
        <p:spPr>
          <a:xfrm>
            <a:off x="7452360" y="536752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472"/>
                </a:solidFill>
              </a:rPr>
              <a:t>Trabajamos con todo el mercado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86868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Contacto directo con distribución y canales principales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600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472"/>
                </a:solidFill>
              </a:rPr>
              <a:t>Sin intermediarios innecesarios: tus gestiones llegan directas a quien las resuelve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3291840"/>
            <a:ext cx="2926080" cy="1280160"/>
          </a:xfrm>
          <a:prstGeom prst="roundRect">
            <a:avLst>
              <a:gd name="adj" fmla="val 10714"/>
            </a:avLst>
          </a:prstGeom>
          <a:solidFill>
            <a:srgbClr val="F4F6F9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80460"/>
            <a:ext cx="502920" cy="502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34290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dirty="0">
                <a:solidFill>
                  <a:srgbClr val="1F3260"/>
                </a:solidFill>
              </a:rPr>
              <a:t>Tú, cliente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39776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3260"/>
                </a:solidFill>
              </a:rPr>
              <a:t>Una sola llamada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206240" y="3108960"/>
            <a:ext cx="3291840" cy="1645920"/>
          </a:xfrm>
          <a:prstGeom prst="roundRect">
            <a:avLst>
              <a:gd name="adj" fmla="val 8333"/>
            </a:avLst>
          </a:prstGeom>
          <a:solidFill>
            <a:srgbClr val="1F3260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368046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166360" y="32461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MESENERGIA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5166360" y="3977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Tu asesor de referencia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8321040" y="2148840"/>
            <a:ext cx="3383280" cy="1143000"/>
          </a:xfrm>
          <a:prstGeom prst="roundRect">
            <a:avLst>
              <a:gd name="adj" fmla="val 12000"/>
            </a:avLst>
          </a:prstGeom>
          <a:solidFill>
            <a:srgbClr val="EFF6E6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2468880"/>
            <a:ext cx="502920" cy="5029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281160" y="2286000"/>
            <a:ext cx="2286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dirty="0">
                <a:solidFill>
                  <a:srgbClr val="4E8A2B"/>
                </a:solidFill>
              </a:rPr>
              <a:t>Distribuidoras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9281160" y="2766060"/>
            <a:ext cx="2286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8A2B"/>
                </a:solidFill>
              </a:rPr>
              <a:t>Altas, potencias, averías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 flipV="1">
            <a:off x="7498080" y="2720340"/>
            <a:ext cx="822960" cy="1211580"/>
          </a:xfrm>
          <a:prstGeom prst="line">
            <a:avLst/>
          </a:prstGeom>
          <a:noFill/>
          <a:ln w="25400">
            <a:solidFill>
              <a:srgbClr val="B8C2D3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8321040" y="3474720"/>
            <a:ext cx="3383280" cy="1143000"/>
          </a:xfrm>
          <a:prstGeom prst="roundRect">
            <a:avLst>
              <a:gd name="adj" fmla="val 12000"/>
            </a:avLst>
          </a:prstGeom>
          <a:solidFill>
            <a:srgbClr val="FDF1E3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0" y="3794760"/>
            <a:ext cx="502920" cy="5029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281160" y="3611880"/>
            <a:ext cx="2286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dirty="0">
                <a:solidFill>
                  <a:srgbClr val="C46E17"/>
                </a:solidFill>
              </a:rPr>
              <a:t>Comercializadoras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9281160" y="4091940"/>
            <a:ext cx="2286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46E17"/>
                </a:solidFill>
              </a:rPr>
              <a:t>Acuerdos y mejores condiciones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7498080" y="3931920"/>
            <a:ext cx="822960" cy="114300"/>
          </a:xfrm>
          <a:prstGeom prst="line">
            <a:avLst/>
          </a:prstGeom>
          <a:noFill/>
          <a:ln w="25400">
            <a:solidFill>
              <a:srgbClr val="B8C2D3"/>
            </a:solidFill>
            <a:prstDash val="solid"/>
            <a:tailEnd type="triangle"/>
          </a:ln>
        </p:spPr>
      </p:sp>
      <p:sp>
        <p:nvSpPr>
          <p:cNvPr id="22" name="Shape 16"/>
          <p:cNvSpPr/>
          <p:nvPr/>
        </p:nvSpPr>
        <p:spPr>
          <a:xfrm>
            <a:off x="8321040" y="4800600"/>
            <a:ext cx="3383280" cy="1143000"/>
          </a:xfrm>
          <a:prstGeom prst="roundRect">
            <a:avLst>
              <a:gd name="adj" fmla="val 12000"/>
            </a:avLst>
          </a:prstGeom>
          <a:solidFill>
            <a:srgbClr val="F4F6F9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0" y="5120640"/>
            <a:ext cx="502920" cy="50292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281160" y="4937760"/>
            <a:ext cx="2286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dirty="0">
                <a:solidFill>
                  <a:srgbClr val="1F3260"/>
                </a:solidFill>
              </a:rPr>
              <a:t>Operadoras</a:t>
            </a:r>
            <a:endParaRPr lang="en-US" sz="1600" dirty="0"/>
          </a:p>
        </p:txBody>
      </p:sp>
      <p:sp>
        <p:nvSpPr>
          <p:cNvPr id="25" name="Text 18"/>
          <p:cNvSpPr txBox="1"/>
          <p:nvPr/>
        </p:nvSpPr>
        <p:spPr>
          <a:xfrm>
            <a:off x="9281160" y="5417820"/>
            <a:ext cx="2286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3260"/>
                </a:solidFill>
              </a:rPr>
              <a:t>Fibra y móvil</a:t>
            </a:r>
            <a:endParaRPr lang="en-US" sz="1200" dirty="0"/>
          </a:p>
        </p:txBody>
      </p:sp>
      <p:sp>
        <p:nvSpPr>
          <p:cNvPr id="26" name="Shape 19"/>
          <p:cNvSpPr/>
          <p:nvPr/>
        </p:nvSpPr>
        <p:spPr>
          <a:xfrm>
            <a:off x="7498080" y="3931920"/>
            <a:ext cx="822960" cy="1440180"/>
          </a:xfrm>
          <a:prstGeom prst="line">
            <a:avLst/>
          </a:prstGeom>
          <a:noFill/>
          <a:ln w="25400">
            <a:solidFill>
              <a:srgbClr val="B8C2D3"/>
            </a:solidFill>
            <a:prstDash val="solid"/>
            <a:tailEnd type="triangle"/>
          </a:ln>
        </p:spPr>
      </p:sp>
      <p:sp>
        <p:nvSpPr>
          <p:cNvPr id="27" name="Shape 20"/>
          <p:cNvSpPr/>
          <p:nvPr/>
        </p:nvSpPr>
        <p:spPr>
          <a:xfrm>
            <a:off x="3383280" y="3931920"/>
            <a:ext cx="822960" cy="0"/>
          </a:xfrm>
          <a:prstGeom prst="line">
            <a:avLst/>
          </a:prstGeom>
          <a:noFill/>
          <a:ln w="25400">
            <a:solidFill>
              <a:srgbClr val="B8C2D3"/>
            </a:solidFill>
            <a:prstDash val="solid"/>
            <a:tailEnd type="triangle"/>
          </a:ln>
        </p:spPr>
      </p:sp>
      <p:sp>
        <p:nvSpPr>
          <p:cNvPr id="28" name="Text 21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E8A2B"/>
                </a:solidFill>
              </a:rPr>
              <a:t>Resultado: incidencias resueltas antes y seguimiento durante toda la vida del contrato.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86868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¿Por qué elegir MESENERGIA?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82880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4E8A2B"/>
                </a:solidFill>
              </a:rPr>
              <a:t>+10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8346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D6472"/>
                </a:solidFill>
              </a:rPr>
              <a:t>años de experiencia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251960" y="182880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46E17"/>
                </a:solidFill>
              </a:rPr>
              <a:t>+10.000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251960" y="28346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D6472"/>
                </a:solidFill>
              </a:rPr>
              <a:t>clientes entre empresas y autónomos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046720" y="182880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F3260"/>
                </a:solidFill>
              </a:rPr>
              <a:t>&lt;4%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28346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D6472"/>
                </a:solidFill>
              </a:rPr>
              <a:t>índice de bajas gracias a la postventa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3931920"/>
            <a:ext cx="3520440" cy="868680"/>
          </a:xfrm>
          <a:prstGeom prst="roundRect">
            <a:avLst>
              <a:gd name="adj" fmla="val 10526"/>
            </a:avLst>
          </a:prstGeom>
          <a:solidFill>
            <a:srgbClr val="F4F6F9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160520"/>
            <a:ext cx="411480" cy="41148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280160" y="393192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260"/>
                </a:solidFill>
              </a:rPr>
              <a:t>Innovación permanente de ofertas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251960" y="3931920"/>
            <a:ext cx="3520440" cy="868680"/>
          </a:xfrm>
          <a:prstGeom prst="roundRect">
            <a:avLst>
              <a:gd name="adj" fmla="val 10526"/>
            </a:avLst>
          </a:prstGeom>
          <a:solidFill>
            <a:srgbClr val="F4F6F9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4160520"/>
            <a:ext cx="411480" cy="41148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074920" y="393192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260"/>
                </a:solidFill>
              </a:rPr>
              <a:t>Ofertas personalizadas de luz y gas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8046720" y="3931920"/>
            <a:ext cx="3520440" cy="868680"/>
          </a:xfrm>
          <a:prstGeom prst="roundRect">
            <a:avLst>
              <a:gd name="adj" fmla="val 10526"/>
            </a:avLst>
          </a:prstGeom>
          <a:solidFill>
            <a:srgbClr val="F4F6F9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0" y="416052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869680" y="393192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260"/>
                </a:solidFill>
              </a:rPr>
              <a:t>Atención durante toda la vigencia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457200" y="4983480"/>
            <a:ext cx="3520440" cy="868680"/>
          </a:xfrm>
          <a:prstGeom prst="roundRect">
            <a:avLst>
              <a:gd name="adj" fmla="val 10526"/>
            </a:avLst>
          </a:prstGeom>
          <a:solidFill>
            <a:srgbClr val="F4F6F9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212080"/>
            <a:ext cx="411480" cy="41148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280160" y="498348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260"/>
                </a:solidFill>
              </a:rPr>
              <a:t>Análisis de medidas de ahorro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4251960" y="4983480"/>
            <a:ext cx="3520440" cy="868680"/>
          </a:xfrm>
          <a:prstGeom prst="roundRect">
            <a:avLst>
              <a:gd name="adj" fmla="val 10526"/>
            </a:avLst>
          </a:prstGeom>
          <a:solidFill>
            <a:srgbClr val="F4F6F9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0560" y="5212080"/>
            <a:ext cx="411480" cy="41148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074920" y="498348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260"/>
                </a:solidFill>
              </a:rPr>
              <a:t>Oficina virtual para tus facturas</a:t>
            </a:r>
            <a:endParaRPr lang="en-US" sz="1400" dirty="0"/>
          </a:p>
        </p:txBody>
      </p:sp>
      <p:sp>
        <p:nvSpPr>
          <p:cNvPr id="24" name="Shape 17"/>
          <p:cNvSpPr/>
          <p:nvPr/>
        </p:nvSpPr>
        <p:spPr>
          <a:xfrm>
            <a:off x="8046720" y="4983480"/>
            <a:ext cx="3520440" cy="868680"/>
          </a:xfrm>
          <a:prstGeom prst="roundRect">
            <a:avLst>
              <a:gd name="adj" fmla="val 10526"/>
            </a:avLst>
          </a:prstGeom>
          <a:solidFill>
            <a:srgbClr val="F4F6F9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320" y="5212080"/>
            <a:ext cx="411480" cy="41148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8869680" y="498348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260"/>
                </a:solidFill>
              </a:rPr>
              <a:t>Información continua del sector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822960"/>
            <a:ext cx="2743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3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914400"/>
            <a:ext cx="2377440" cy="9601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23774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Pide tu estudio de ahorro gratuito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3200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2C230"/>
                </a:solidFill>
              </a:rPr>
              <a:t>Si no hay ahorro, no hay gestión.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41148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CB5A"/>
                </a:solidFill>
              </a:rPr>
              <a:t>SEDE CENTRAL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448056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C/ Bruc 168, entresuelo 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08037 Barcelona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647 936 557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937760" y="41148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CCB5A"/>
                </a:solidFill>
              </a:rPr>
              <a:t>DELEGACIÓN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937760" y="448056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C/ Mercaders, 14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17300 Blanes, Girona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SENERGIA">
  <a:themeElements>
    <a:clrScheme name="MESENERGIA">
      <a:dk1>
        <a:srgbClr val="1A1F2B"/>
      </a:dk1>
      <a:lt1>
        <a:srgbClr val="FFFFFF"/>
      </a:lt1>
      <a:dk2>
        <a:srgbClr val="1F3260"/>
      </a:dk2>
      <a:lt2>
        <a:srgbClr val="F4F6F9"/>
      </a:lt2>
      <a:accent1>
        <a:srgbClr val="4E8A2B"/>
      </a:accent1>
      <a:accent2>
        <a:srgbClr val="C46E17"/>
      </a:accent2>
      <a:accent3>
        <a:srgbClr val="F2C230"/>
      </a:accent3>
      <a:accent4>
        <a:srgbClr val="7FB241"/>
      </a:accent4>
      <a:accent5>
        <a:srgbClr val="3D5A99"/>
      </a:accent5>
      <a:accent6>
        <a:srgbClr val="5D6472"/>
      </a:accent6>
      <a:hlink>
        <a:srgbClr val="4E8A2B"/>
      </a:hlink>
      <a:folHlink>
        <a:srgbClr val="5D6472"/>
      </a:folHlink>
    </a:clrScheme>
    <a:fontScheme name="MESENERGIA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MESENERGIA · Presentación clientes</dc:title>
  <dc:subject>PptxGenJS Presentation</dc:subject>
  <dc:creator>PptxGenJS</dc:creator>
  <cp:lastModifiedBy>PptxGenJS</cp:lastModifiedBy>
  <cp:revision>1</cp:revision>
  <dcterms:created xsi:type="dcterms:W3CDTF">2026-10-13T17:27:07Z</dcterms:created>
  <dcterms:modified xsi:type="dcterms:W3CDTF">2026-10-13T17:27:07Z</dcterms:modified>
</cp:coreProperties>
</file>